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2148840"/>
            <a:ext cx="8229600" cy="3175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CERES 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 i="0">
                <a:solidFill>
                  <a:srgbClr val="E8A020"/>
                </a:solidFill>
                <a:latin typeface="Calibri"/>
              </a:rPr>
              <a:t>Sprint Review — Sprint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4343400"/>
            <a:ext cx="2286000" cy="3429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 dirty="0">
                <a:solidFill>
                  <a:srgbClr val="D4E6C3"/>
                </a:solidFill>
                <a:latin typeface="Calibri"/>
              </a:rPr>
              <a:t>Eng. </a:t>
            </a:r>
            <a:r>
              <a:rPr sz="1400" b="0" i="0" dirty="0" err="1">
                <a:solidFill>
                  <a:srgbClr val="D4E6C3"/>
                </a:solidFill>
                <a:latin typeface="Calibri"/>
              </a:rPr>
              <a:t>Computação</a:t>
            </a:r>
            <a:endParaRPr sz="1400" b="0" i="0" dirty="0">
              <a:solidFill>
                <a:srgbClr val="D4E6C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907792"/>
            <a:ext cx="82296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pt-BR" sz="1300" b="0" i="0" dirty="0">
                <a:solidFill>
                  <a:srgbClr val="6B8F47"/>
                </a:solidFill>
                <a:latin typeface="Calibri"/>
              </a:rPr>
              <a:t>Cuiabá-MT</a:t>
            </a:r>
            <a:r>
              <a:rPr sz="1300" b="0" i="0" dirty="0">
                <a:solidFill>
                  <a:srgbClr val="6B8F47"/>
                </a:solidFill>
                <a:latin typeface="Calibri"/>
              </a:rPr>
              <a:t>  |  Abril de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8229600" cy="480060"/>
          </a:xfrm>
          <a:prstGeom prst="rect">
            <a:avLst/>
          </a:prstGeom>
          <a:noFill/>
        </p:spPr>
        <p:txBody>
          <a:bodyPr wrap="square" lIns="0" tIns="73152" rIns="0" bIns="0">
            <a:spAutoFit/>
          </a:bodyPr>
          <a:lstStyle/>
          <a:p>
            <a:pPr algn="ctr"/>
            <a:r>
              <a:rPr sz="1000" b="0" i="0">
                <a:solidFill>
                  <a:srgbClr val="6B8F47"/>
                </a:solidFill>
                <a:latin typeface="Calibri"/>
              </a:rPr>
              <a:t>Bacharelado em Engenharia da Computação — IFMT Sorriso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22860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219456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01 |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530352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rgbClr val="1B3A0F"/>
                </a:solidFill>
                <a:latin typeface="Calibri"/>
              </a:rPr>
              <a:t>O </a:t>
            </a:r>
            <a:r>
              <a:rPr sz="2000" b="1" i="0" dirty="0" err="1">
                <a:solidFill>
                  <a:srgbClr val="1B3A0F"/>
                </a:solidFill>
                <a:latin typeface="Calibri"/>
              </a:rPr>
              <a:t>Agricultor</a:t>
            </a:r>
            <a:r>
              <a:rPr sz="2000" b="1" i="0" dirty="0">
                <a:solidFill>
                  <a:srgbClr val="1B3A0F"/>
                </a:solidFill>
                <a:latin typeface="Calibri"/>
              </a:rPr>
              <a:t> Familiar</a:t>
            </a:r>
            <a:endParaRPr lang="pt-BR" sz="2000" b="1" i="0" dirty="0">
              <a:solidFill>
                <a:srgbClr val="1B3A0F"/>
              </a:solidFill>
              <a:latin typeface="Calibri"/>
            </a:endParaRPr>
          </a:p>
          <a:p>
            <a:pPr algn="l"/>
            <a:endParaRPr sz="2000" b="1" i="0" dirty="0">
              <a:solidFill>
                <a:srgbClr val="1B3A0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1480" y="1207008"/>
            <a:ext cx="5212080" cy="658368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200" b="0" i="0" dirty="0" err="1">
                <a:solidFill>
                  <a:srgbClr val="4A4A4A"/>
                </a:solidFill>
                <a:latin typeface="Calibri"/>
              </a:rPr>
              <a:t>Pragas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doenças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tomateiro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causam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perdas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significativas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produção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. O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diagnóstico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tardio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ou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incorreto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impede o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manejo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adequado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onera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o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produtor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75104"/>
            <a:ext cx="128016" cy="128016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Acesso restrito a agrônomos especializados no campo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77440"/>
            <a:ext cx="128016" cy="128016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322576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Sensibilidade ao tempo — diagnóstico tardio amplia perdas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79776"/>
            <a:ext cx="128016" cy="128016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724912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dirty="0" err="1">
                <a:solidFill>
                  <a:srgbClr val="1A1A1A"/>
                </a:solidFill>
                <a:latin typeface="Calibri"/>
              </a:rPr>
              <a:t>Custo</a:t>
            </a:r>
            <a:r>
              <a:rPr sz="12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A1A1A"/>
                </a:solidFill>
                <a:latin typeface="Calibri"/>
              </a:rPr>
              <a:t>elevado</a:t>
            </a:r>
            <a:r>
              <a:rPr sz="1200" b="0" i="0" dirty="0">
                <a:solidFill>
                  <a:srgbClr val="1A1A1A"/>
                </a:solidFill>
                <a:latin typeface="Calibri"/>
              </a:rPr>
              <a:t> de </a:t>
            </a:r>
            <a:r>
              <a:rPr sz="1200" b="0" i="0" dirty="0" err="1">
                <a:solidFill>
                  <a:srgbClr val="1A1A1A"/>
                </a:solidFill>
                <a:latin typeface="Calibri"/>
              </a:rPr>
              <a:t>laudos</a:t>
            </a:r>
            <a:r>
              <a:rPr sz="1200" b="0" i="0" dirty="0">
                <a:solidFill>
                  <a:srgbClr val="1A1A1A"/>
                </a:solidFill>
                <a:latin typeface="Calibri"/>
              </a:rPr>
              <a:t> e </a:t>
            </a:r>
            <a:r>
              <a:rPr sz="1200" b="0" i="0" dirty="0" err="1">
                <a:solidFill>
                  <a:srgbClr val="1A1A1A"/>
                </a:solidFill>
                <a:latin typeface="Calibri"/>
              </a:rPr>
              <a:t>insumos</a:t>
            </a:r>
            <a:r>
              <a:rPr sz="1200" b="0" i="0" dirty="0">
                <a:solidFill>
                  <a:srgbClr val="1A1A1A"/>
                </a:solidFill>
                <a:latin typeface="Calibri"/>
              </a:rPr>
              <a:t> mal </a:t>
            </a:r>
            <a:r>
              <a:rPr sz="1200" b="0" i="0" dirty="0" err="1">
                <a:solidFill>
                  <a:srgbClr val="1A1A1A"/>
                </a:solidFill>
                <a:latin typeface="Calibri"/>
              </a:rPr>
              <a:t>indicados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720" y="594360"/>
            <a:ext cx="36576" cy="420624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89320" y="658368"/>
            <a:ext cx="2743200" cy="107899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89320" y="768096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400" b="1" i="0">
                <a:solidFill>
                  <a:srgbClr val="E8A020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62472" y="1252728"/>
            <a:ext cx="2596896" cy="4114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pragas/doenças
mapeadas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1847088"/>
            <a:ext cx="2743200" cy="107899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1956816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400" b="1" i="0" dirty="0">
                <a:solidFill>
                  <a:srgbClr val="E8A020"/>
                </a:solidFill>
                <a:latin typeface="Calibri"/>
              </a:rPr>
              <a:t>~3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2472" y="2441448"/>
            <a:ext cx="2596896" cy="4114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perguntas até o
diagnóstico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3035808"/>
            <a:ext cx="2743200" cy="107899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89320" y="3145536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400" b="1" i="0">
                <a:solidFill>
                  <a:srgbClr val="E8A020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2472" y="3630168"/>
            <a:ext cx="2596896" cy="4114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digitação
necessária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22860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219456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02 | 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Sistema Especialista Determinístico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89888"/>
            <a:ext cx="2697480" cy="26517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1481328"/>
            <a:ext cx="2478024" cy="25603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IA Determinística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737360"/>
            <a:ext cx="2478024" cy="21945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100" b="0" i="0">
                <a:solidFill>
                  <a:srgbClr val="D4E6C3"/>
                </a:solidFill>
                <a:latin typeface="Calibri"/>
              </a:rPr>
              <a:t>Árvore de decisão baseada em regras Embrapa — sem caixa-preta, auditável e previsível.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389888"/>
            <a:ext cx="2697480" cy="26517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5848" y="1481328"/>
            <a:ext cx="2478024" cy="25603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Mobile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8" y="1737360"/>
            <a:ext cx="2478024" cy="21945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100" b="0" i="0" dirty="0" err="1">
                <a:solidFill>
                  <a:srgbClr val="D4E6C3"/>
                </a:solidFill>
                <a:latin typeface="Calibri"/>
              </a:rPr>
              <a:t>Aplicativo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Flutter com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suporte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offline via Drift —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funciona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sem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internet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na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lavoura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89888"/>
            <a:ext cx="2697480" cy="26517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90488" y="1481328"/>
            <a:ext cx="2478024" cy="25603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Open &amp; Auditable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1737360"/>
            <a:ext cx="2478024" cy="219456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100" b="0" i="0" dirty="0">
                <a:solidFill>
                  <a:srgbClr val="D4E6C3"/>
                </a:solidFill>
                <a:latin typeface="Calibri"/>
              </a:rPr>
              <a:t>Base de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conhecimento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em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JSON,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revisável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e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extensível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por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D4E6C3"/>
                </a:solidFill>
                <a:latin typeface="Calibri"/>
              </a:rPr>
              <a:t>agrônomos</a:t>
            </a:r>
            <a:r>
              <a:rPr sz="1100" b="0" i="0" dirty="0">
                <a:solidFill>
                  <a:srgbClr val="D4E6C3"/>
                </a:solidFill>
                <a:latin typeface="Calibr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663440"/>
            <a:ext cx="8321040" cy="3175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32004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310896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03 | SPRINT 1 — PLANEJADO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6 Objetivos Definidos no Backlog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9903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39903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32588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136245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Setup do Ambiente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69164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Docker, Django, Flutter, Git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39903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139903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32588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30368" y="136245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Modelagem de Dados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69164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Pergunta / Opcao / Diagnostico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9631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249631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2316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245973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Segurança JWT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278892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SimpleJWT + endpoints de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49631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49631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242316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30368" y="245973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Motor de Inferência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278892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GET iniciar/ + POST responder/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9359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359359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352044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8" y="355701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Testes Unitários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388620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APITestCase — happy paths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9359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0" y="3593592"/>
            <a:ext cx="384048" cy="384048"/>
          </a:xfrm>
          <a:prstGeom prst="rect">
            <a:avLst/>
          </a:prstGeom>
          <a:noFill/>
        </p:spPr>
        <p:txBody>
          <a:bodyPr wrap="square" lIns="0" tIns="18288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3520440"/>
            <a:ext cx="3611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30368" y="3557016"/>
            <a:ext cx="3392424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3A0F"/>
                </a:solidFill>
                <a:latin typeface="Calibri"/>
              </a:rPr>
              <a:t>Engenharia do Conhecimento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0368" y="3886200"/>
            <a:ext cx="33924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 dirty="0">
                <a:solidFill>
                  <a:srgbClr val="4A4A4A"/>
                </a:solidFill>
                <a:latin typeface="Calibri"/>
              </a:rPr>
              <a:t>10 </a:t>
            </a:r>
            <a:r>
              <a:rPr sz="1000" b="0" i="0" dirty="0" err="1">
                <a:solidFill>
                  <a:srgbClr val="4A4A4A"/>
                </a:solidFill>
                <a:latin typeface="Calibri"/>
              </a:rPr>
              <a:t>doenças</a:t>
            </a:r>
            <a:r>
              <a:rPr sz="1000" b="0" i="0" dirty="0">
                <a:solidFill>
                  <a:srgbClr val="4A4A4A"/>
                </a:solidFill>
                <a:latin typeface="Calibri"/>
              </a:rPr>
              <a:t> Embrapa + JSON tree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310896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301752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04 | SPRINT 1 — ENTREGUE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Conformidade com o Backlog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2688336" cy="34747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207008"/>
            <a:ext cx="2615184" cy="347472"/>
          </a:xfrm>
          <a:prstGeom prst="rect">
            <a:avLst/>
          </a:prstGeom>
          <a:noFill/>
        </p:spPr>
        <p:txBody>
          <a:bodyPr wrap="square" lIns="54864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207008"/>
            <a:ext cx="1316736" cy="34747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19272" y="1207008"/>
            <a:ext cx="1243584" cy="347472"/>
          </a:xfrm>
          <a:prstGeom prst="rect">
            <a:avLst/>
          </a:prstGeom>
          <a:noFill/>
        </p:spPr>
        <p:txBody>
          <a:bodyPr wrap="square" lIns="54864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207008"/>
            <a:ext cx="4151376" cy="34747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36592" y="1207008"/>
            <a:ext cx="4078224" cy="347472"/>
          </a:xfrm>
          <a:prstGeom prst="rect">
            <a:avLst/>
          </a:prstGeom>
          <a:noFill/>
        </p:spPr>
        <p:txBody>
          <a:bodyPr wrap="square" lIns="54864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Evidência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91056"/>
            <a:ext cx="26883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46120" y="1591056"/>
            <a:ext cx="13167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63440" y="1591056"/>
            <a:ext cx="415137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" y="162763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Setup do Ambiente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682496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37560" y="1682496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1627632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Docker + Django + Flutter + Git configurados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066543"/>
            <a:ext cx="26883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46120" y="2066543"/>
            <a:ext cx="13167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663440" y="2066543"/>
            <a:ext cx="415137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" y="210312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Modelagem de Dados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2103120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Models Pergunta/Opcao/Diagnostico + migrações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542032"/>
            <a:ext cx="26883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46120" y="2542032"/>
            <a:ext cx="13167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663440" y="2542032"/>
            <a:ext cx="415137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" y="257860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Segurança JWT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633472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37560" y="2633472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2578608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SimpleJWT configurado; /api/auth/token/ registrado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17520"/>
            <a:ext cx="26883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46120" y="3017520"/>
            <a:ext cx="13167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663440" y="3017520"/>
            <a:ext cx="415137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4632" y="3054096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Motor de Inferência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108960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37560" y="3108960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36592" y="3054096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GET iniciar/ + POST responder/ funcionais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493008"/>
            <a:ext cx="26883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246120" y="3493008"/>
            <a:ext cx="131673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663440" y="3493008"/>
            <a:ext cx="4151376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4632" y="352958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Testes Unitários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37560" y="3584448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37560" y="3584448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6592" y="3529584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3 APITestCase cobrindo iniciar + responder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968496"/>
            <a:ext cx="26883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246120" y="3968496"/>
            <a:ext cx="131673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63440" y="3968496"/>
            <a:ext cx="4151376" cy="420624"/>
          </a:xfrm>
          <a:prstGeom prst="rect">
            <a:avLst/>
          </a:prstGeom>
          <a:solidFill>
            <a:srgbClr val="EEF4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84632" y="400507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Engenharia do Conhecimento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37560" y="4059935"/>
            <a:ext cx="1143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37560" y="4059935"/>
            <a:ext cx="11430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✔ COMPLETO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36592" y="4005072"/>
            <a:ext cx="402335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10 doenças Embrapa; JSON tree + script import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35424"/>
            <a:ext cx="4023360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80" y="4535424"/>
            <a:ext cx="4023360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  6 de 6 objetivos entregues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32004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310896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05 | MOTOR DE INFERÊNCIA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Arquitetura Técnica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3931920" cy="749808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6245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Flutter (Dart)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3657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CCDDBB"/>
                </a:solidFill>
                <a:latin typeface="Calibri"/>
              </a:rPr>
              <a:t>UI — Perguntas + Resultado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2167128"/>
            <a:ext cx="274320" cy="20116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57400" y="2167128"/>
            <a:ext cx="274320" cy="201168"/>
          </a:xfrm>
          <a:prstGeom prst="rect">
            <a:avLst/>
          </a:prstGeom>
          <a:noFill/>
        </p:spPr>
        <p:txBody>
          <a:bodyPr wrap="square" lIns="0" tIns="9144" rIns="0" bIns="0">
            <a:spAutoFit/>
          </a:bodyPr>
          <a:lstStyle/>
          <a:p>
            <a:pPr algn="ctr"/>
            <a:r>
              <a:rPr sz="1000" b="1" i="0" dirty="0">
                <a:solidFill>
                  <a:srgbClr val="1B3A0F"/>
                </a:solidFill>
                <a:latin typeface="Calibr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3931920" cy="749808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45973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Django + DRF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70632"/>
            <a:ext cx="3657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CCDDBB"/>
                </a:solidFill>
                <a:latin typeface="Calibri"/>
              </a:rPr>
              <a:t>Motor de Inferência + JWT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3264408"/>
            <a:ext cx="274320" cy="20116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57400" y="3264408"/>
            <a:ext cx="274320" cy="201168"/>
          </a:xfrm>
          <a:prstGeom prst="rect">
            <a:avLst/>
          </a:prstGeom>
          <a:noFill/>
        </p:spPr>
        <p:txBody>
          <a:bodyPr wrap="square" lIns="0" tIns="9144" rIns="0" bIns="0">
            <a:spAutoFit/>
          </a:bodyPr>
          <a:lstStyle/>
          <a:p>
            <a:pPr algn="ctr"/>
            <a:r>
              <a:rPr sz="1000" b="1" i="0">
                <a:solidFill>
                  <a:srgbClr val="1B3A0F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520440"/>
            <a:ext cx="3931920" cy="749808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570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657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CCDDBB"/>
                </a:solidFill>
                <a:latin typeface="Calibri"/>
              </a:rPr>
              <a:t>Árvore de decisão persistida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234440"/>
            <a:ext cx="4160520" cy="292608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0" y="1234440"/>
            <a:ext cx="4160520" cy="292608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1100" b="1" i="0">
                <a:solidFill>
                  <a:srgbClr val="E8A020"/>
                </a:solidFill>
                <a:latin typeface="Calibri"/>
              </a:rPr>
              <a:t>API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591056"/>
            <a:ext cx="548640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1591056"/>
            <a:ext cx="548640" cy="22860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591056"/>
            <a:ext cx="3593592" cy="228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57216" y="1591056"/>
            <a:ext cx="3474720" cy="228600"/>
          </a:xfrm>
          <a:prstGeom prst="rect">
            <a:avLst/>
          </a:prstGeom>
          <a:noFill/>
        </p:spPr>
        <p:txBody>
          <a:bodyPr wrap="square" lIns="36576" tIns="27432" rIns="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/api/diagnostico/iniciar/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1837943"/>
            <a:ext cx="4160520" cy="22860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Retorna a pergunta raiz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2157984"/>
            <a:ext cx="548640" cy="228600"/>
          </a:xfrm>
          <a:prstGeom prst="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2157984"/>
            <a:ext cx="548640" cy="22860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928" y="2157984"/>
            <a:ext cx="3593592" cy="228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57216" y="2157984"/>
            <a:ext cx="3474720" cy="228600"/>
          </a:xfrm>
          <a:prstGeom prst="rect">
            <a:avLst/>
          </a:prstGeom>
          <a:noFill/>
        </p:spPr>
        <p:txBody>
          <a:bodyPr wrap="square" lIns="36576" tIns="27432" rIns="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/api/diagnostico/responder/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404872"/>
            <a:ext cx="4160520" cy="22860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{'opcao_id': N} → pergunta ou diagnóstico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2724912"/>
            <a:ext cx="548640" cy="228600"/>
          </a:xfrm>
          <a:prstGeom prst="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2724912"/>
            <a:ext cx="548640" cy="22860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8928" y="2724912"/>
            <a:ext cx="3593592" cy="228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57216" y="2724912"/>
            <a:ext cx="3474720" cy="228600"/>
          </a:xfrm>
          <a:prstGeom prst="rect">
            <a:avLst/>
          </a:prstGeom>
          <a:noFill/>
        </p:spPr>
        <p:txBody>
          <a:bodyPr wrap="square" lIns="36576" tIns="27432" rIns="0" bIns="0">
            <a:spAutoFit/>
          </a:bodyPr>
          <a:lstStyle/>
          <a:p>
            <a:pPr algn="l"/>
            <a:r>
              <a:rPr sz="900" b="0" i="0" dirty="0">
                <a:solidFill>
                  <a:srgbClr val="A8E6A8"/>
                </a:solidFill>
                <a:latin typeface="Consolas"/>
              </a:rPr>
              <a:t>/</a:t>
            </a:r>
            <a:r>
              <a:rPr sz="900" b="0" i="0" dirty="0" err="1">
                <a:solidFill>
                  <a:srgbClr val="A8E6A8"/>
                </a:solidFill>
                <a:latin typeface="Consolas"/>
              </a:rPr>
              <a:t>api</a:t>
            </a:r>
            <a:r>
              <a:rPr sz="900" b="0" i="0" dirty="0">
                <a:solidFill>
                  <a:srgbClr val="A8E6A8"/>
                </a:solidFill>
                <a:latin typeface="Consolas"/>
              </a:rPr>
              <a:t>/auth/token/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2971800"/>
            <a:ext cx="4160520" cy="22860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{'username','password'} → JWT pair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291840"/>
            <a:ext cx="548640" cy="228600"/>
          </a:xfrm>
          <a:prstGeom prst="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0" y="3291840"/>
            <a:ext cx="548640" cy="22860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38928" y="3291840"/>
            <a:ext cx="3593592" cy="228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57216" y="3291840"/>
            <a:ext cx="3474720" cy="228600"/>
          </a:xfrm>
          <a:prstGeom prst="rect">
            <a:avLst/>
          </a:prstGeom>
          <a:noFill/>
        </p:spPr>
        <p:txBody>
          <a:bodyPr wrap="square" lIns="36576" tIns="27432" rIns="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/api/auth/token/refresh/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3538728"/>
            <a:ext cx="4160520" cy="22860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{'refresh'} → novo access token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895344"/>
            <a:ext cx="416052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08576" y="3913631"/>
            <a:ext cx="4087368" cy="493776"/>
          </a:xfrm>
          <a:prstGeom prst="rect">
            <a:avLst/>
          </a:prstGeom>
          <a:noFill/>
        </p:spPr>
        <p:txBody>
          <a:bodyPr wrap="square" lIns="36576" tIns="36576" rIns="36576" bIns="0">
            <a:spAutoFit/>
          </a:bodyPr>
          <a:lstStyle/>
          <a:p>
            <a:pPr algn="l"/>
            <a:r>
              <a:rPr sz="800" b="0" i="0" dirty="0">
                <a:solidFill>
                  <a:srgbClr val="A8E6A8"/>
                </a:solidFill>
                <a:latin typeface="Consolas"/>
              </a:rPr>
              <a:t>{"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tipo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": "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pergunta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"|"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diagnostico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",
 "dados": { id, 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texto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, 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opcoes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/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nome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/</a:t>
            </a:r>
            <a:r>
              <a:rPr sz="800" b="0" i="0" dirty="0" err="1">
                <a:solidFill>
                  <a:srgbClr val="A8E6A8"/>
                </a:solidFill>
                <a:latin typeface="Consolas"/>
              </a:rPr>
              <a:t>recomendacao</a:t>
            </a:r>
            <a:r>
              <a:rPr sz="800" b="0" i="0" dirty="0">
                <a:solidFill>
                  <a:srgbClr val="A8E6A8"/>
                </a:solidFill>
                <a:latin typeface="Consolas"/>
              </a:rPr>
              <a:t> }}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329184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320040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06 | BASE DE CONHECIMENTO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10 Pragas &amp; Doenças — Embrapa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B3A0F"/>
                </a:solidFill>
                <a:latin typeface="Consolas"/>
              </a:rPr>
              <a:t>P1: Onde está o sintoma?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8F47"/>
                </a:solidFill>
                <a:latin typeface="Consolas"/>
              </a:rPr>
              <a:t>├─ Folhas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onsolas"/>
              </a:rPr>
              <a:t>│    P2: Tipo de mancha?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onsolas"/>
              </a:rPr>
              <a:t>│    ├─ P3: Com halo amarelo?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  <a:latin typeface="Consolas"/>
              </a:rPr>
              <a:t>│    │    ├─ Sim → D1 Requeima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  <a:latin typeface="Consolas"/>
              </a:rPr>
              <a:t>│    │    └─ Não → D2 Septoriose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onsolas"/>
              </a:rPr>
              <a:t>│    └─ P6: Pequenas pontuações?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5292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  <a:latin typeface="Consolas"/>
              </a:rPr>
              <a:t>│         └─ D3 Pinta-Preta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09067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8F47"/>
                </a:solidFill>
                <a:latin typeface="Consolas"/>
              </a:rPr>
              <a:t>├─ Frutos → P8 → D9 / D10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31012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8F47"/>
                </a:solidFill>
                <a:latin typeface="Consolas"/>
              </a:rPr>
              <a:t>└─ Planta toda → P9 → D4-D8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1234440"/>
            <a:ext cx="36576" cy="338328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17720" y="1261872"/>
            <a:ext cx="2103120" cy="53035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9159" y="1316736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D1  Requeima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261872"/>
            <a:ext cx="2103120" cy="53035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95159" y="1316736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D2  Septoriose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1920239"/>
            <a:ext cx="2103120" cy="53035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09159" y="1975103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D3  Pinta-Preta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1920239"/>
            <a:ext cx="2103120" cy="53035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95159" y="1975103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D4  Traça-do-Tomateiro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578608"/>
            <a:ext cx="2103120" cy="53035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59" y="2633472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D5  Mosca-Branca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2578608"/>
            <a:ext cx="2103120" cy="53035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95159" y="2633472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D6  Tripes/Vira-Cabeça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3236976"/>
            <a:ext cx="2103120" cy="53035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59" y="3291840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D7  Ácaro-do-Bronzeamento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236976"/>
            <a:ext cx="2103120" cy="53035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95159" y="3291840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D8  Murcha-Bacteriana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3895344"/>
            <a:ext cx="2103120" cy="53035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59" y="3950207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D9  Mancha-Bacteriana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3895344"/>
            <a:ext cx="2103120" cy="53035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95159" y="3950207"/>
            <a:ext cx="1920240" cy="420624"/>
          </a:xfrm>
          <a:prstGeom prst="rect">
            <a:avLst/>
          </a:prstGeom>
          <a:noFill/>
        </p:spPr>
        <p:txBody>
          <a:bodyPr wrap="square" lIns="45720" tIns="36576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D10 Broca-Pequena-do-Fruto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2560320" cy="256032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2414016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1B3A0F"/>
                </a:solidFill>
                <a:latin typeface="Calibri"/>
              </a:rPr>
              <a:t>07 | 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Motor de Inferência — Demo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8321040" cy="254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84048" cy="384048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417320"/>
            <a:ext cx="7863840" cy="274320"/>
          </a:xfrm>
          <a:prstGeom prst="rect">
            <a:avLst/>
          </a:prstGeom>
          <a:solidFill>
            <a:srgbClr val="0A1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417320"/>
            <a:ext cx="7808975" cy="274320"/>
          </a:xfrm>
          <a:prstGeom prst="rect">
            <a:avLst/>
          </a:prstGeom>
          <a:noFill/>
        </p:spPr>
        <p:txBody>
          <a:bodyPr wrap="square" lIns="45720" tIns="36576" rIns="4572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GET /api/diagnostico/iniciar/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709928"/>
            <a:ext cx="7863840" cy="347472"/>
          </a:xfrm>
          <a:prstGeom prst="rect">
            <a:avLst/>
          </a:prstGeom>
          <a:noFill/>
        </p:spPr>
        <p:txBody>
          <a:bodyPr wrap="square" lIns="54864" tIns="0" rIns="54864" bIns="0">
            <a:spAutoFit/>
          </a:bodyPr>
          <a:lstStyle/>
          <a:p>
            <a:pPr algn="l"/>
            <a:r>
              <a:rPr sz="1000" b="0" i="0">
                <a:solidFill>
                  <a:srgbClr val="D4E6C3"/>
                </a:solidFill>
                <a:latin typeface="Calibri"/>
              </a:rPr>
              <a:t>Retorna pergunta raiz: «Onde está o sintoma?» com opções Folhas / Frutos / Planta toda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203704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203704"/>
            <a:ext cx="384048" cy="384048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203704"/>
            <a:ext cx="7863840" cy="274320"/>
          </a:xfrm>
          <a:prstGeom prst="rect">
            <a:avLst/>
          </a:prstGeom>
          <a:solidFill>
            <a:srgbClr val="0A1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2203704"/>
            <a:ext cx="7808975" cy="175433"/>
          </a:xfrm>
          <a:prstGeom prst="rect">
            <a:avLst/>
          </a:prstGeom>
          <a:noFill/>
        </p:spPr>
        <p:txBody>
          <a:bodyPr wrap="square" lIns="45720" tIns="36576" rIns="45720" bIns="0">
            <a:spAutoFit/>
          </a:bodyPr>
          <a:lstStyle/>
          <a:p>
            <a:pPr algn="l"/>
            <a:r>
              <a:rPr sz="900" b="0" i="0" dirty="0">
                <a:solidFill>
                  <a:srgbClr val="A8E6A8"/>
                </a:solidFill>
                <a:latin typeface="Consolas"/>
              </a:rPr>
              <a:t>POST /</a:t>
            </a:r>
            <a:r>
              <a:rPr sz="900" b="0" i="0" dirty="0" err="1">
                <a:solidFill>
                  <a:srgbClr val="A8E6A8"/>
                </a:solidFill>
                <a:latin typeface="Consolas"/>
              </a:rPr>
              <a:t>api</a:t>
            </a:r>
            <a:r>
              <a:rPr sz="900" b="0" i="0" dirty="0">
                <a:solidFill>
                  <a:srgbClr val="A8E6A8"/>
                </a:solidFill>
                <a:latin typeface="Consolas"/>
              </a:rPr>
              <a:t>/</a:t>
            </a:r>
            <a:r>
              <a:rPr sz="900" b="0" i="0" dirty="0" err="1">
                <a:solidFill>
                  <a:srgbClr val="A8E6A8"/>
                </a:solidFill>
                <a:latin typeface="Consolas"/>
              </a:rPr>
              <a:t>diagnostico</a:t>
            </a:r>
            <a:r>
              <a:rPr sz="900" b="0" i="0" dirty="0">
                <a:solidFill>
                  <a:srgbClr val="A8E6A8"/>
                </a:solidFill>
                <a:latin typeface="Consolas"/>
              </a:rPr>
              <a:t>/responder/  { "</a:t>
            </a:r>
            <a:r>
              <a:rPr sz="900" b="0" i="0" dirty="0" err="1">
                <a:solidFill>
                  <a:srgbClr val="A8E6A8"/>
                </a:solidFill>
                <a:latin typeface="Consolas"/>
              </a:rPr>
              <a:t>opcao_id</a:t>
            </a:r>
            <a:r>
              <a:rPr sz="900" b="0" i="0" dirty="0">
                <a:solidFill>
                  <a:srgbClr val="A8E6A8"/>
                </a:solidFill>
                <a:latin typeface="Consolas"/>
              </a:rPr>
              <a:t>": </a:t>
            </a:r>
            <a:r>
              <a:rPr lang="pt-BR" sz="900" b="0" i="0" dirty="0">
                <a:solidFill>
                  <a:srgbClr val="A8E6A8"/>
                </a:solidFill>
                <a:latin typeface="Consolas"/>
              </a:rPr>
              <a:t>7</a:t>
            </a:r>
            <a:r>
              <a:rPr sz="900" b="0" i="0" dirty="0">
                <a:solidFill>
                  <a:srgbClr val="A8E6A8"/>
                </a:solidFill>
                <a:latin typeface="Consolas"/>
              </a:rPr>
              <a:t>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96312"/>
            <a:ext cx="7863840" cy="347472"/>
          </a:xfrm>
          <a:prstGeom prst="rect">
            <a:avLst/>
          </a:prstGeom>
          <a:noFill/>
        </p:spPr>
        <p:txBody>
          <a:bodyPr wrap="square" lIns="54864" tIns="0" rIns="54864" bIns="0">
            <a:spAutoFit/>
          </a:bodyPr>
          <a:lstStyle/>
          <a:p>
            <a:pPr algn="l"/>
            <a:r>
              <a:rPr sz="1000" b="0" i="0">
                <a:solidFill>
                  <a:srgbClr val="D4E6C3"/>
                </a:solidFill>
                <a:latin typeface="Calibri"/>
              </a:rPr>
              <a:t>Seleciona ramo Folhas → retorna P2: «Que tipo de mancha você observa?»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90088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990088"/>
            <a:ext cx="384048" cy="384048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2990088"/>
            <a:ext cx="7863840" cy="274320"/>
          </a:xfrm>
          <a:prstGeom prst="rect">
            <a:avLst/>
          </a:prstGeom>
          <a:solidFill>
            <a:srgbClr val="0A1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2990088"/>
            <a:ext cx="7808975" cy="274320"/>
          </a:xfrm>
          <a:prstGeom prst="rect">
            <a:avLst/>
          </a:prstGeom>
          <a:noFill/>
        </p:spPr>
        <p:txBody>
          <a:bodyPr wrap="square" lIns="45720" tIns="36576" rIns="4572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POST /api/diagnostico/responder/  { "opcao_id": &lt;manchas com halo&gt;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82696"/>
            <a:ext cx="7863840" cy="347472"/>
          </a:xfrm>
          <a:prstGeom prst="rect">
            <a:avLst/>
          </a:prstGeom>
          <a:noFill/>
        </p:spPr>
        <p:txBody>
          <a:bodyPr wrap="square" lIns="54864" tIns="0" rIns="54864" bIns="0">
            <a:spAutoFit/>
          </a:bodyPr>
          <a:lstStyle/>
          <a:p>
            <a:pPr algn="l"/>
            <a:r>
              <a:rPr sz="1000" b="0" i="0">
                <a:solidFill>
                  <a:srgbClr val="D4E6C3"/>
                </a:solidFill>
                <a:latin typeface="Calibri"/>
              </a:rPr>
              <a:t>Avança para P3: «A mancha tem halo amarelo ao redor?» — responde Sim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76472"/>
            <a:ext cx="384048" cy="38404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3776472"/>
            <a:ext cx="384048" cy="384048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776472"/>
            <a:ext cx="7863840" cy="274320"/>
          </a:xfrm>
          <a:prstGeom prst="rect">
            <a:avLst/>
          </a:prstGeom>
          <a:solidFill>
            <a:srgbClr val="0A1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776472"/>
            <a:ext cx="7808975" cy="274320"/>
          </a:xfrm>
          <a:prstGeom prst="rect">
            <a:avLst/>
          </a:prstGeom>
          <a:noFill/>
        </p:spPr>
        <p:txBody>
          <a:bodyPr wrap="square" lIns="45720" tIns="36576" rIns="45720" bIns="0">
            <a:spAutoFit/>
          </a:bodyPr>
          <a:lstStyle/>
          <a:p>
            <a:pPr algn="l"/>
            <a:r>
              <a:rPr sz="900" b="0" i="0">
                <a:solidFill>
                  <a:srgbClr val="A8E6A8"/>
                </a:solidFill>
                <a:latin typeface="Consolas"/>
              </a:rPr>
              <a:t>POST /api/diagnostico/responder/  { "opcao_id": &lt;sim&gt;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069080"/>
            <a:ext cx="7863840" cy="347472"/>
          </a:xfrm>
          <a:prstGeom prst="rect">
            <a:avLst/>
          </a:prstGeom>
          <a:noFill/>
        </p:spPr>
        <p:txBody>
          <a:bodyPr wrap="square" lIns="54864" tIns="0" rIns="54864" bIns="0">
            <a:spAutoFit/>
          </a:bodyPr>
          <a:lstStyle/>
          <a:p>
            <a:pPr algn="l"/>
            <a:r>
              <a:rPr sz="1000" b="0" i="0">
                <a:solidFill>
                  <a:srgbClr val="D4E6C3"/>
                </a:solidFill>
                <a:latin typeface="Calibri"/>
              </a:rPr>
              <a:t>Tipo: «diagnostico» → D1 Requeima + recomendação Embrapa completa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72000"/>
            <a:ext cx="8321040" cy="20116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/>
            <a:r>
              <a:rPr sz="900" b="1" i="0">
                <a:solidFill>
                  <a:srgbClr val="1B3A0F"/>
                </a:solidFill>
                <a:latin typeface="Calibri"/>
              </a:rPr>
              <a:t>Ferramentas: Postman + Docker + Django runserver  (localhost:8000)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E8A020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256032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2468879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08 | NÃO CONCLUÍDO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Transparência sobre o Incremento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09728" cy="10972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8183879" cy="1097280"/>
          </a:xfrm>
          <a:prstGeom prst="rect">
            <a:avLst/>
          </a:prstGeom>
          <a:solidFill>
            <a:srgbClr val="FFF3E0"/>
          </a:solidFill>
          <a:ln w="101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8074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Flutter — Sem integração de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1380744"/>
            <a:ext cx="13716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380744"/>
            <a:ext cx="1371600" cy="256032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Previsto para Sprint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28216"/>
            <a:ext cx="78638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>
                <a:solidFill>
                  <a:srgbClr val="4A4A4A"/>
                </a:solidFill>
                <a:latin typeface="Calibri"/>
              </a:rPr>
              <a:t>Scaffolding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apenas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integração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 de API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prevista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 para Sprint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87752"/>
            <a:ext cx="109728" cy="10972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587752"/>
            <a:ext cx="8183879" cy="1097280"/>
          </a:xfrm>
          <a:prstGeom prst="rect">
            <a:avLst/>
          </a:prstGeom>
          <a:solidFill>
            <a:srgbClr val="FFF3E0"/>
          </a:solidFill>
          <a:ln w="101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642616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Testes — Cobertura parcial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2642616"/>
            <a:ext cx="13716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2642616"/>
            <a:ext cx="1371600" cy="256032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Edge cases — Sprint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990088"/>
            <a:ext cx="78638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>
                <a:solidFill>
                  <a:srgbClr val="4A4A4A"/>
                </a:solidFill>
                <a:latin typeface="Calibri"/>
              </a:rPr>
              <a:t>3 happy-path tests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implementados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; edge cases e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cenários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erro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4A4A4A"/>
                </a:solidFill>
                <a:latin typeface="Calibri"/>
              </a:rPr>
              <a:t>planejados</a:t>
            </a:r>
            <a:r>
              <a:rPr sz="1100" b="0" i="0" dirty="0">
                <a:solidFill>
                  <a:srgbClr val="4A4A4A"/>
                </a:solidFill>
                <a:latin typeface="Calibri"/>
              </a:rPr>
              <a:t> para Sprint 2.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" y="256032"/>
            <a:ext cx="1828800" cy="2560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274320"/>
            <a:ext cx="1737360" cy="219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09 |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1B3A0F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53312"/>
            <a:ext cx="1993392" cy="3200400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353312"/>
            <a:ext cx="1993392" cy="41148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353312"/>
            <a:ext cx="1993392" cy="411480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2000" b="1" i="0">
                <a:solidFill>
                  <a:srgbClr val="1B3A0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64792"/>
            <a:ext cx="91440" cy="278892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6072" y="1810512"/>
            <a:ext cx="173736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3A0F"/>
                </a:solidFill>
                <a:latin typeface="Calibri"/>
              </a:rPr>
              <a:t>Telas Flutter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231136"/>
            <a:ext cx="1737360" cy="1783080"/>
          </a:xfrm>
          <a:prstGeom prst="rect">
            <a:avLst/>
          </a:prstGeom>
          <a:noFill/>
        </p:spPr>
        <p:txBody>
          <a:bodyPr wrap="square" lIns="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Fluxo completo de diagnóstico: cards de perguntas com opções e tela de resultado com recomendação.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32888" y="1353312"/>
            <a:ext cx="1993392" cy="3200400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32888" y="1353312"/>
            <a:ext cx="1993392" cy="41148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32888" y="1353312"/>
            <a:ext cx="1993392" cy="411480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2000" b="1" i="0">
                <a:solidFill>
                  <a:srgbClr val="1B3A0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2888" y="1764792"/>
            <a:ext cx="91440" cy="278892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97480" y="1810512"/>
            <a:ext cx="173736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3A0F"/>
                </a:solidFill>
                <a:latin typeface="Calibri"/>
              </a:rPr>
              <a:t>Integração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31136"/>
            <a:ext cx="1737360" cy="1783080"/>
          </a:xfrm>
          <a:prstGeom prst="rect">
            <a:avLst/>
          </a:prstGeom>
          <a:noFill/>
        </p:spPr>
        <p:txBody>
          <a:bodyPr wrap="square" lIns="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Dart models gerados + cliente HTTP/Dio para consumir os endpoints do motor de inferência.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96" y="1353312"/>
            <a:ext cx="1993392" cy="3200400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54296" y="1353312"/>
            <a:ext cx="1993392" cy="41148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54296" y="1353312"/>
            <a:ext cx="1993392" cy="411480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2000" b="1" i="0">
                <a:solidFill>
                  <a:srgbClr val="1B3A0F"/>
                </a:solidFill>
                <a:latin typeface="Calibri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54296" y="1764792"/>
            <a:ext cx="91440" cy="278892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8888" y="1810512"/>
            <a:ext cx="173736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3A0F"/>
                </a:solidFill>
                <a:latin typeface="Calibri"/>
              </a:rPr>
              <a:t>Autenticação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2231136"/>
            <a:ext cx="1737360" cy="1783080"/>
          </a:xfrm>
          <a:prstGeom prst="rect">
            <a:avLst/>
          </a:prstGeom>
          <a:noFill/>
        </p:spPr>
        <p:txBody>
          <a:bodyPr wrap="square" lIns="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Fluxo de login no Flutter com armazenamento seguro do token (flutter_secure_storage).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75704" y="1353312"/>
            <a:ext cx="1993392" cy="3200400"/>
          </a:xfrm>
          <a:prstGeom prst="rect">
            <a:avLst/>
          </a:prstGeom>
          <a:solidFill>
            <a:srgbClr val="FFFFFF"/>
          </a:solidFill>
          <a:ln w="10160">
            <a:solidFill>
              <a:srgbClr val="6B8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775704" y="1353312"/>
            <a:ext cx="1993392" cy="41148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75704" y="1353312"/>
            <a:ext cx="1993392" cy="411480"/>
          </a:xfrm>
          <a:prstGeom prst="rect">
            <a:avLst/>
          </a:prstGeom>
          <a:noFill/>
        </p:spPr>
        <p:txBody>
          <a:bodyPr wrap="square" lIns="0" tIns="36576" rIns="0" bIns="0">
            <a:spAutoFit/>
          </a:bodyPr>
          <a:lstStyle/>
          <a:p>
            <a:pPr algn="ctr"/>
            <a:r>
              <a:rPr sz="2000" b="1" i="0">
                <a:solidFill>
                  <a:srgbClr val="1B3A0F"/>
                </a:solidFill>
                <a:latin typeface="Calibri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75704" y="1764792"/>
            <a:ext cx="91440" cy="2788920"/>
          </a:xfrm>
          <a:prstGeom prst="rect">
            <a:avLst/>
          </a:prstGeom>
          <a:solidFill>
            <a:srgbClr val="6B8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0296" y="1810512"/>
            <a:ext cx="173736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3A0F"/>
                </a:solidFill>
                <a:latin typeface="Calibri"/>
              </a:rPr>
              <a:t>Offline —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2231136"/>
            <a:ext cx="1737360" cy="1783080"/>
          </a:xfrm>
          <a:prstGeom prst="rect">
            <a:avLst/>
          </a:prstGeom>
          <a:noFill/>
        </p:spPr>
        <p:txBody>
          <a:bodyPr wrap="square" lIns="0" tIns="0" rIns="45720" bIns="0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Schema Drift para cache local da sessão de diagnóstico — funciona sem conectividade.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800600"/>
            <a:ext cx="8321040" cy="342900"/>
          </a:xfrm>
          <a:prstGeom prst="rect">
            <a:avLst/>
          </a:prstGeom>
          <a:noFill/>
        </p:spPr>
        <p:txBody>
          <a:bodyPr wrap="square" lIns="0" tIns="54864" bIns="0">
            <a:spAutoFit/>
          </a:bodyPr>
          <a:lstStyle/>
          <a:p>
            <a:pPr algn="r"/>
            <a:r>
              <a:rPr sz="900" b="0" i="0">
                <a:solidFill>
                  <a:srgbClr val="6B8F47"/>
                </a:solidFill>
                <a:latin typeface="Calibri"/>
              </a:rPr>
              <a:t>Ceres Diagnóstico — Sprint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E8A020"/>
                </a:solidFill>
                <a:latin typeface="Calibri"/>
              </a:rPr>
              <a:t>Ceres Diagnóstico  |  Sprint 1 — Concluída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19072"/>
            <a:ext cx="8229600" cy="254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73936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6B8F47"/>
                </a:solidFill>
                <a:latin typeface="Calibri"/>
              </a:rPr>
              <a:t>Perguntas para Validação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76272"/>
            <a:ext cx="8229600" cy="5486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176272"/>
            <a:ext cx="548640" cy="54864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548640" cy="548640"/>
          </a:xfrm>
          <a:prstGeom prst="rect">
            <a:avLst/>
          </a:prstGeom>
          <a:noFill/>
        </p:spPr>
        <p:txBody>
          <a:bodyPr wrap="square" lIns="0" tIns="73152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231136"/>
            <a:ext cx="7534656" cy="457200"/>
          </a:xfrm>
          <a:prstGeom prst="rect">
            <a:avLst/>
          </a:prstGeom>
          <a:noFill/>
        </p:spPr>
        <p:txBody>
          <a:bodyPr wrap="square" lIns="73152" tIns="36576" rIns="73152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 lógica da árvore de decisão atende ao problema do agricultor?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79"/>
            <a:ext cx="8229600" cy="5486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926079"/>
            <a:ext cx="548640" cy="54864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79"/>
            <a:ext cx="548640" cy="548640"/>
          </a:xfrm>
          <a:prstGeom prst="rect">
            <a:avLst/>
          </a:prstGeom>
          <a:noFill/>
        </p:spPr>
        <p:txBody>
          <a:bodyPr wrap="square" lIns="0" tIns="73152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980944"/>
            <a:ext cx="7534656" cy="457200"/>
          </a:xfrm>
          <a:prstGeom prst="rect">
            <a:avLst/>
          </a:prstGeom>
          <a:noFill/>
        </p:spPr>
        <p:txBody>
          <a:bodyPr wrap="square" lIns="73152" tIns="36576" rIns="73152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 estrutura da API está pronta para ser consumida pelo Flutter?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75887"/>
            <a:ext cx="8229600" cy="5486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675887"/>
            <a:ext cx="548640" cy="54864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675887"/>
            <a:ext cx="548640" cy="548640"/>
          </a:xfrm>
          <a:prstGeom prst="rect">
            <a:avLst/>
          </a:prstGeom>
          <a:noFill/>
        </p:spPr>
        <p:txBody>
          <a:bodyPr wrap="square" lIns="0" tIns="73152" rIns="0" bIns="0">
            <a:spAutoFit/>
          </a:bodyPr>
          <a:lstStyle/>
          <a:p>
            <a:pPr algn="ctr"/>
            <a:r>
              <a:rPr sz="1600" b="1" i="0">
                <a:solidFill>
                  <a:srgbClr val="1B3A0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730751"/>
            <a:ext cx="7534656" cy="457200"/>
          </a:xfrm>
          <a:prstGeom prst="rect">
            <a:avLst/>
          </a:prstGeom>
          <a:noFill/>
        </p:spPr>
        <p:txBody>
          <a:bodyPr wrap="square" lIns="73152" tIns="36576" rIns="73152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Há casos de uso ou sintomas não cobertos pelos 10 diagnósticos atuais?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246221"/>
          </a:xfrm>
          <a:prstGeom prst="rect">
            <a:avLst/>
          </a:prstGeom>
          <a:noFill/>
        </p:spPr>
        <p:txBody>
          <a:bodyPr wrap="square" lIns="0" tIns="91440" rIns="0" bIns="0">
            <a:spAutoFit/>
          </a:bodyPr>
          <a:lstStyle/>
          <a:p>
            <a:pPr algn="ctr"/>
            <a:r>
              <a:rPr sz="1000" b="0" i="0" dirty="0">
                <a:solidFill>
                  <a:srgbClr val="E8A020"/>
                </a:solidFill>
                <a:latin typeface="Calibri"/>
              </a:rPr>
              <a:t> Abril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923</Words>
  <Application>Microsoft Office PowerPoint</Application>
  <PresentationFormat>Apresentação na tela (16:9)</PresentationFormat>
  <Paragraphs>171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Rachid</cp:lastModifiedBy>
  <cp:revision>2</cp:revision>
  <dcterms:created xsi:type="dcterms:W3CDTF">2013-01-27T09:14:16Z</dcterms:created>
  <dcterms:modified xsi:type="dcterms:W3CDTF">2026-04-13T02:29:37Z</dcterms:modified>
  <cp:category/>
</cp:coreProperties>
</file>