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2.svg" ContentType="image/svg+xml"/>
  <Override PartName="/ppt/media/image-1-4.svg" ContentType="image/svg+xml"/>
  <Override PartName="/ppt/media/image-10-2.svg" ContentType="image/svg+xml"/>
  <Override PartName="/ppt/media/image-11-2.svg" ContentType="image/svg+xml"/>
  <Override PartName="/ppt/media/image-11-4.svg" ContentType="image/svg+xml"/>
  <Override PartName="/ppt/media/image-12-2.svg" ContentType="image/svg+xml"/>
  <Override PartName="/ppt/media/image-13-2.svg" ContentType="image/svg+xml"/>
  <Override PartName="/ppt/media/image-14-2.svg" ContentType="image/svg+xml"/>
  <Override PartName="/ppt/media/image-15-2.svg" ContentType="image/svg+xml"/>
  <Override PartName="/ppt/media/image-16-2.svg" ContentType="image/svg+xml"/>
  <Override PartName="/ppt/media/image-17-2.svg" ContentType="image/svg+xml"/>
  <Override PartName="/ppt/media/image-18-2.svg" ContentType="image/svg+xml"/>
  <Override PartName="/ppt/media/image-18-4.svg" ContentType="image/svg+xml"/>
  <Override PartName="/ppt/media/image-19-2.svg" ContentType="image/svg+xml"/>
  <Override PartName="/ppt/media/image-2-2.svg" ContentType="image/svg+xml"/>
  <Override PartName="/ppt/media/image-20-2.svg" ContentType="image/svg+xml"/>
  <Override PartName="/ppt/media/image-21-2.svg" ContentType="image/svg+xml"/>
  <Override PartName="/ppt/media/image-21-4.svg" ContentType="image/svg+xml"/>
  <Override PartName="/ppt/media/image-22-2.svg" ContentType="image/svg+xml"/>
  <Override PartName="/ppt/media/image-23-2.svg" ContentType="image/svg+xml"/>
  <Override PartName="/ppt/media/image-23-4.svg" ContentType="image/svg+xml"/>
  <Override PartName="/ppt/media/image-3-2.svg" ContentType="image/svg+xml"/>
  <Override PartName="/ppt/media/image-4-2.svg" ContentType="image/svg+xml"/>
  <Override PartName="/ppt/media/image-4-4.svg" ContentType="image/svg+xml"/>
  <Override PartName="/ppt/media/image-5-2.svg" ContentType="image/svg+xml"/>
  <Override PartName="/ppt/media/image-6-2.svg" ContentType="image/svg+xml"/>
  <Override PartName="/ppt/media/image-7-2.svg" ContentType="image/svg+xml"/>
  <Override PartName="/ppt/media/image-8-2.svg" ContentType="image/svg+xml"/>
  <Override PartName="/ppt/media/image-9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1.jpg"/><Relationship Id="rId6" Type="http://schemas.openxmlformats.org/officeDocument/2006/relationships/image" Target="../media/image2.jpg"/><Relationship Id="rId7" Type="http://schemas.openxmlformats.org/officeDocument/2006/relationships/image" Target="../media/image3.jpg"/><Relationship Id="rId8" Type="http://schemas.openxmlformats.org/officeDocument/2006/relationships/image" Target="../media/image4.jpg"/><Relationship Id="rId9" Type="http://schemas.openxmlformats.org/officeDocument/2006/relationships/image" Target="../media/image5.jpg"/><Relationship Id="rId10" Type="http://schemas.openxmlformats.org/officeDocument/2006/relationships/image" Target="../media/image6.jpg"/><Relationship Id="rId11" Type="http://schemas.openxmlformats.org/officeDocument/2006/relationships/image" Target="../media/image7.jpg"/><Relationship Id="rId12" Type="http://schemas.openxmlformats.org/officeDocument/2006/relationships/image" Target="../media/image8.jpg"/><Relationship Id="rId13" Type="http://schemas.openxmlformats.org/officeDocument/2006/relationships/image" Target="../media/image9.jpg"/><Relationship Id="rId14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</file>

<file path=ppt/slides/_rels/slide20.xml.rels><?xml version='1.0' encoding='UTF-8' standalone='yes'?>
<Relationships xmlns="http://schemas.openxmlformats.org/package/2006/relationships"><Relationship Id="rIdThumb1" Type="http://schemas.openxmlformats.org/officeDocument/2006/relationships/image" Target="../media/video_thumb.png"/><Relationship Id="rIdVid1" Type="http://schemas.microsoft.com/office/2007/relationships/media" Target="../media/demo_ceres_1.5x.mp4"/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14350"/>
            <a:ext cx="381000" cy="381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95400" y="590550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5180469" y="595313"/>
            <a:ext cx="258008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IFMT CUIABÁ · 2026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2000" y="4095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DEFESA DE ARTIGO · DISCIPLINA PSI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762000" y="4686300"/>
            <a:ext cx="11988736" cy="3128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800" spc="-172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Sistema </a:t>
            </a:r>
            <a:pPr algn="l" indent="0" marL="0">
              <a:lnSpc>
                <a:spcPct val="104000"/>
              </a:lnSpc>
              <a:buNone/>
            </a:pPr>
            <a:r>
              <a:rPr lang="en-US" sz="7800" i="1" spc="-172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TinyML </a:t>
            </a:r>
            <a:pPr algn="l" indent="0" marL="0">
              <a:lnSpc>
                <a:spcPct val="104000"/>
              </a:lnSpc>
              <a:buNone/>
            </a:pPr>
            <a:r>
              <a:rPr lang="en-US" sz="7800" spc="-172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embarcado para detecção de doenças em tomateiro</a:t>
            </a:r>
            <a:endParaRPr lang="en-US" sz="7800" dirty="0"/>
          </a:p>
        </p:txBody>
      </p:sp>
      <p:sp>
        <p:nvSpPr>
          <p:cNvPr id="8" name="Shape 4"/>
          <p:cNvSpPr/>
          <p:nvPr/>
        </p:nvSpPr>
        <p:spPr>
          <a:xfrm>
            <a:off x="762000" y="9344025"/>
            <a:ext cx="16764000" cy="9525"/>
          </a:xfrm>
          <a:prstGeom prst="rect">
            <a:avLst/>
          </a:prstGeom>
          <a:solidFill>
            <a:srgbClr val="ABBEA2">
              <a:alpha val="25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762000" y="9544050"/>
            <a:ext cx="26105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Namem Rachid Jaudy Neto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3127682" y="9563100"/>
            <a:ext cx="48381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JUNHO 2026 · GITHUB.COM/NAMEM/EXTENSAO2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ROTEIRO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10045794" cy="711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spc="-11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caminho da </a:t>
            </a:r>
            <a:pPr algn="l" indent="0" marL="0">
              <a:lnSpc>
                <a:spcPct val="104000"/>
              </a:lnSpc>
              <a:buNone/>
            </a:pPr>
            <a:r>
              <a:rPr lang="en-US" sz="5100" i="1" spc="-112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apresentação</a:t>
            </a:r>
            <a:endParaRPr lang="en-US" sz="5100" dirty="0"/>
          </a:p>
        </p:txBody>
      </p:sp>
      <p:sp>
        <p:nvSpPr>
          <p:cNvPr id="7" name="Shape 4"/>
          <p:cNvSpPr/>
          <p:nvPr/>
        </p:nvSpPr>
        <p:spPr>
          <a:xfrm>
            <a:off x="762000" y="3873996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3321546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01 · Problema e proposta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9525000" y="3874888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0" y="3322438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05 · Gap geográfico e colapso de classe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762000" y="4874121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2" name="Text 9"/>
          <p:cNvSpPr/>
          <p:nvPr/>
        </p:nvSpPr>
        <p:spPr>
          <a:xfrm>
            <a:off x="762000" y="4321671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02 · Como construímos o modelo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9525000" y="4875013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4" name="Text 11"/>
          <p:cNvSpPr/>
          <p:nvPr/>
        </p:nvSpPr>
        <p:spPr>
          <a:xfrm>
            <a:off x="9525000" y="4322563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06 · Arquitetura: onde rodar o modelo?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762000" y="5874246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6" name="Text 13"/>
          <p:cNvSpPr/>
          <p:nvPr/>
        </p:nvSpPr>
        <p:spPr>
          <a:xfrm>
            <a:off x="762000" y="5321796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03 · A surpresa: gap laboratório–campo</a:t>
            </a:r>
            <a:endParaRPr lang="en-US" sz="2700" dirty="0"/>
          </a:p>
        </p:txBody>
      </p:sp>
      <p:sp>
        <p:nvSpPr>
          <p:cNvPr id="17" name="Shape 14"/>
          <p:cNvSpPr/>
          <p:nvPr/>
        </p:nvSpPr>
        <p:spPr>
          <a:xfrm>
            <a:off x="9525000" y="5878896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8" name="Text 15"/>
          <p:cNvSpPr/>
          <p:nvPr/>
        </p:nvSpPr>
        <p:spPr>
          <a:xfrm>
            <a:off x="9525000" y="5326446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07 · Sistema em funcionamento</a:t>
            </a:r>
            <a:endParaRPr lang="en-US" sz="2700" dirty="0"/>
          </a:p>
        </p:txBody>
      </p:sp>
      <p:sp>
        <p:nvSpPr>
          <p:cNvPr id="19" name="Shape 16"/>
          <p:cNvSpPr/>
          <p:nvPr/>
        </p:nvSpPr>
        <p:spPr>
          <a:xfrm>
            <a:off x="762000" y="6875263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6322813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04 · Os cinco experimentos</a:t>
            </a:r>
            <a:endParaRPr lang="en-US" sz="2700" dirty="0"/>
          </a:p>
        </p:txBody>
      </p:sp>
      <p:sp>
        <p:nvSpPr>
          <p:cNvPr id="21" name="Shape 18"/>
          <p:cNvSpPr/>
          <p:nvPr/>
        </p:nvSpPr>
        <p:spPr>
          <a:xfrm>
            <a:off x="9525000" y="6879021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2" name="Text 19"/>
          <p:cNvSpPr/>
          <p:nvPr/>
        </p:nvSpPr>
        <p:spPr>
          <a:xfrm>
            <a:off x="9525000" y="6326571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08 · Conclusão e trabalhos futuros</a:t>
            </a:r>
            <a:endParaRPr lang="en-US" sz="2700" dirty="0"/>
          </a:p>
        </p:txBody>
      </p:sp>
      <p:sp>
        <p:nvSpPr>
          <p:cNvPr id="23" name="Shape 20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4" name="Text 21"/>
          <p:cNvSpPr/>
          <p:nvPr/>
        </p:nvSpPr>
        <p:spPr>
          <a:xfrm>
            <a:off x="762000" y="9582150"/>
            <a:ext cx="22330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DEFESA PSI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6285369" y="9582150"/>
            <a:ext cx="136469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IFMT CUIABÁ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92409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PROBLEMA E MOTIVAÇÃO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8299894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9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Quem cuida da lavoura </a:t>
            </a:r>
            <a:pPr algn="l" indent="0" marL="0">
              <a:lnSpc>
                <a:spcPct val="104000"/>
              </a:lnSpc>
              <a:buNone/>
            </a:pPr>
            <a:r>
              <a:rPr lang="en-US" sz="4500" i="1" spc="-9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está sozinho</a:t>
            </a:r>
            <a:endParaRPr lang="en-US" sz="4500" dirty="0"/>
          </a:p>
        </p:txBody>
      </p:sp>
      <p:sp>
        <p:nvSpPr>
          <p:cNvPr id="7" name="Shape 4"/>
          <p:cNvSpPr/>
          <p:nvPr/>
        </p:nvSpPr>
        <p:spPr>
          <a:xfrm>
            <a:off x="762000" y="4750891"/>
            <a:ext cx="8400901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8" name="Text 5"/>
          <p:cNvSpPr/>
          <p:nvPr/>
        </p:nvSpPr>
        <p:spPr>
          <a:xfrm>
            <a:off x="1162050" y="3741241"/>
            <a:ext cx="825287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R$ 10 bi/ano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tomateiro é a 3ª maior produção mundial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(FAO 2024)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762000" y="5579951"/>
            <a:ext cx="8400901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0" name="Text 7"/>
          <p:cNvSpPr/>
          <p:nvPr/>
        </p:nvSpPr>
        <p:spPr>
          <a:xfrm>
            <a:off x="1162050" y="4970351"/>
            <a:ext cx="825287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Doenças foliares causam até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 de perda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safra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762000" y="6811554"/>
            <a:ext cx="8400901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2" name="Text 9"/>
          <p:cNvSpPr/>
          <p:nvPr/>
        </p:nvSpPr>
        <p:spPr>
          <a:xfrm>
            <a:off x="1162050" y="5801904"/>
            <a:ext cx="825287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Diagnóstico depende de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agrônomos especializados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inacessíveis ao pequeno produtor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762000" y="8046582"/>
            <a:ext cx="8400901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4" name="Text 11"/>
          <p:cNvSpPr/>
          <p:nvPr/>
        </p:nvSpPr>
        <p:spPr>
          <a:xfrm>
            <a:off x="1162050" y="7036932"/>
            <a:ext cx="825287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Conectividade instável no campo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inviabiliza soluções 100% cloud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9924901" y="1429135"/>
            <a:ext cx="7600950" cy="8096250"/>
          </a:xfrm>
          <a:prstGeom prst="roundRect">
            <a:avLst>
              <a:gd name="adj" fmla="val 1754"/>
            </a:avLst>
          </a:prstGeom>
          <a:solidFill>
            <a:srgbClr val="142A17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10676" y="4439035"/>
            <a:ext cx="7292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QUE IMPORTA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0410676" y="4972435"/>
            <a:ext cx="6828282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Um diagnóstico </a:t>
            </a:r>
            <a:pPr algn="l" indent="0" marL="0">
              <a:lnSpc>
                <a:spcPct val="150000"/>
              </a:lnSpc>
              <a:buNone/>
            </a:pPr>
            <a:r>
              <a:rPr lang="en-US" sz="2700" i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em campo, offline e ao alcance do bolso </a:t>
            </a:r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pode evitar perdas de safra e acelerar a resposta a surtos.</a:t>
            </a:r>
            <a:endParaRPr lang="en-US" sz="2700" dirty="0"/>
          </a:p>
        </p:txBody>
      </p:sp>
      <p:sp>
        <p:nvSpPr>
          <p:cNvPr id="18" name="Shape 15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9" name="Text 16"/>
          <p:cNvSpPr/>
          <p:nvPr/>
        </p:nvSpPr>
        <p:spPr>
          <a:xfrm>
            <a:off x="762000" y="9582150"/>
            <a:ext cx="19849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PROBLEMA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6285369" y="9582150"/>
            <a:ext cx="136469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IFMT CUIABÁ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23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NOSSA PROPOSTA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762000" y="1943100"/>
            <a:ext cx="9683210" cy="1702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00" spc="-92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Um sistema </a:t>
            </a:r>
            <a:pPr algn="l" indent="0" marL="0">
              <a:lnSpc>
                <a:spcPct val="104000"/>
              </a:lnSpc>
              <a:buNone/>
            </a:pPr>
            <a:r>
              <a:rPr lang="en-US" sz="4200" i="1" spc="-92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TinyML embarcado </a:t>
            </a:r>
            <a:pPr algn="l" indent="0" marL="0">
              <a:lnSpc>
                <a:spcPct val="104000"/>
              </a:lnSpc>
              <a:buNone/>
            </a:pPr>
            <a:r>
              <a:rPr lang="en-US" sz="4200" spc="-92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que classifica 10 doenças do tomateiro — barato e </a:t>
            </a:r>
            <a:pPr algn="l" indent="0" marL="0">
              <a:lnSpc>
                <a:spcPct val="104000"/>
              </a:lnSpc>
              <a:buNone/>
            </a:pPr>
            <a:r>
              <a:rPr lang="en-US" sz="4200" i="1" spc="-92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sem internet</a:t>
            </a:r>
            <a:endParaRPr lang="en-US" sz="4200" dirty="0"/>
          </a:p>
        </p:txBody>
      </p:sp>
      <p:sp>
        <p:nvSpPr>
          <p:cNvPr id="8" name="Shape 4"/>
          <p:cNvSpPr/>
          <p:nvPr/>
        </p:nvSpPr>
        <p:spPr>
          <a:xfrm>
            <a:off x="762000" y="4273897"/>
            <a:ext cx="5334000" cy="3388816"/>
          </a:xfrm>
          <a:prstGeom prst="roundRect">
            <a:avLst>
              <a:gd name="adj" fmla="val 449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52525" y="4702522"/>
            <a:ext cx="5008245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spc="-28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</a:t>
            </a:r>
            <a:endParaRPr lang="en-US" sz="9600" dirty="0"/>
          </a:p>
        </p:txBody>
      </p:sp>
      <p:sp>
        <p:nvSpPr>
          <p:cNvPr id="10" name="Text 6"/>
          <p:cNvSpPr/>
          <p:nvPr/>
        </p:nvSpPr>
        <p:spPr>
          <a:xfrm>
            <a:off x="1152525" y="5933033"/>
            <a:ext cx="5008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70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52525" y="6475958"/>
            <a:ext cx="5008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 preciso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1152525" y="6914108"/>
            <a:ext cx="50082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doenças foliares + folha saudável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477000" y="4274792"/>
            <a:ext cx="5334000" cy="3388817"/>
          </a:xfrm>
          <a:prstGeom prst="roundRect">
            <a:avLst>
              <a:gd name="adj" fmla="val 449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67525" y="4703417"/>
            <a:ext cx="5008245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spc="-28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638</a:t>
            </a:r>
            <a:pPr algn="l" indent="0" marL="0">
              <a:lnSpc>
                <a:spcPct val="90000"/>
              </a:lnSpc>
              <a:buNone/>
            </a:pPr>
            <a:r>
              <a:rPr lang="en-US" sz="3450" spc="-28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KB</a:t>
            </a:r>
            <a:endParaRPr lang="en-US" sz="9600" dirty="0"/>
          </a:p>
        </p:txBody>
      </p:sp>
      <p:sp>
        <p:nvSpPr>
          <p:cNvPr id="15" name="Text 11"/>
          <p:cNvSpPr/>
          <p:nvPr/>
        </p:nvSpPr>
        <p:spPr>
          <a:xfrm>
            <a:off x="6867525" y="5933928"/>
            <a:ext cx="5008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70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MODELO PEQUENO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867525" y="6476853"/>
            <a:ext cx="5008245" cy="361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INT8 quantizado</a:t>
            </a:r>
            <a:endParaRPr lang="en-US" sz="2550" dirty="0"/>
          </a:p>
        </p:txBody>
      </p:sp>
      <p:sp>
        <p:nvSpPr>
          <p:cNvPr id="17" name="Text 13"/>
          <p:cNvSpPr/>
          <p:nvPr/>
        </p:nvSpPr>
        <p:spPr>
          <a:xfrm>
            <a:off x="6867525" y="6915003"/>
            <a:ext cx="50082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Cabe num microcontrolador de baixo custo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2192000" y="4278554"/>
            <a:ext cx="5334000" cy="3388816"/>
          </a:xfrm>
          <a:prstGeom prst="roundRect">
            <a:avLst>
              <a:gd name="adj" fmla="val 449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2582525" y="4707179"/>
            <a:ext cx="5008245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spc="-28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100</a:t>
            </a:r>
            <a:pPr algn="l" indent="0" marL="0">
              <a:lnSpc>
                <a:spcPct val="90000"/>
              </a:lnSpc>
              <a:buNone/>
            </a:pPr>
            <a:r>
              <a:rPr lang="en-US" sz="3450" spc="-28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9600" dirty="0"/>
          </a:p>
        </p:txBody>
      </p:sp>
      <p:sp>
        <p:nvSpPr>
          <p:cNvPr id="20" name="Text 16"/>
          <p:cNvSpPr/>
          <p:nvPr/>
        </p:nvSpPr>
        <p:spPr>
          <a:xfrm>
            <a:off x="12582525" y="5937690"/>
            <a:ext cx="5008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70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2582525" y="6480615"/>
            <a:ext cx="5008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Funciona offline</a:t>
            </a:r>
            <a:endParaRPr lang="en-US" sz="2550" dirty="0"/>
          </a:p>
        </p:txBody>
      </p:sp>
      <p:sp>
        <p:nvSpPr>
          <p:cNvPr id="22" name="Text 18"/>
          <p:cNvSpPr/>
          <p:nvPr/>
        </p:nvSpPr>
        <p:spPr>
          <a:xfrm>
            <a:off x="12582525" y="6918765"/>
            <a:ext cx="50082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dependência de nuvem nem internet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ABBEA2">
              <a:alpha val="25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762000" y="9582150"/>
            <a:ext cx="19849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PROPOSTA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4593788" y="9582150"/>
            <a:ext cx="32254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 INTERNET · BAIXO CUSTO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7242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OBJETIVOS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242572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Objetivo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geral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762000" y="2763738"/>
            <a:ext cx="678168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4E464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Sistema embarcado de baixo custo para detecção precoce de 10 doenças do tomateiro, integrando: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762000" y="3907628"/>
            <a:ext cx="6584156" cy="390525"/>
          </a:xfrm>
          <a:prstGeom prst="roundRect">
            <a:avLst>
              <a:gd name="adj" fmla="val 14634"/>
            </a:avLst>
          </a:prstGeom>
          <a:solidFill>
            <a:srgbClr val="E9E2D9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23925" y="4050503"/>
            <a:ext cx="104775" cy="104775"/>
          </a:xfrm>
          <a:prstGeom prst="ellipse">
            <a:avLst/>
          </a:prstGeom>
          <a:solidFill>
            <a:srgbClr val="5E884F"/>
          </a:solidFill>
          <a:ln/>
        </p:spPr>
      </p:sp>
      <p:sp>
        <p:nvSpPr>
          <p:cNvPr id="10" name="Text 7"/>
          <p:cNvSpPr/>
          <p:nvPr/>
        </p:nvSpPr>
        <p:spPr>
          <a:xfrm>
            <a:off x="1123950" y="3993353"/>
            <a:ext cx="284327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TINYML — ESP32-S3 N16R8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62000" y="4431503"/>
            <a:ext cx="6584156" cy="390525"/>
          </a:xfrm>
          <a:prstGeom prst="roundRect">
            <a:avLst>
              <a:gd name="adj" fmla="val 14634"/>
            </a:avLst>
          </a:prstGeom>
          <a:solidFill>
            <a:srgbClr val="E9E2D9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3925" y="4574378"/>
            <a:ext cx="104775" cy="104775"/>
          </a:xfrm>
          <a:prstGeom prst="ellipse">
            <a:avLst/>
          </a:prstGeom>
          <a:solidFill>
            <a:srgbClr val="C89344"/>
          </a:solidFill>
          <a:ln/>
        </p:spPr>
      </p:sp>
      <p:sp>
        <p:nvSpPr>
          <p:cNvPr id="13" name="Text 10"/>
          <p:cNvSpPr/>
          <p:nvPr/>
        </p:nvSpPr>
        <p:spPr>
          <a:xfrm>
            <a:off x="1123950" y="4517228"/>
            <a:ext cx="309038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IOT — MQTT / HIVEMQ CLOUD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62000" y="4959133"/>
            <a:ext cx="6584156" cy="390525"/>
          </a:xfrm>
          <a:prstGeom prst="roundRect">
            <a:avLst>
              <a:gd name="adj" fmla="val 14634"/>
            </a:avLst>
          </a:prstGeom>
          <a:solidFill>
            <a:srgbClr val="E9E2D9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23925" y="5102008"/>
            <a:ext cx="104775" cy="104775"/>
          </a:xfrm>
          <a:prstGeom prst="ellipse">
            <a:avLst/>
          </a:prstGeom>
          <a:solidFill>
            <a:srgbClr val="A84533"/>
          </a:solidFill>
          <a:ln/>
        </p:spPr>
      </p:sp>
      <p:sp>
        <p:nvSpPr>
          <p:cNvPr id="16" name="Text 13"/>
          <p:cNvSpPr/>
          <p:nvPr/>
        </p:nvSpPr>
        <p:spPr>
          <a:xfrm>
            <a:off x="1123950" y="5044858"/>
            <a:ext cx="321409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 MÓVEL — FLUTTER + DART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62000" y="5654458"/>
            <a:ext cx="72425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Código e modelos abertos · github.com/Namem/extensao2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051006" y="1428750"/>
            <a:ext cx="104223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CONTRIBUIÇÕES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8051006" y="2952750"/>
            <a:ext cx="9474845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0" name="Text 17"/>
          <p:cNvSpPr/>
          <p:nvPr/>
        </p:nvSpPr>
        <p:spPr>
          <a:xfrm>
            <a:off x="8051006" y="2181225"/>
            <a:ext cx="5143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①</a:t>
            </a:r>
            <a:endParaRPr lang="en-US" sz="3150" dirty="0"/>
          </a:p>
        </p:txBody>
      </p:sp>
      <p:sp>
        <p:nvSpPr>
          <p:cNvPr id="21" name="Text 18"/>
          <p:cNvSpPr/>
          <p:nvPr/>
        </p:nvSpPr>
        <p:spPr>
          <a:xfrm>
            <a:off x="8736806" y="2271713"/>
            <a:ext cx="63716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classes, pipeline reproduzível </a:t>
            </a:r>
            <a:pPr algn="l" indent="0" marL="0">
              <a:buNone/>
            </a:pPr>
            <a:r>
              <a:rPr lang="en-US" sz="2100" i="1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(código aberto)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8051006" y="3972815"/>
            <a:ext cx="9474845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3" name="Text 20"/>
          <p:cNvSpPr/>
          <p:nvPr/>
        </p:nvSpPr>
        <p:spPr>
          <a:xfrm>
            <a:off x="8051006" y="3201290"/>
            <a:ext cx="5143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②</a:t>
            </a:r>
            <a:endParaRPr lang="en-US" sz="3150" dirty="0"/>
          </a:p>
        </p:txBody>
      </p:sp>
      <p:sp>
        <p:nvSpPr>
          <p:cNvPr id="24" name="Text 21"/>
          <p:cNvSpPr/>
          <p:nvPr/>
        </p:nvSpPr>
        <p:spPr>
          <a:xfrm>
            <a:off x="8736806" y="3291778"/>
            <a:ext cx="58058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ESP32-S3: 692 ms, modelo INT8 de 638 KB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8051006" y="4991990"/>
            <a:ext cx="9474845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6" name="Text 23"/>
          <p:cNvSpPr/>
          <p:nvPr/>
        </p:nvSpPr>
        <p:spPr>
          <a:xfrm>
            <a:off x="8051006" y="4220465"/>
            <a:ext cx="5143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③</a:t>
            </a:r>
            <a:endParaRPr lang="en-US" sz="3150" dirty="0"/>
          </a:p>
        </p:txBody>
      </p:sp>
      <p:sp>
        <p:nvSpPr>
          <p:cNvPr id="27" name="Text 24"/>
          <p:cNvSpPr/>
          <p:nvPr/>
        </p:nvSpPr>
        <p:spPr>
          <a:xfrm>
            <a:off x="8736806" y="4310953"/>
            <a:ext cx="61890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arquiteturas: Edge / Mobile on-device / Cloud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8051006" y="6014919"/>
            <a:ext cx="9474845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9" name="Text 26"/>
          <p:cNvSpPr/>
          <p:nvPr/>
        </p:nvSpPr>
        <p:spPr>
          <a:xfrm>
            <a:off x="8051006" y="5243394"/>
            <a:ext cx="5143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④</a:t>
            </a:r>
            <a:endParaRPr lang="en-US" sz="3150" dirty="0"/>
          </a:p>
        </p:txBody>
      </p:sp>
      <p:sp>
        <p:nvSpPr>
          <p:cNvPr id="30" name="Text 27"/>
          <p:cNvSpPr/>
          <p:nvPr/>
        </p:nvSpPr>
        <p:spPr>
          <a:xfrm>
            <a:off x="8736806" y="5333882"/>
            <a:ext cx="66185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Validação em 3 datasets de campo independentes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8051006" y="7034094"/>
            <a:ext cx="9474845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2" name="Text 29"/>
          <p:cNvSpPr/>
          <p:nvPr/>
        </p:nvSpPr>
        <p:spPr>
          <a:xfrm>
            <a:off x="8051006" y="6262569"/>
            <a:ext cx="5143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⑤</a:t>
            </a:r>
            <a:endParaRPr lang="en-US" sz="3150" dirty="0"/>
          </a:p>
        </p:txBody>
      </p:sp>
      <p:sp>
        <p:nvSpPr>
          <p:cNvPr id="33" name="Text 30"/>
          <p:cNvSpPr/>
          <p:nvPr/>
        </p:nvSpPr>
        <p:spPr>
          <a:xfrm>
            <a:off x="8736806" y="6353057"/>
            <a:ext cx="690254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experimentos documentados </a:t>
            </a:r>
            <a:pPr algn="l" indent="0" marL="0">
              <a:buNone/>
            </a:pPr>
            <a:r>
              <a:rPr lang="en-US" sz="2100" i="1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(incluindo negativos)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5" name="Text 32"/>
          <p:cNvSpPr/>
          <p:nvPr/>
        </p:nvSpPr>
        <p:spPr>
          <a:xfrm>
            <a:off x="762000" y="9582150"/>
            <a:ext cx="21089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OBJETIVOS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6285369" y="9582150"/>
            <a:ext cx="136469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IFMT CUIABÁ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DATASET E PIPELINE DE TREINAMENTO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8272969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00" spc="-9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 </a:t>
            </a:r>
            <a:pPr algn="l" indent="0" marL="0">
              <a:lnSpc>
                <a:spcPct val="104000"/>
              </a:lnSpc>
              <a:buNone/>
            </a:pPr>
            <a:r>
              <a:rPr lang="en-US" sz="4200" i="1" spc="-92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18 mil </a:t>
            </a:r>
            <a:pPr algn="l" indent="0" marL="0">
              <a:lnSpc>
                <a:spcPct val="104000"/>
              </a:lnSpc>
              <a:buNone/>
            </a:pPr>
            <a:r>
              <a:rPr lang="en-US" sz="4200" spc="-9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</a:t>
            </a:r>
            <a:pPr algn="l" indent="0" marL="0">
              <a:lnSpc>
                <a:spcPct val="104000"/>
              </a:lnSpc>
              <a:buNone/>
            </a:pPr>
            <a:r>
              <a:rPr lang="en-US" sz="4200" i="1" spc="-92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89 mil </a:t>
            </a:r>
            <a:pPr algn="l" indent="0" marL="0">
              <a:lnSpc>
                <a:spcPct val="104000"/>
              </a:lnSpc>
              <a:buNone/>
            </a:pPr>
            <a:r>
              <a:rPr lang="en-US" sz="4200" spc="-9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imagens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762000" y="2916882"/>
            <a:ext cx="3699421" cy="1562100"/>
          </a:xfrm>
          <a:prstGeom prst="roundRect">
            <a:avLst>
              <a:gd name="adj" fmla="val 7317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9175" y="3193107"/>
            <a:ext cx="35035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PLANTVILLAGE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019175" y="3516957"/>
            <a:ext cx="35035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-60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18.160 imgs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019175" y="3936057"/>
            <a:ext cx="35035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classes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4632871" y="2916882"/>
            <a:ext cx="38859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850" dirty="0"/>
          </a:p>
        </p:txBody>
      </p:sp>
      <p:sp>
        <p:nvSpPr>
          <p:cNvPr id="12" name="Shape 9"/>
          <p:cNvSpPr/>
          <p:nvPr/>
        </p:nvSpPr>
        <p:spPr>
          <a:xfrm>
            <a:off x="5116711" y="2916882"/>
            <a:ext cx="3699570" cy="1562100"/>
          </a:xfrm>
          <a:prstGeom prst="roundRect">
            <a:avLst>
              <a:gd name="adj" fmla="val 7317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73886" y="3193107"/>
            <a:ext cx="35037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5373886" y="3516957"/>
            <a:ext cx="350374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-60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70 / 15 / 15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373886" y="3936057"/>
            <a:ext cx="35037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seed = 42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8987730" y="2916882"/>
            <a:ext cx="38859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850" dirty="0"/>
          </a:p>
        </p:txBody>
      </p:sp>
      <p:sp>
        <p:nvSpPr>
          <p:cNvPr id="17" name="Shape 14"/>
          <p:cNvSpPr/>
          <p:nvPr/>
        </p:nvSpPr>
        <p:spPr>
          <a:xfrm>
            <a:off x="9471571" y="2916882"/>
            <a:ext cx="3699570" cy="1562100"/>
          </a:xfrm>
          <a:prstGeom prst="roundRect">
            <a:avLst>
              <a:gd name="adj" fmla="val 7317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28746" y="3193107"/>
            <a:ext cx="35037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AUGMENT.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9728746" y="3516957"/>
            <a:ext cx="350374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-60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offline × 6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9728746" y="3936057"/>
            <a:ext cx="35037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treino</a:t>
            </a:r>
            <a:endParaRPr lang="en-US" sz="1575" dirty="0"/>
          </a:p>
        </p:txBody>
      </p:sp>
      <p:sp>
        <p:nvSpPr>
          <p:cNvPr id="21" name="Text 18"/>
          <p:cNvSpPr/>
          <p:nvPr/>
        </p:nvSpPr>
        <p:spPr>
          <a:xfrm>
            <a:off x="13342590" y="2916882"/>
            <a:ext cx="38859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850" dirty="0"/>
          </a:p>
        </p:txBody>
      </p:sp>
      <p:sp>
        <p:nvSpPr>
          <p:cNvPr id="22" name="Shape 19"/>
          <p:cNvSpPr/>
          <p:nvPr/>
        </p:nvSpPr>
        <p:spPr>
          <a:xfrm>
            <a:off x="13826430" y="2916882"/>
            <a:ext cx="3699570" cy="1562100"/>
          </a:xfrm>
          <a:prstGeom prst="roundRect">
            <a:avLst>
              <a:gd name="adj" fmla="val 7317"/>
            </a:avLst>
          </a:prstGeom>
          <a:solidFill>
            <a:srgbClr val="142A17"/>
          </a:solidFill>
          <a:ln w="9525">
            <a:solidFill>
              <a:srgbClr val="142A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083605" y="3193107"/>
            <a:ext cx="35037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TREINO FINAL</a:t>
            </a:r>
            <a:endParaRPr lang="en-US" sz="1275" dirty="0"/>
          </a:p>
        </p:txBody>
      </p:sp>
      <p:sp>
        <p:nvSpPr>
          <p:cNvPr id="24" name="Text 21"/>
          <p:cNvSpPr/>
          <p:nvPr/>
        </p:nvSpPr>
        <p:spPr>
          <a:xfrm>
            <a:off x="14083605" y="3516957"/>
            <a:ext cx="350374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-60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88.949 imgs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14083605" y="3936057"/>
            <a:ext cx="35037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augmentado</a:t>
            </a:r>
            <a:endParaRPr lang="en-US" sz="1575" dirty="0"/>
          </a:p>
        </p:txBody>
      </p:sp>
      <p:sp>
        <p:nvSpPr>
          <p:cNvPr id="26" name="Shape 23"/>
          <p:cNvSpPr/>
          <p:nvPr/>
        </p:nvSpPr>
        <p:spPr>
          <a:xfrm>
            <a:off x="762000" y="4994220"/>
            <a:ext cx="8811369" cy="2667000"/>
          </a:xfrm>
          <a:prstGeom prst="roundRect">
            <a:avLst>
              <a:gd name="adj" fmla="val 5000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14425" y="5613345"/>
            <a:ext cx="5491311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8" name="Text 25"/>
          <p:cNvSpPr/>
          <p:nvPr/>
        </p:nvSpPr>
        <p:spPr>
          <a:xfrm>
            <a:off x="1285875" y="5270445"/>
            <a:ext cx="53131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6605736" y="5613345"/>
            <a:ext cx="2615208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0" name="Text 27"/>
          <p:cNvSpPr/>
          <p:nvPr/>
        </p:nvSpPr>
        <p:spPr>
          <a:xfrm>
            <a:off x="6698730" y="5270445"/>
            <a:ext cx="23507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IMAGENS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1114425" y="6227707"/>
            <a:ext cx="5491311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2" name="Text 29"/>
          <p:cNvSpPr/>
          <p:nvPr/>
        </p:nvSpPr>
        <p:spPr>
          <a:xfrm>
            <a:off x="1285875" y="5775270"/>
            <a:ext cx="53131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Treino </a:t>
            </a:r>
            <a:pPr algn="l" indent="0" marL="0">
              <a:buNone/>
            </a:pPr>
            <a:r>
              <a:rPr lang="en-US" sz="1800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(augmentado)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6605736" y="6227707"/>
            <a:ext cx="261520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4" name="Text 31"/>
          <p:cNvSpPr/>
          <p:nvPr/>
        </p:nvSpPr>
        <p:spPr>
          <a:xfrm>
            <a:off x="6698730" y="5775270"/>
            <a:ext cx="235076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88.949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1114425" y="6827782"/>
            <a:ext cx="5491311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6" name="Text 33"/>
          <p:cNvSpPr/>
          <p:nvPr/>
        </p:nvSpPr>
        <p:spPr>
          <a:xfrm>
            <a:off x="1285875" y="6380107"/>
            <a:ext cx="53131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Validação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6605736" y="6827782"/>
            <a:ext cx="261520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8" name="Text 35"/>
          <p:cNvSpPr/>
          <p:nvPr/>
        </p:nvSpPr>
        <p:spPr>
          <a:xfrm>
            <a:off x="6698730" y="6380107"/>
            <a:ext cx="23507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2.724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1114425" y="7427857"/>
            <a:ext cx="5491311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0" name="Text 37"/>
          <p:cNvSpPr/>
          <p:nvPr/>
        </p:nvSpPr>
        <p:spPr>
          <a:xfrm>
            <a:off x="1285875" y="6980182"/>
            <a:ext cx="53131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</a:t>
            </a:r>
            <a:pPr algn="l" indent="0" marL="0">
              <a:buNone/>
            </a:pPr>
            <a:r>
              <a:rPr lang="en-US" sz="1800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(nunca visto)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6605736" y="7427857"/>
            <a:ext cx="261520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2" name="Text 39"/>
          <p:cNvSpPr/>
          <p:nvPr/>
        </p:nvSpPr>
        <p:spPr>
          <a:xfrm>
            <a:off x="6698730" y="6980182"/>
            <a:ext cx="23507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2.734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10182969" y="4997970"/>
            <a:ext cx="80771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378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ORIGEM DOS DADOS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10182969" y="5407545"/>
            <a:ext cx="756316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PlantVillage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80797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(Hughes &amp; Salathé, 2015)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E464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— ~18 mil folhas de tomate em laboratório, 10 categorias. Licença CC BY 4.0.</a:t>
            </a:r>
            <a:endParaRPr lang="en-US" sz="2025" dirty="0"/>
          </a:p>
        </p:txBody>
      </p:sp>
      <p:sp>
        <p:nvSpPr>
          <p:cNvPr id="45" name="Shape 42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46" name="Text 43"/>
          <p:cNvSpPr/>
          <p:nvPr/>
        </p:nvSpPr>
        <p:spPr>
          <a:xfrm>
            <a:off x="762000" y="9582150"/>
            <a:ext cx="18609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DATASET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14819263" y="9582150"/>
            <a:ext cx="29774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PLANTVILLAGE · CC BY 4.0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 10 CLASSES DO MODELO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Nove doenças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 a folha sã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762000" y="2839938"/>
            <a:ext cx="3154561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62000" y="2839938"/>
            <a:ext cx="3154561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62000" y="283993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907036" y="283993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62000" y="4744938"/>
            <a:ext cx="3154561" cy="628650"/>
          </a:xfrm>
          <a:prstGeom prst="rect">
            <a:avLst/>
          </a:prstGeom>
          <a:solidFill>
            <a:srgbClr val="FAF5E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762000" y="5364063"/>
            <a:ext cx="3154561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762000" y="4744938"/>
            <a:ext cx="3154561" cy="28575"/>
          </a:xfrm>
          <a:prstGeom prst="rect">
            <a:avLst/>
          </a:prstGeom>
          <a:solidFill>
            <a:srgbClr val="A84533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62000" y="4744938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907036" y="4744938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42975" y="5002113"/>
            <a:ext cx="350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12664" y="4925913"/>
            <a:ext cx="108793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Requeima</a:t>
            </a:r>
            <a:endParaRPr lang="en-US" sz="1725" dirty="0"/>
          </a:p>
        </p:txBody>
      </p:sp>
      <p:sp>
        <p:nvSpPr>
          <p:cNvPr id="19" name="Shape 16"/>
          <p:cNvSpPr/>
          <p:nvPr/>
        </p:nvSpPr>
        <p:spPr>
          <a:xfrm>
            <a:off x="4164211" y="2839938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164211" y="2839938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164211" y="283993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309396" y="283993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4164211" y="4744938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164211" y="5364063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4164211" y="4744938"/>
            <a:ext cx="3154710" cy="28575"/>
          </a:xfrm>
          <a:prstGeom prst="rect">
            <a:avLst/>
          </a:prstGeom>
          <a:solidFill>
            <a:srgbClr val="A84533"/>
          </a:solidFill>
          <a:ln/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4164211" y="4744938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7309396" y="4744938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4345186" y="5002113"/>
            <a:ext cx="350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D02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714875" y="4925913"/>
            <a:ext cx="11546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Septoriose</a:t>
            </a:r>
            <a:endParaRPr lang="en-US" sz="1725" dirty="0"/>
          </a:p>
        </p:txBody>
      </p:sp>
      <p:sp>
        <p:nvSpPr>
          <p:cNvPr id="31" name="Shape 28"/>
          <p:cNvSpPr/>
          <p:nvPr/>
        </p:nvSpPr>
        <p:spPr>
          <a:xfrm>
            <a:off x="7566571" y="2840830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7566571" y="2840830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7566571" y="2840830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711755" y="2840830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7566571" y="4745830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7566571" y="5364955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7566571" y="4745830"/>
            <a:ext cx="3154710" cy="28575"/>
          </a:xfrm>
          <a:prstGeom prst="rect">
            <a:avLst/>
          </a:prstGeom>
          <a:solidFill>
            <a:srgbClr val="A84533"/>
          </a:solidFill>
          <a:ln/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7566571" y="4745830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10711755" y="4745830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7747546" y="5003005"/>
            <a:ext cx="350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D03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117235" y="4926805"/>
            <a:ext cx="122009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Pinta-preta</a:t>
            </a:r>
            <a:endParaRPr lang="en-US" sz="1725" dirty="0"/>
          </a:p>
        </p:txBody>
      </p:sp>
      <p:sp>
        <p:nvSpPr>
          <p:cNvPr id="43" name="Shape 40"/>
          <p:cNvSpPr/>
          <p:nvPr/>
        </p:nvSpPr>
        <p:spPr>
          <a:xfrm>
            <a:off x="10968930" y="2840830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10968930" y="2840830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10968930" y="2840830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46" name="Shape 43"/>
          <p:cNvSpPr/>
          <p:nvPr/>
        </p:nvSpPr>
        <p:spPr>
          <a:xfrm>
            <a:off x="14114115" y="2840830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10968930" y="4745830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10968930" y="5364955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>
            <a:off x="10968930" y="4745830"/>
            <a:ext cx="3154710" cy="28575"/>
          </a:xfrm>
          <a:prstGeom prst="rect">
            <a:avLst/>
          </a:prstGeom>
          <a:solidFill>
            <a:srgbClr val="A84533"/>
          </a:solidFill>
          <a:ln/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10968930" y="4745830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52" name="Shape 49"/>
          <p:cNvSpPr/>
          <p:nvPr/>
        </p:nvSpPr>
        <p:spPr>
          <a:xfrm>
            <a:off x="14114115" y="4745830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11149905" y="5003005"/>
            <a:ext cx="4420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D03b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11610975" y="4926805"/>
            <a:ext cx="136222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Mancha-alvo</a:t>
            </a:r>
            <a:endParaRPr lang="en-US" sz="1725" dirty="0"/>
          </a:p>
        </p:txBody>
      </p:sp>
      <p:sp>
        <p:nvSpPr>
          <p:cNvPr id="55" name="Shape 52"/>
          <p:cNvSpPr/>
          <p:nvPr/>
        </p:nvSpPr>
        <p:spPr>
          <a:xfrm>
            <a:off x="14371290" y="2844588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  <p:txBody>
          <a:bodyPr/>
          <a:p/>
        </p:txBody>
      </p:sp>
      <p:sp>
        <p:nvSpPr>
          <p:cNvPr id="56" name="Shape 53"/>
          <p:cNvSpPr/>
          <p:nvPr/>
        </p:nvSpPr>
        <p:spPr>
          <a:xfrm>
            <a:off x="14371290" y="2844588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14371290" y="284458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58" name="Shape 55"/>
          <p:cNvSpPr/>
          <p:nvPr/>
        </p:nvSpPr>
        <p:spPr>
          <a:xfrm>
            <a:off x="17516475" y="284458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14371290" y="4749588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14371290" y="5368713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14371290" y="4749588"/>
            <a:ext cx="3154710" cy="28575"/>
          </a:xfrm>
          <a:prstGeom prst="rect">
            <a:avLst/>
          </a:prstGeom>
          <a:solidFill>
            <a:srgbClr val="A84533"/>
          </a:solidFill>
          <a:ln/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14371290" y="4749588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64" name="Shape 61"/>
          <p:cNvSpPr/>
          <p:nvPr/>
        </p:nvSpPr>
        <p:spPr>
          <a:xfrm>
            <a:off x="17516475" y="4749588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14552265" y="5006763"/>
            <a:ext cx="350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D05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14921954" y="4930563"/>
            <a:ext cx="114642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Mofo foliar</a:t>
            </a:r>
            <a:endParaRPr lang="en-US" sz="1725" dirty="0"/>
          </a:p>
        </p:txBody>
      </p:sp>
      <p:sp>
        <p:nvSpPr>
          <p:cNvPr id="67" name="Shape 64"/>
          <p:cNvSpPr/>
          <p:nvPr/>
        </p:nvSpPr>
        <p:spPr>
          <a:xfrm>
            <a:off x="762000" y="5622130"/>
            <a:ext cx="3154561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  <p:txBody>
          <a:bodyPr/>
          <a:p/>
        </p:txBody>
      </p:sp>
      <p:sp>
        <p:nvSpPr>
          <p:cNvPr id="68" name="Shape 65"/>
          <p:cNvSpPr/>
          <p:nvPr/>
        </p:nvSpPr>
        <p:spPr>
          <a:xfrm>
            <a:off x="762000" y="5622130"/>
            <a:ext cx="3154561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762000" y="5622130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70" name="Shape 67"/>
          <p:cNvSpPr/>
          <p:nvPr/>
        </p:nvSpPr>
        <p:spPr>
          <a:xfrm>
            <a:off x="3907036" y="5622130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72" name="Shape 69"/>
          <p:cNvSpPr/>
          <p:nvPr/>
        </p:nvSpPr>
        <p:spPr>
          <a:xfrm>
            <a:off x="762000" y="7527130"/>
            <a:ext cx="3154561" cy="628650"/>
          </a:xfrm>
          <a:prstGeom prst="rect">
            <a:avLst/>
          </a:prstGeom>
          <a:solidFill>
            <a:srgbClr val="FAF5EC"/>
          </a:solidFill>
          <a:ln/>
        </p:spPr>
        <p:txBody>
          <a:bodyPr/>
          <a:p/>
        </p:txBody>
      </p:sp>
      <p:sp>
        <p:nvSpPr>
          <p:cNvPr id="73" name="Shape 70"/>
          <p:cNvSpPr/>
          <p:nvPr/>
        </p:nvSpPr>
        <p:spPr>
          <a:xfrm>
            <a:off x="762000" y="8146255"/>
            <a:ext cx="3154561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74" name="Shape 71"/>
          <p:cNvSpPr/>
          <p:nvPr/>
        </p:nvSpPr>
        <p:spPr>
          <a:xfrm>
            <a:off x="762000" y="7527130"/>
            <a:ext cx="3154561" cy="28575"/>
          </a:xfrm>
          <a:prstGeom prst="rect">
            <a:avLst/>
          </a:prstGeom>
          <a:solidFill>
            <a:srgbClr val="A84533"/>
          </a:solidFill>
          <a:ln/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762000" y="7527130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76" name="Shape 73"/>
          <p:cNvSpPr/>
          <p:nvPr/>
        </p:nvSpPr>
        <p:spPr>
          <a:xfrm>
            <a:off x="3907036" y="7527130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942975" y="7784305"/>
            <a:ext cx="350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D06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1312664" y="7708105"/>
            <a:ext cx="12778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Vira-cabeça</a:t>
            </a:r>
            <a:endParaRPr lang="en-US" sz="1725" dirty="0"/>
          </a:p>
        </p:txBody>
      </p:sp>
      <p:sp>
        <p:nvSpPr>
          <p:cNvPr id="79" name="Shape 76"/>
          <p:cNvSpPr/>
          <p:nvPr/>
        </p:nvSpPr>
        <p:spPr>
          <a:xfrm>
            <a:off x="4164211" y="5625888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  <p:txBody>
          <a:bodyPr/>
          <a:p/>
        </p:txBody>
      </p:sp>
      <p:sp>
        <p:nvSpPr>
          <p:cNvPr id="80" name="Shape 77"/>
          <p:cNvSpPr/>
          <p:nvPr/>
        </p:nvSpPr>
        <p:spPr>
          <a:xfrm>
            <a:off x="4164211" y="5625888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>
            <a:off x="4164211" y="562588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82" name="Shape 79"/>
          <p:cNvSpPr/>
          <p:nvPr/>
        </p:nvSpPr>
        <p:spPr>
          <a:xfrm>
            <a:off x="7309396" y="562588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84" name="Shape 81"/>
          <p:cNvSpPr/>
          <p:nvPr/>
        </p:nvSpPr>
        <p:spPr>
          <a:xfrm>
            <a:off x="4164211" y="7530888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>
            <a:off x="4164211" y="8150013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86" name="Shape 83"/>
          <p:cNvSpPr/>
          <p:nvPr/>
        </p:nvSpPr>
        <p:spPr>
          <a:xfrm>
            <a:off x="4164211" y="7530888"/>
            <a:ext cx="3154710" cy="28575"/>
          </a:xfrm>
          <a:prstGeom prst="rect">
            <a:avLst/>
          </a:prstGeom>
          <a:solidFill>
            <a:srgbClr val="A84533"/>
          </a:solidFill>
          <a:ln/>
        </p:spPr>
        <p:txBody>
          <a:bodyPr/>
          <a:p/>
        </p:txBody>
      </p:sp>
      <p:sp>
        <p:nvSpPr>
          <p:cNvPr id="87" name="Shape 84"/>
          <p:cNvSpPr/>
          <p:nvPr/>
        </p:nvSpPr>
        <p:spPr>
          <a:xfrm>
            <a:off x="4164211" y="7530888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88" name="Shape 85"/>
          <p:cNvSpPr/>
          <p:nvPr/>
        </p:nvSpPr>
        <p:spPr>
          <a:xfrm>
            <a:off x="7309396" y="7530888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89" name="Text 86"/>
          <p:cNvSpPr/>
          <p:nvPr/>
        </p:nvSpPr>
        <p:spPr>
          <a:xfrm>
            <a:off x="4345186" y="7788063"/>
            <a:ext cx="4420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D06b</a:t>
            </a:r>
            <a:endParaRPr lang="en-US" sz="1200" dirty="0"/>
          </a:p>
        </p:txBody>
      </p:sp>
      <p:sp>
        <p:nvSpPr>
          <p:cNvPr id="90" name="Text 87"/>
          <p:cNvSpPr/>
          <p:nvPr/>
        </p:nvSpPr>
        <p:spPr>
          <a:xfrm>
            <a:off x="4806255" y="7711863"/>
            <a:ext cx="8978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Mosaico</a:t>
            </a:r>
            <a:endParaRPr lang="en-US" sz="1725" dirty="0"/>
          </a:p>
        </p:txBody>
      </p:sp>
      <p:sp>
        <p:nvSpPr>
          <p:cNvPr id="91" name="Shape 88"/>
          <p:cNvSpPr/>
          <p:nvPr/>
        </p:nvSpPr>
        <p:spPr>
          <a:xfrm>
            <a:off x="7566571" y="5625888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  <p:txBody>
          <a:bodyPr/>
          <a:p/>
        </p:txBody>
      </p:sp>
      <p:sp>
        <p:nvSpPr>
          <p:cNvPr id="92" name="Shape 89"/>
          <p:cNvSpPr/>
          <p:nvPr/>
        </p:nvSpPr>
        <p:spPr>
          <a:xfrm>
            <a:off x="7566571" y="5625888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93" name="Shape 90"/>
          <p:cNvSpPr/>
          <p:nvPr/>
        </p:nvSpPr>
        <p:spPr>
          <a:xfrm>
            <a:off x="7566571" y="562588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94" name="Shape 91"/>
          <p:cNvSpPr/>
          <p:nvPr/>
        </p:nvSpPr>
        <p:spPr>
          <a:xfrm>
            <a:off x="10711755" y="562588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96" name="Shape 93"/>
          <p:cNvSpPr/>
          <p:nvPr/>
        </p:nvSpPr>
        <p:spPr>
          <a:xfrm>
            <a:off x="7566571" y="7530888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7566571" y="8150013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98" name="Shape 95"/>
          <p:cNvSpPr/>
          <p:nvPr/>
        </p:nvSpPr>
        <p:spPr>
          <a:xfrm>
            <a:off x="7566571" y="7530888"/>
            <a:ext cx="3154710" cy="28575"/>
          </a:xfrm>
          <a:prstGeom prst="rect">
            <a:avLst/>
          </a:prstGeom>
          <a:solidFill>
            <a:srgbClr val="A84533"/>
          </a:solidFill>
          <a:ln/>
        </p:spPr>
        <p:txBody>
          <a:bodyPr/>
          <a:p/>
        </p:txBody>
      </p:sp>
      <p:sp>
        <p:nvSpPr>
          <p:cNvPr id="99" name="Shape 96"/>
          <p:cNvSpPr/>
          <p:nvPr/>
        </p:nvSpPr>
        <p:spPr>
          <a:xfrm>
            <a:off x="7566571" y="7530888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00" name="Shape 97"/>
          <p:cNvSpPr/>
          <p:nvPr/>
        </p:nvSpPr>
        <p:spPr>
          <a:xfrm>
            <a:off x="10711755" y="7530888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01" name="Text 98"/>
          <p:cNvSpPr/>
          <p:nvPr/>
        </p:nvSpPr>
        <p:spPr>
          <a:xfrm>
            <a:off x="7747546" y="7788063"/>
            <a:ext cx="350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D07</a:t>
            </a:r>
            <a:endParaRPr lang="en-US" sz="1200" dirty="0"/>
          </a:p>
        </p:txBody>
      </p:sp>
      <p:sp>
        <p:nvSpPr>
          <p:cNvPr id="102" name="Text 99"/>
          <p:cNvSpPr/>
          <p:nvPr/>
        </p:nvSpPr>
        <p:spPr>
          <a:xfrm>
            <a:off x="8117235" y="7711863"/>
            <a:ext cx="6585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Ácaro</a:t>
            </a:r>
            <a:endParaRPr lang="en-US" sz="1725" dirty="0"/>
          </a:p>
        </p:txBody>
      </p:sp>
      <p:sp>
        <p:nvSpPr>
          <p:cNvPr id="103" name="Shape 100"/>
          <p:cNvSpPr/>
          <p:nvPr/>
        </p:nvSpPr>
        <p:spPr>
          <a:xfrm>
            <a:off x="10968930" y="5633317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  <p:txBody>
          <a:bodyPr/>
          <a:p/>
        </p:txBody>
      </p:sp>
      <p:sp>
        <p:nvSpPr>
          <p:cNvPr id="104" name="Shape 101"/>
          <p:cNvSpPr/>
          <p:nvPr/>
        </p:nvSpPr>
        <p:spPr>
          <a:xfrm>
            <a:off x="10968930" y="5633317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05" name="Shape 102"/>
          <p:cNvSpPr/>
          <p:nvPr/>
        </p:nvSpPr>
        <p:spPr>
          <a:xfrm>
            <a:off x="10968930" y="5633317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06" name="Shape 103"/>
          <p:cNvSpPr/>
          <p:nvPr/>
        </p:nvSpPr>
        <p:spPr>
          <a:xfrm>
            <a:off x="14114115" y="5633317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10968930" y="7538317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  <p:txBody>
          <a:bodyPr/>
          <a:p/>
        </p:txBody>
      </p:sp>
      <p:sp>
        <p:nvSpPr>
          <p:cNvPr id="109" name="Shape 106"/>
          <p:cNvSpPr/>
          <p:nvPr/>
        </p:nvSpPr>
        <p:spPr>
          <a:xfrm>
            <a:off x="10968930" y="8157442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10" name="Shape 107"/>
          <p:cNvSpPr/>
          <p:nvPr/>
        </p:nvSpPr>
        <p:spPr>
          <a:xfrm>
            <a:off x="10968930" y="7538317"/>
            <a:ext cx="3154710" cy="28575"/>
          </a:xfrm>
          <a:prstGeom prst="rect">
            <a:avLst/>
          </a:prstGeom>
          <a:solidFill>
            <a:srgbClr val="A84533"/>
          </a:solidFill>
          <a:ln/>
        </p:spPr>
        <p:txBody>
          <a:bodyPr/>
          <a:p/>
        </p:txBody>
      </p:sp>
      <p:sp>
        <p:nvSpPr>
          <p:cNvPr id="111" name="Shape 108"/>
          <p:cNvSpPr/>
          <p:nvPr/>
        </p:nvSpPr>
        <p:spPr>
          <a:xfrm>
            <a:off x="10968930" y="7538317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12" name="Shape 109"/>
          <p:cNvSpPr/>
          <p:nvPr/>
        </p:nvSpPr>
        <p:spPr>
          <a:xfrm>
            <a:off x="14114115" y="7538317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13" name="Text 110"/>
          <p:cNvSpPr/>
          <p:nvPr/>
        </p:nvSpPr>
        <p:spPr>
          <a:xfrm>
            <a:off x="11149905" y="7795492"/>
            <a:ext cx="350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D09</a:t>
            </a:r>
            <a:endParaRPr lang="en-US" sz="1200" dirty="0"/>
          </a:p>
        </p:txBody>
      </p:sp>
      <p:sp>
        <p:nvSpPr>
          <p:cNvPr id="114" name="Text 111"/>
          <p:cNvSpPr/>
          <p:nvPr/>
        </p:nvSpPr>
        <p:spPr>
          <a:xfrm>
            <a:off x="11519595" y="7719292"/>
            <a:ext cx="14172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Mancha bact.</a:t>
            </a:r>
            <a:endParaRPr lang="en-US" sz="1725" dirty="0"/>
          </a:p>
        </p:txBody>
      </p:sp>
      <p:sp>
        <p:nvSpPr>
          <p:cNvPr id="115" name="Shape 112"/>
          <p:cNvSpPr/>
          <p:nvPr/>
        </p:nvSpPr>
        <p:spPr>
          <a:xfrm>
            <a:off x="14371290" y="5633317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  <p:txBody>
          <a:bodyPr/>
          <a:p/>
        </p:txBody>
      </p:sp>
      <p:sp>
        <p:nvSpPr>
          <p:cNvPr id="116" name="Shape 113"/>
          <p:cNvSpPr/>
          <p:nvPr/>
        </p:nvSpPr>
        <p:spPr>
          <a:xfrm>
            <a:off x="14371290" y="5633317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17" name="Shape 114"/>
          <p:cNvSpPr/>
          <p:nvPr/>
        </p:nvSpPr>
        <p:spPr>
          <a:xfrm>
            <a:off x="14371290" y="5633317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18" name="Shape 115"/>
          <p:cNvSpPr/>
          <p:nvPr/>
        </p:nvSpPr>
        <p:spPr>
          <a:xfrm>
            <a:off x="17516475" y="5633317"/>
            <a:ext cx="9525" cy="190500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20" name="Shape 117"/>
          <p:cNvSpPr/>
          <p:nvPr/>
        </p:nvSpPr>
        <p:spPr>
          <a:xfrm>
            <a:off x="14371290" y="7538317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  <p:txBody>
          <a:bodyPr/>
          <a:p/>
        </p:txBody>
      </p:sp>
      <p:sp>
        <p:nvSpPr>
          <p:cNvPr id="121" name="Shape 118"/>
          <p:cNvSpPr/>
          <p:nvPr/>
        </p:nvSpPr>
        <p:spPr>
          <a:xfrm>
            <a:off x="14371290" y="8157442"/>
            <a:ext cx="315471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22" name="Shape 119"/>
          <p:cNvSpPr/>
          <p:nvPr/>
        </p:nvSpPr>
        <p:spPr>
          <a:xfrm>
            <a:off x="14371290" y="7538317"/>
            <a:ext cx="3154710" cy="28575"/>
          </a:xfrm>
          <a:prstGeom prst="rect">
            <a:avLst/>
          </a:prstGeom>
          <a:solidFill>
            <a:srgbClr val="5E884F"/>
          </a:solidFill>
          <a:ln/>
        </p:spPr>
        <p:txBody>
          <a:bodyPr/>
          <a:p/>
        </p:txBody>
      </p:sp>
      <p:sp>
        <p:nvSpPr>
          <p:cNvPr id="123" name="Shape 120"/>
          <p:cNvSpPr/>
          <p:nvPr/>
        </p:nvSpPr>
        <p:spPr>
          <a:xfrm>
            <a:off x="14371290" y="7538317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24" name="Shape 121"/>
          <p:cNvSpPr/>
          <p:nvPr/>
        </p:nvSpPr>
        <p:spPr>
          <a:xfrm>
            <a:off x="17516475" y="7538317"/>
            <a:ext cx="9525" cy="628650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25" name="Text 122"/>
          <p:cNvSpPr/>
          <p:nvPr/>
        </p:nvSpPr>
        <p:spPr>
          <a:xfrm>
            <a:off x="14552265" y="7795492"/>
            <a:ext cx="1677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200" dirty="0"/>
          </a:p>
        </p:txBody>
      </p:sp>
      <p:sp>
        <p:nvSpPr>
          <p:cNvPr id="126" name="Text 123"/>
          <p:cNvSpPr/>
          <p:nvPr/>
        </p:nvSpPr>
        <p:spPr>
          <a:xfrm>
            <a:off x="14739045" y="7719292"/>
            <a:ext cx="99729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Saudável</a:t>
            </a:r>
            <a:endParaRPr lang="en-US" sz="1725" dirty="0"/>
          </a:p>
        </p:txBody>
      </p:sp>
      <p:sp>
        <p:nvSpPr>
          <p:cNvPr id="127" name="Shape 124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762000" y="9582150"/>
            <a:ext cx="18609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CLASSES</a:t>
            </a:r>
            <a:endParaRPr lang="en-US" sz="1200" dirty="0"/>
          </a:p>
        </p:txBody>
      </p:sp>
      <p:sp>
        <p:nvSpPr>
          <p:cNvPr id="129" name="Text 126"/>
          <p:cNvSpPr/>
          <p:nvPr/>
        </p:nvSpPr>
        <p:spPr>
          <a:xfrm>
            <a:off x="15270361" y="9582150"/>
            <a:ext cx="24812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DOENÇAS + SAUDÁVEL</a:t>
            </a:r>
            <a:endParaRPr lang="en-US" sz="1200" dirty="0"/>
          </a:p>
        </p:txBody>
      </p:sp>
      <p:pic>
        <p:nvPicPr>
          <p:cNvPr id="130" name="Picture 129" descr="cls_01_requeim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7" y="2849463"/>
            <a:ext cx="3230148" cy="1933575"/>
          </a:xfrm>
          <a:prstGeom prst="rect">
            <a:avLst/>
          </a:prstGeom>
        </p:spPr>
      </p:pic>
      <p:pic>
        <p:nvPicPr>
          <p:cNvPr id="131" name="Picture 130" descr="cls_02_septorios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6415" y="2849463"/>
            <a:ext cx="3230301" cy="1933575"/>
          </a:xfrm>
          <a:prstGeom prst="rect">
            <a:avLst/>
          </a:prstGeom>
        </p:spPr>
      </p:pic>
      <p:pic>
        <p:nvPicPr>
          <p:cNvPr id="132" name="Picture 131" descr="cls_03_pinta_pret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8775" y="2850355"/>
            <a:ext cx="3230301" cy="1933575"/>
          </a:xfrm>
          <a:prstGeom prst="rect">
            <a:avLst/>
          </a:prstGeom>
        </p:spPr>
      </p:pic>
      <p:pic>
        <p:nvPicPr>
          <p:cNvPr id="133" name="Picture 132" descr="cls_04_mancha_alv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31135" y="2850355"/>
            <a:ext cx="3230301" cy="1933575"/>
          </a:xfrm>
          <a:prstGeom prst="rect">
            <a:avLst/>
          </a:prstGeom>
        </p:spPr>
      </p:pic>
      <p:pic>
        <p:nvPicPr>
          <p:cNvPr id="134" name="Picture 133" descr="cls_05_mofo_folia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33495" y="2854113"/>
            <a:ext cx="3230301" cy="1933575"/>
          </a:xfrm>
          <a:prstGeom prst="rect">
            <a:avLst/>
          </a:prstGeom>
        </p:spPr>
      </p:pic>
      <p:pic>
        <p:nvPicPr>
          <p:cNvPr id="135" name="Picture 134" descr="cls_06_vira_cabeca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4207" y="5631655"/>
            <a:ext cx="3230148" cy="1933575"/>
          </a:xfrm>
          <a:prstGeom prst="rect">
            <a:avLst/>
          </a:prstGeom>
        </p:spPr>
      </p:pic>
      <p:pic>
        <p:nvPicPr>
          <p:cNvPr id="136" name="Picture 135" descr="cls_07_mosaico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6415" y="5635413"/>
            <a:ext cx="3230301" cy="1933575"/>
          </a:xfrm>
          <a:prstGeom prst="rect">
            <a:avLst/>
          </a:prstGeom>
        </p:spPr>
      </p:pic>
      <p:pic>
        <p:nvPicPr>
          <p:cNvPr id="137" name="Picture 136" descr="cls_08_acaro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8775" y="5635413"/>
            <a:ext cx="3230301" cy="1933575"/>
          </a:xfrm>
          <a:prstGeom prst="rect">
            <a:avLst/>
          </a:prstGeom>
        </p:spPr>
      </p:pic>
      <p:pic>
        <p:nvPicPr>
          <p:cNvPr id="138" name="Picture 137" descr="cls_09_mancha_bact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31135" y="5642842"/>
            <a:ext cx="3230301" cy="1933575"/>
          </a:xfrm>
          <a:prstGeom prst="rect">
            <a:avLst/>
          </a:prstGeom>
        </p:spPr>
      </p:pic>
      <p:pic>
        <p:nvPicPr>
          <p:cNvPr id="139" name="Picture 138" descr="cls_10_saudavel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333495" y="5642842"/>
            <a:ext cx="3230301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QUE MOBILENETV2?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único que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cabe no chip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762000" y="2782788"/>
            <a:ext cx="16764000" cy="3810000"/>
          </a:xfrm>
          <a:prstGeom prst="roundRect">
            <a:avLst>
              <a:gd name="adj" fmla="val 3500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14425" y="3344763"/>
            <a:ext cx="4104382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" name="Text 6"/>
          <p:cNvSpPr/>
          <p:nvPr/>
        </p:nvSpPr>
        <p:spPr>
          <a:xfrm>
            <a:off x="1285875" y="3001863"/>
            <a:ext cx="38846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218807" y="3344763"/>
            <a:ext cx="3191619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" name="Text 8"/>
          <p:cNvSpPr/>
          <p:nvPr/>
        </p:nvSpPr>
        <p:spPr>
          <a:xfrm>
            <a:off x="5390257" y="3001863"/>
            <a:ext cx="29444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PARÂMETROS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410426" y="3344763"/>
            <a:ext cx="2695426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3" name="Text 10"/>
          <p:cNvSpPr/>
          <p:nvPr/>
        </p:nvSpPr>
        <p:spPr>
          <a:xfrm>
            <a:off x="8581876" y="3001863"/>
            <a:ext cx="243338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FLOAT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1105852" y="3344763"/>
            <a:ext cx="2695426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5" name="Text 12"/>
          <p:cNvSpPr/>
          <p:nvPr/>
        </p:nvSpPr>
        <p:spPr>
          <a:xfrm>
            <a:off x="11277302" y="3001863"/>
            <a:ext cx="243338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INT8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3801279" y="3344763"/>
            <a:ext cx="3372296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7" name="Text 14"/>
          <p:cNvSpPr/>
          <p:nvPr/>
        </p:nvSpPr>
        <p:spPr>
          <a:xfrm>
            <a:off x="13972729" y="3001863"/>
            <a:ext cx="31305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ESP32-S3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4425" y="3968651"/>
            <a:ext cx="4104382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19" name="Text 16"/>
          <p:cNvSpPr/>
          <p:nvPr/>
        </p:nvSpPr>
        <p:spPr>
          <a:xfrm>
            <a:off x="1285875" y="3506688"/>
            <a:ext cx="388461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ResNet-50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218807" y="3968651"/>
            <a:ext cx="319161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1" name="Text 18"/>
          <p:cNvSpPr/>
          <p:nvPr/>
        </p:nvSpPr>
        <p:spPr>
          <a:xfrm>
            <a:off x="5390257" y="3506688"/>
            <a:ext cx="294446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M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410426" y="3968651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3" name="Text 20"/>
          <p:cNvSpPr/>
          <p:nvPr/>
        </p:nvSpPr>
        <p:spPr>
          <a:xfrm>
            <a:off x="8581876" y="3506688"/>
            <a:ext cx="243338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&gt;100 MB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1105852" y="3968651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5" name="Text 22"/>
          <p:cNvSpPr/>
          <p:nvPr/>
        </p:nvSpPr>
        <p:spPr>
          <a:xfrm>
            <a:off x="11277302" y="3506688"/>
            <a:ext cx="243338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&gt;25 MB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3801279" y="3968651"/>
            <a:ext cx="337229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7" name="Text 24"/>
          <p:cNvSpPr/>
          <p:nvPr/>
        </p:nvSpPr>
        <p:spPr>
          <a:xfrm>
            <a:off x="13972729" y="3506688"/>
            <a:ext cx="313056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5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 Não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114425" y="4578251"/>
            <a:ext cx="4104382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9" name="Text 26"/>
          <p:cNvSpPr/>
          <p:nvPr/>
        </p:nvSpPr>
        <p:spPr>
          <a:xfrm>
            <a:off x="1285875" y="4121051"/>
            <a:ext cx="38846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EfficientNet-B0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5218807" y="4578251"/>
            <a:ext cx="319161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1" name="Text 28"/>
          <p:cNvSpPr/>
          <p:nvPr/>
        </p:nvSpPr>
        <p:spPr>
          <a:xfrm>
            <a:off x="5390257" y="4121051"/>
            <a:ext cx="29444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5,3 M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8410426" y="4578251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3" name="Text 30"/>
          <p:cNvSpPr/>
          <p:nvPr/>
        </p:nvSpPr>
        <p:spPr>
          <a:xfrm>
            <a:off x="8581876" y="4121051"/>
            <a:ext cx="24333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~20 MB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1105852" y="4578251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5" name="Text 32"/>
          <p:cNvSpPr/>
          <p:nvPr/>
        </p:nvSpPr>
        <p:spPr>
          <a:xfrm>
            <a:off x="11277302" y="4121051"/>
            <a:ext cx="24333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 MB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3801279" y="4578251"/>
            <a:ext cx="337229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7" name="Text 34"/>
          <p:cNvSpPr/>
          <p:nvPr/>
        </p:nvSpPr>
        <p:spPr>
          <a:xfrm>
            <a:off x="13972729" y="4121051"/>
            <a:ext cx="31305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5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 Não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114425" y="5187851"/>
            <a:ext cx="4104382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9" name="Text 36"/>
          <p:cNvSpPr/>
          <p:nvPr/>
        </p:nvSpPr>
        <p:spPr>
          <a:xfrm>
            <a:off x="1285875" y="4730651"/>
            <a:ext cx="38846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YOLO (mínimo)*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5218807" y="5187851"/>
            <a:ext cx="319161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1" name="Text 38"/>
          <p:cNvSpPr/>
          <p:nvPr/>
        </p:nvSpPr>
        <p:spPr>
          <a:xfrm>
            <a:off x="5390257" y="4730651"/>
            <a:ext cx="29444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~6 M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410426" y="5187851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3" name="Text 40"/>
          <p:cNvSpPr/>
          <p:nvPr/>
        </p:nvSpPr>
        <p:spPr>
          <a:xfrm>
            <a:off x="8581876" y="4730651"/>
            <a:ext cx="24333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&gt;10 MB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1105852" y="5187851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5" name="Text 42"/>
          <p:cNvSpPr/>
          <p:nvPr/>
        </p:nvSpPr>
        <p:spPr>
          <a:xfrm>
            <a:off x="11277302" y="4730651"/>
            <a:ext cx="24333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&gt;6 MB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13801279" y="5187851"/>
            <a:ext cx="337229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7" name="Text 44"/>
          <p:cNvSpPr/>
          <p:nvPr/>
        </p:nvSpPr>
        <p:spPr>
          <a:xfrm>
            <a:off x="13972729" y="4730651"/>
            <a:ext cx="31305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5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 Detector*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1114425" y="5787926"/>
            <a:ext cx="4104382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9" name="Text 46"/>
          <p:cNvSpPr/>
          <p:nvPr/>
        </p:nvSpPr>
        <p:spPr>
          <a:xfrm>
            <a:off x="1285875" y="5340251"/>
            <a:ext cx="38846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MobileNetV1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5218807" y="5787926"/>
            <a:ext cx="319161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1" name="Text 48"/>
          <p:cNvSpPr/>
          <p:nvPr/>
        </p:nvSpPr>
        <p:spPr>
          <a:xfrm>
            <a:off x="5390257" y="5340251"/>
            <a:ext cx="2944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4,2 M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8410426" y="5787926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3" name="Text 50"/>
          <p:cNvSpPr/>
          <p:nvPr/>
        </p:nvSpPr>
        <p:spPr>
          <a:xfrm>
            <a:off x="8581876" y="5340251"/>
            <a:ext cx="24333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~3 MB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11105852" y="5787926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5" name="Text 52"/>
          <p:cNvSpPr/>
          <p:nvPr/>
        </p:nvSpPr>
        <p:spPr>
          <a:xfrm>
            <a:off x="11277302" y="5340251"/>
            <a:ext cx="24333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~1,1 MB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13801279" y="5787926"/>
            <a:ext cx="337229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7" name="Text 54"/>
          <p:cNvSpPr/>
          <p:nvPr/>
        </p:nvSpPr>
        <p:spPr>
          <a:xfrm>
            <a:off x="13972729" y="5340251"/>
            <a:ext cx="31305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893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△ v1 inferior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1114425" y="5797451"/>
            <a:ext cx="4104382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1114425" y="6397526"/>
            <a:ext cx="4104382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0" name="Text 57"/>
          <p:cNvSpPr/>
          <p:nvPr/>
        </p:nvSpPr>
        <p:spPr>
          <a:xfrm>
            <a:off x="1285875" y="5940326"/>
            <a:ext cx="38846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MobileNetV2 ★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5218807" y="5797451"/>
            <a:ext cx="3191619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5218807" y="6397526"/>
            <a:ext cx="319161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3" name="Text 60"/>
          <p:cNvSpPr/>
          <p:nvPr/>
        </p:nvSpPr>
        <p:spPr>
          <a:xfrm>
            <a:off x="5390257" y="5940326"/>
            <a:ext cx="29444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3,4 M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8410426" y="5797451"/>
            <a:ext cx="2695426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8410426" y="6397526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6" name="Text 63"/>
          <p:cNvSpPr/>
          <p:nvPr/>
        </p:nvSpPr>
        <p:spPr>
          <a:xfrm>
            <a:off x="8581876" y="5940326"/>
            <a:ext cx="24333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&lt;4 MB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11105852" y="5797451"/>
            <a:ext cx="2695426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11105852" y="6397526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9" name="Text 66"/>
          <p:cNvSpPr/>
          <p:nvPr/>
        </p:nvSpPr>
        <p:spPr>
          <a:xfrm>
            <a:off x="11277302" y="5940326"/>
            <a:ext cx="24333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638 KB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13801279" y="5797451"/>
            <a:ext cx="3372296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13801279" y="6397526"/>
            <a:ext cx="337229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72" name="Text 69"/>
          <p:cNvSpPr/>
          <p:nvPr/>
        </p:nvSpPr>
        <p:spPr>
          <a:xfrm>
            <a:off x="13972729" y="5940326"/>
            <a:ext cx="31305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Escolhido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762000" y="7033766"/>
            <a:ext cx="1377429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Depthwise separable convolutions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8–9× menos FLOPs · Alpha 0,35 · entrada 96×96×3 · Arena ESP32-S3: 200 KB / 512 KB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(39%)</a:t>
            </a:r>
            <a:endParaRPr lang="en-US" sz="1800" dirty="0"/>
          </a:p>
        </p:txBody>
      </p:sp>
      <p:sp>
        <p:nvSpPr>
          <p:cNvPr id="74" name="Text 71"/>
          <p:cNvSpPr/>
          <p:nvPr/>
        </p:nvSpPr>
        <p:spPr>
          <a:xfrm>
            <a:off x="14611350" y="6883190"/>
            <a:ext cx="300209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*YOLO é detector de objetos (bounding box) — incompatível com classificação de folha única.</a:t>
            </a:r>
            <a:endParaRPr lang="en-US" sz="1275" dirty="0"/>
          </a:p>
        </p:txBody>
      </p:sp>
      <p:sp>
        <p:nvSpPr>
          <p:cNvPr id="75" name="Shape 72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76" name="Text 73"/>
          <p:cNvSpPr/>
          <p:nvPr/>
        </p:nvSpPr>
        <p:spPr>
          <a:xfrm>
            <a:off x="762000" y="9582150"/>
            <a:ext cx="24812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ARQUITETURAS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14706600" y="9582150"/>
            <a:ext cx="31013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MOBILENETV2 · INT8 638 KB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TREINAMENTO E QUANTIZAÇÃO · DO FLOAT AO INT8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866900"/>
            <a:ext cx="7091139" cy="513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spc="-7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preço de </a:t>
            </a:r>
            <a:pPr algn="l" indent="0" marL="0">
              <a:lnSpc>
                <a:spcPct val="104000"/>
              </a:lnSpc>
              <a:buNone/>
            </a:pPr>
            <a:r>
              <a:rPr lang="en-US" sz="3600" i="1" spc="-7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caber no chip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62000" y="2570857"/>
            <a:ext cx="9001571" cy="5829300"/>
          </a:xfrm>
          <a:prstGeom prst="roundRect">
            <a:avLst>
              <a:gd name="adj" fmla="val 2614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9175" y="2770882"/>
            <a:ext cx="87418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Ceres </a:t>
            </a:r>
            <a:pPr algn="l" indent="0" marL="0">
              <a:buNone/>
            </a:pPr>
            <a:r>
              <a:rPr lang="en-US" sz="1500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MobileNetV2 96×96 INT8 — curvas de treinamento </a:t>
            </a:r>
            <a:pPr algn="l" indent="0" marL="0">
              <a:buNone/>
            </a:pPr>
            <a:r>
              <a:rPr lang="en-US" sz="1500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(Exp B)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9175" y="3066157"/>
            <a:ext cx="8487221" cy="49434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19175" y="8066782"/>
            <a:ext cx="9639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treino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154585" y="8066782"/>
            <a:ext cx="12382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validação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854428" y="8066782"/>
            <a:ext cx="29171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 set: </a:t>
            </a:r>
            <a:pPr algn="l" indent="0" marL="0">
              <a:buNone/>
            </a:pPr>
            <a:r>
              <a:rPr lang="en-US" sz="1200" b="1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98,13% </a:t>
            </a:r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2.734 imgs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0144571" y="2570857"/>
            <a:ext cx="7381429" cy="1816001"/>
          </a:xfrm>
          <a:prstGeom prst="roundRect">
            <a:avLst>
              <a:gd name="adj" fmla="val 7343"/>
            </a:avLst>
          </a:prstGeom>
          <a:solidFill>
            <a:srgbClr val="FAF5EC"/>
          </a:solidFill>
          <a:ln/>
        </p:spPr>
      </p:sp>
      <p:sp>
        <p:nvSpPr>
          <p:cNvPr id="14" name="Shape 10"/>
          <p:cNvSpPr/>
          <p:nvPr/>
        </p:nvSpPr>
        <p:spPr>
          <a:xfrm>
            <a:off x="10144571" y="4377333"/>
            <a:ext cx="738142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5" name="Shape 11"/>
          <p:cNvSpPr/>
          <p:nvPr/>
        </p:nvSpPr>
        <p:spPr>
          <a:xfrm>
            <a:off x="10144571" y="2570857"/>
            <a:ext cx="738142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6" name="Shape 12"/>
          <p:cNvSpPr/>
          <p:nvPr/>
        </p:nvSpPr>
        <p:spPr>
          <a:xfrm>
            <a:off x="10144571" y="2570857"/>
            <a:ext cx="47625" cy="1816001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17" name="Shape 13"/>
          <p:cNvSpPr/>
          <p:nvPr/>
        </p:nvSpPr>
        <p:spPr>
          <a:xfrm>
            <a:off x="17516475" y="2570857"/>
            <a:ext cx="9525" cy="1816001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8" name="Text 14"/>
          <p:cNvSpPr/>
          <p:nvPr/>
        </p:nvSpPr>
        <p:spPr>
          <a:xfrm>
            <a:off x="10516046" y="3170188"/>
            <a:ext cx="220027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spc="-162" kern="0" dirty="0">
                <a:solidFill>
                  <a:srgbClr val="A8453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62,0</a:t>
            </a:r>
            <a:pPr algn="l" indent="0" marL="0">
              <a:lnSpc>
                <a:spcPct val="90000"/>
              </a:lnSpc>
              <a:buNone/>
            </a:pPr>
            <a:r>
              <a:rPr lang="en-US" sz="2250" spc="-162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5400" dirty="0"/>
          </a:p>
        </p:txBody>
      </p:sp>
      <p:sp>
        <p:nvSpPr>
          <p:cNvPr id="19" name="Text 15"/>
          <p:cNvSpPr/>
          <p:nvPr/>
        </p:nvSpPr>
        <p:spPr>
          <a:xfrm>
            <a:off x="12782996" y="3178820"/>
            <a:ext cx="30297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INT8 sem calibração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12782996" y="3569345"/>
            <a:ext cx="302979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Impulse · 1ª tentativa</a:t>
            </a:r>
            <a:endParaRPr lang="en-US" sz="1275" dirty="0"/>
          </a:p>
        </p:txBody>
      </p:sp>
      <p:sp>
        <p:nvSpPr>
          <p:cNvPr id="21" name="Shape 17"/>
          <p:cNvSpPr/>
          <p:nvPr/>
        </p:nvSpPr>
        <p:spPr>
          <a:xfrm>
            <a:off x="10144571" y="4577358"/>
            <a:ext cx="7381429" cy="1816150"/>
          </a:xfrm>
          <a:prstGeom prst="roundRect">
            <a:avLst>
              <a:gd name="adj" fmla="val 7342"/>
            </a:avLst>
          </a:prstGeom>
          <a:solidFill>
            <a:srgbClr val="FAF5EC"/>
          </a:solidFill>
          <a:ln/>
        </p:spPr>
      </p:sp>
      <p:sp>
        <p:nvSpPr>
          <p:cNvPr id="22" name="Shape 18"/>
          <p:cNvSpPr/>
          <p:nvPr/>
        </p:nvSpPr>
        <p:spPr>
          <a:xfrm>
            <a:off x="10144571" y="6383982"/>
            <a:ext cx="738142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3" name="Shape 19"/>
          <p:cNvSpPr/>
          <p:nvPr/>
        </p:nvSpPr>
        <p:spPr>
          <a:xfrm>
            <a:off x="10144571" y="4577358"/>
            <a:ext cx="738142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4" name="Shape 20"/>
          <p:cNvSpPr/>
          <p:nvPr/>
        </p:nvSpPr>
        <p:spPr>
          <a:xfrm>
            <a:off x="10144571" y="4577358"/>
            <a:ext cx="47625" cy="1816150"/>
          </a:xfrm>
          <a:prstGeom prst="rect">
            <a:avLst/>
          </a:prstGeom>
          <a:solidFill>
            <a:srgbClr val="807973"/>
          </a:solidFill>
          <a:ln/>
        </p:spPr>
      </p:sp>
      <p:sp>
        <p:nvSpPr>
          <p:cNvPr id="25" name="Shape 21"/>
          <p:cNvSpPr/>
          <p:nvPr/>
        </p:nvSpPr>
        <p:spPr>
          <a:xfrm>
            <a:off x="17516475" y="4577358"/>
            <a:ext cx="9525" cy="18161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6" name="Text 22"/>
          <p:cNvSpPr/>
          <p:nvPr/>
        </p:nvSpPr>
        <p:spPr>
          <a:xfrm>
            <a:off x="10516046" y="5176838"/>
            <a:ext cx="220027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spc="-16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98,13</a:t>
            </a:r>
            <a:pPr algn="l" indent="0" marL="0">
              <a:lnSpc>
                <a:spcPct val="90000"/>
              </a:lnSpc>
              <a:buNone/>
            </a:pPr>
            <a:r>
              <a:rPr lang="en-US" sz="2250" spc="-162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5400" dirty="0"/>
          </a:p>
        </p:txBody>
      </p:sp>
      <p:sp>
        <p:nvSpPr>
          <p:cNvPr id="27" name="Text 23"/>
          <p:cNvSpPr/>
          <p:nvPr/>
        </p:nvSpPr>
        <p:spPr>
          <a:xfrm>
            <a:off x="12782996" y="5185321"/>
            <a:ext cx="26932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float </a:t>
            </a:r>
            <a:pPr algn="l" indent="0" marL="0">
              <a:buNone/>
            </a:pPr>
            <a:r>
              <a:rPr lang="en-US" sz="1875" b="1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(teto)</a:t>
            </a:r>
            <a:endParaRPr lang="en-US" sz="1875" dirty="0"/>
          </a:p>
        </p:txBody>
      </p:sp>
      <p:sp>
        <p:nvSpPr>
          <p:cNvPr id="28" name="Text 24"/>
          <p:cNvSpPr/>
          <p:nvPr/>
        </p:nvSpPr>
        <p:spPr>
          <a:xfrm>
            <a:off x="12782996" y="5575846"/>
            <a:ext cx="269320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TensorFlow local · só PC</a:t>
            </a:r>
            <a:endParaRPr lang="en-US" sz="1275" dirty="0"/>
          </a:p>
        </p:txBody>
      </p:sp>
      <p:sp>
        <p:nvSpPr>
          <p:cNvPr id="29" name="Shape 25"/>
          <p:cNvSpPr/>
          <p:nvPr/>
        </p:nvSpPr>
        <p:spPr>
          <a:xfrm>
            <a:off x="10144571" y="6584007"/>
            <a:ext cx="7381429" cy="1816150"/>
          </a:xfrm>
          <a:prstGeom prst="roundRect">
            <a:avLst>
              <a:gd name="adj" fmla="val 7342"/>
            </a:avLst>
          </a:prstGeom>
          <a:solidFill>
            <a:srgbClr val="5E884F">
              <a:alpha val="8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10144571" y="8390632"/>
            <a:ext cx="738142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1" name="Shape 27"/>
          <p:cNvSpPr/>
          <p:nvPr/>
        </p:nvSpPr>
        <p:spPr>
          <a:xfrm>
            <a:off x="10144571" y="6584007"/>
            <a:ext cx="738142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2" name="Shape 28"/>
          <p:cNvSpPr/>
          <p:nvPr/>
        </p:nvSpPr>
        <p:spPr>
          <a:xfrm>
            <a:off x="10144571" y="6584007"/>
            <a:ext cx="47625" cy="1816150"/>
          </a:xfrm>
          <a:prstGeom prst="rect">
            <a:avLst/>
          </a:prstGeom>
          <a:solidFill>
            <a:srgbClr val="5E884F"/>
          </a:solidFill>
          <a:ln/>
        </p:spPr>
      </p:sp>
      <p:sp>
        <p:nvSpPr>
          <p:cNvPr id="33" name="Shape 29"/>
          <p:cNvSpPr/>
          <p:nvPr/>
        </p:nvSpPr>
        <p:spPr>
          <a:xfrm>
            <a:off x="17516475" y="6584007"/>
            <a:ext cx="9525" cy="18161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4" name="Text 30"/>
          <p:cNvSpPr/>
          <p:nvPr/>
        </p:nvSpPr>
        <p:spPr>
          <a:xfrm>
            <a:off x="10516046" y="7183487"/>
            <a:ext cx="220027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spc="-162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95,76</a:t>
            </a:r>
            <a:pPr algn="l" indent="0" marL="0">
              <a:lnSpc>
                <a:spcPct val="90000"/>
              </a:lnSpc>
              <a:buNone/>
            </a:pPr>
            <a:r>
              <a:rPr lang="en-US" sz="2250" spc="-162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5400" dirty="0"/>
          </a:p>
        </p:txBody>
      </p:sp>
      <p:sp>
        <p:nvSpPr>
          <p:cNvPr id="35" name="Text 31"/>
          <p:cNvSpPr/>
          <p:nvPr/>
        </p:nvSpPr>
        <p:spPr>
          <a:xfrm>
            <a:off x="12782996" y="7191970"/>
            <a:ext cx="34786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INT8 embarcado</a:t>
            </a:r>
            <a:endParaRPr lang="en-US" sz="1875" dirty="0"/>
          </a:p>
        </p:txBody>
      </p:sp>
      <p:sp>
        <p:nvSpPr>
          <p:cNvPr id="36" name="Text 32"/>
          <p:cNvSpPr/>
          <p:nvPr/>
        </p:nvSpPr>
        <p:spPr>
          <a:xfrm>
            <a:off x="12782996" y="7582495"/>
            <a:ext cx="34786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TF + calibração · vai pro ESP32</a:t>
            </a:r>
            <a:endParaRPr lang="en-US" sz="1275" dirty="0"/>
          </a:p>
        </p:txBody>
      </p:sp>
      <p:sp>
        <p:nvSpPr>
          <p:cNvPr id="37" name="Shape 33"/>
          <p:cNvSpPr/>
          <p:nvPr/>
        </p:nvSpPr>
        <p:spPr>
          <a:xfrm>
            <a:off x="762000" y="8633400"/>
            <a:ext cx="16764000" cy="771525"/>
          </a:xfrm>
          <a:prstGeom prst="roundRect">
            <a:avLst>
              <a:gd name="adj" fmla="val 17284"/>
            </a:avLst>
          </a:prstGeom>
          <a:solidFill>
            <a:srgbClr val="142A17"/>
          </a:solidFill>
          <a:ln w="9525">
            <a:solidFill>
              <a:srgbClr val="142A1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133475" y="8852475"/>
            <a:ext cx="176231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Calibração: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perda de quantização caiu de </a:t>
            </a:r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30,5 → 2,37 pp.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embarcado entrega </a:t>
            </a:r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95,76%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— não os 98,13% do float que só roda no PC.</a:t>
            </a:r>
            <a:endParaRPr lang="en-US" sz="1875" dirty="0"/>
          </a:p>
        </p:txBody>
      </p:sp>
      <p:sp>
        <p:nvSpPr>
          <p:cNvPr id="39" name="Shape 35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40" name="Text 36"/>
          <p:cNvSpPr/>
          <p:nvPr/>
        </p:nvSpPr>
        <p:spPr>
          <a:xfrm>
            <a:off x="762000" y="9582150"/>
            <a:ext cx="2357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QUANTIZAÇÃO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15390763" y="9582150"/>
            <a:ext cx="23487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−30,5 PP → −2,37 PP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88534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MATRIZ DE CONFUSÃO · INT8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681972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spc="-86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95,76% </a:t>
            </a:r>
            <a:pPr algn="l" indent="0" marL="0">
              <a:lnSpc>
                <a:spcPct val="104000"/>
              </a:lnSpc>
              <a:buNone/>
            </a:pPr>
            <a:r>
              <a:rPr lang="en-US" sz="3900" i="1" spc="-86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em laboratório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762000" y="2553444"/>
            <a:ext cx="88534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 set: 2.618 / 2.734 corretas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2000" y="3096755"/>
            <a:ext cx="8048625" cy="4953000"/>
          </a:xfrm>
          <a:prstGeom prst="roundRect">
            <a:avLst>
              <a:gd name="adj" fmla="val 2308"/>
            </a:avLst>
          </a:prstGeom>
          <a:solidFill>
            <a:srgbClr val="E9E2D9"/>
          </a:solidFill>
          <a:ln w="9525">
            <a:solidFill>
              <a:srgbClr val="CAC3BA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9477375" y="3153160"/>
            <a:ext cx="8048625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477375" y="2248285"/>
            <a:ext cx="30868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CLASSES QUASE PERFEITAS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12607677" y="2191135"/>
            <a:ext cx="8905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≥ 99%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9477375" y="2629285"/>
            <a:ext cx="88534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Mancha bacteriana · vira-cabeça · saudável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9477375" y="4260939"/>
            <a:ext cx="8048625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477375" y="3384639"/>
            <a:ext cx="25519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CLASSE MAIS DIFÍCIL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2086481" y="3356064"/>
            <a:ext cx="6427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8453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83%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9477375" y="3737064"/>
            <a:ext cx="88534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Pinta-preta — confundida com septoriose, requeima e mancha bacteriana.</a:t>
            </a:r>
            <a:endParaRPr lang="en-US" sz="1875" dirty="0"/>
          </a:p>
        </p:txBody>
      </p:sp>
      <p:sp>
        <p:nvSpPr>
          <p:cNvPr id="18" name="Shape 15"/>
          <p:cNvSpPr/>
          <p:nvPr/>
        </p:nvSpPr>
        <p:spPr>
          <a:xfrm>
            <a:off x="9477375" y="5648368"/>
            <a:ext cx="8048625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477375" y="4467268"/>
            <a:ext cx="88534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C893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PADRÃO</a:t>
            </a:r>
            <a:endParaRPr lang="en-US" sz="1425" dirty="0"/>
          </a:p>
        </p:txBody>
      </p:sp>
      <p:sp>
        <p:nvSpPr>
          <p:cNvPr id="20" name="Text 17"/>
          <p:cNvSpPr/>
          <p:nvPr/>
        </p:nvSpPr>
        <p:spPr>
          <a:xfrm>
            <a:off x="9477375" y="4791118"/>
            <a:ext cx="829008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Doenças com lesões necróticas (manchas escuras) tendem a se confundir entre si.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9477375" y="5943643"/>
            <a:ext cx="8048625" cy="876300"/>
          </a:xfrm>
          <a:prstGeom prst="roundRect">
            <a:avLst>
              <a:gd name="adj" fmla="val 15217"/>
            </a:avLst>
          </a:prstGeom>
          <a:solidFill>
            <a:srgbClr val="142A17"/>
          </a:solidFill>
          <a:ln w="9525">
            <a:solidFill>
              <a:srgbClr val="142A17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848850" y="6238918"/>
            <a:ext cx="80362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Resultado em laboratório: muito bom. Mas e em </a:t>
            </a:r>
            <a:pPr algn="l" indent="0" marL="0">
              <a:buNone/>
            </a:pPr>
            <a:r>
              <a:rPr lang="en-US" sz="2250" i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campo real?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2000" y="9582150"/>
            <a:ext cx="32254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MATRIZ DE CONFUSÃO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4368165" y="9582150"/>
            <a:ext cx="34736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PINTA-PRETA = CLASSE DIFÍCIL</a:t>
            </a:r>
            <a:endParaRPr lang="en-US" sz="1200" dirty="0"/>
          </a:p>
        </p:txBody>
      </p:sp>
      <p:pic>
        <p:nvPicPr>
          <p:cNvPr id="26" name="Picture 25" descr="matriz_confusao_int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96" y="3106280"/>
            <a:ext cx="8271034" cy="4972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23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SURPRESA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762000" y="1905000"/>
            <a:ext cx="8568467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spc="-96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gap </a:t>
            </a:r>
            <a:pPr algn="l" indent="0" marL="0">
              <a:lnSpc>
                <a:spcPct val="104000"/>
              </a:lnSpc>
              <a:buNone/>
            </a:pPr>
            <a:r>
              <a:rPr lang="en-US" sz="4350" i="1" spc="-96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laboratório–campo</a:t>
            </a:r>
            <a:endParaRPr lang="en-US" sz="4350" dirty="0"/>
          </a:p>
        </p:txBody>
      </p:sp>
      <p:sp>
        <p:nvSpPr>
          <p:cNvPr id="8" name="Text 4"/>
          <p:cNvSpPr/>
          <p:nvPr/>
        </p:nvSpPr>
        <p:spPr>
          <a:xfrm>
            <a:off x="575719" y="3050977"/>
            <a:ext cx="409817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250" spc="-337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95,76</a:t>
            </a:r>
            <a:pPr algn="ctr" indent="0" marL="0">
              <a:lnSpc>
                <a:spcPct val="90000"/>
              </a:lnSpc>
              <a:buNone/>
            </a:pPr>
            <a:r>
              <a:rPr lang="en-US" sz="3600" spc="-337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11250" dirty="0"/>
          </a:p>
        </p:txBody>
      </p:sp>
      <p:sp>
        <p:nvSpPr>
          <p:cNvPr id="9" name="Text 5"/>
          <p:cNvSpPr/>
          <p:nvPr/>
        </p:nvSpPr>
        <p:spPr>
          <a:xfrm>
            <a:off x="575719" y="4413052"/>
            <a:ext cx="40981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spc="240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PLANTVILLAGE · LAB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001964" y="3484754"/>
            <a:ext cx="390525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4500" dirty="0"/>
          </a:p>
        </p:txBody>
      </p:sp>
      <p:sp>
        <p:nvSpPr>
          <p:cNvPr id="11" name="Text 7"/>
          <p:cNvSpPr/>
          <p:nvPr/>
        </p:nvSpPr>
        <p:spPr>
          <a:xfrm>
            <a:off x="5644359" y="3051367"/>
            <a:ext cx="409817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250" spc="-337" kern="0" dirty="0">
                <a:solidFill>
                  <a:srgbClr val="A8453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20,77</a:t>
            </a:r>
            <a:pPr algn="ctr" indent="0" marL="0">
              <a:lnSpc>
                <a:spcPct val="90000"/>
              </a:lnSpc>
              <a:buNone/>
            </a:pPr>
            <a:r>
              <a:rPr lang="en-US" sz="3600" spc="-337" kern="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11250" dirty="0"/>
          </a:p>
        </p:txBody>
      </p:sp>
      <p:sp>
        <p:nvSpPr>
          <p:cNvPr id="12" name="Text 8"/>
          <p:cNvSpPr/>
          <p:nvPr/>
        </p:nvSpPr>
        <p:spPr>
          <a:xfrm>
            <a:off x="5644359" y="4413442"/>
            <a:ext cx="40981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spc="240" kern="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PLANTDOC · CAMPO REAL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10356354" y="3191476"/>
            <a:ext cx="9525" cy="1344811"/>
          </a:xfrm>
          <a:prstGeom prst="rect">
            <a:avLst/>
          </a:prstGeom>
          <a:solidFill>
            <a:srgbClr val="ABBEA2">
              <a:alpha val="3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10842129" y="3191476"/>
            <a:ext cx="273364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spc="-19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−75</a:t>
            </a:r>
            <a:pPr algn="l" indent="0" marL="0">
              <a:lnSpc>
                <a:spcPct val="90000"/>
              </a:lnSpc>
              <a:buNone/>
            </a:pPr>
            <a:r>
              <a:rPr lang="en-US" sz="2550" spc="-19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pp</a:t>
            </a:r>
            <a:endParaRPr lang="en-US" sz="6600" dirty="0"/>
          </a:p>
        </p:txBody>
      </p:sp>
      <p:sp>
        <p:nvSpPr>
          <p:cNvPr id="15" name="Text 11"/>
          <p:cNvSpPr/>
          <p:nvPr/>
        </p:nvSpPr>
        <p:spPr>
          <a:xfrm>
            <a:off x="10842129" y="4040987"/>
            <a:ext cx="256133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em uma única transição de domínio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762000" y="5283107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NÃO ESTAMOS SOZINHOS · A LITERATURA JÁ DESCREVIA</a:t>
            </a:r>
            <a:endParaRPr lang="en-US" sz="1575" dirty="0"/>
          </a:p>
        </p:txBody>
      </p:sp>
      <p:sp>
        <p:nvSpPr>
          <p:cNvPr id="17" name="Shape 13"/>
          <p:cNvSpPr/>
          <p:nvPr/>
        </p:nvSpPr>
        <p:spPr>
          <a:xfrm>
            <a:off x="762000" y="5778407"/>
            <a:ext cx="5372100" cy="1581150"/>
          </a:xfrm>
          <a:prstGeom prst="roundRect">
            <a:avLst>
              <a:gd name="adj" fmla="val 722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57275" y="6035582"/>
            <a:ext cx="52597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spc="-69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99,35%</a:t>
            </a:r>
            <a:endParaRPr lang="en-US" sz="3450" dirty="0"/>
          </a:p>
        </p:txBody>
      </p:sp>
      <p:sp>
        <p:nvSpPr>
          <p:cNvPr id="19" name="Text 15"/>
          <p:cNvSpPr/>
          <p:nvPr/>
        </p:nvSpPr>
        <p:spPr>
          <a:xfrm>
            <a:off x="1057275" y="6568982"/>
            <a:ext cx="52597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Mohanty (2016)</a:t>
            </a:r>
            <a:endParaRPr lang="en-US" sz="1725" dirty="0"/>
          </a:p>
        </p:txBody>
      </p:sp>
      <p:sp>
        <p:nvSpPr>
          <p:cNvPr id="20" name="Text 16"/>
          <p:cNvSpPr/>
          <p:nvPr/>
        </p:nvSpPr>
        <p:spPr>
          <a:xfrm>
            <a:off x="1057275" y="6892832"/>
            <a:ext cx="525970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PlantVillage — lab</a:t>
            </a:r>
            <a:endParaRPr lang="en-US" sz="1275" dirty="0"/>
          </a:p>
        </p:txBody>
      </p:sp>
      <p:sp>
        <p:nvSpPr>
          <p:cNvPr id="21" name="Shape 17"/>
          <p:cNvSpPr/>
          <p:nvPr/>
        </p:nvSpPr>
        <p:spPr>
          <a:xfrm>
            <a:off x="6457950" y="5778407"/>
            <a:ext cx="5372100" cy="1581150"/>
          </a:xfrm>
          <a:prstGeom prst="roundRect">
            <a:avLst>
              <a:gd name="adj" fmla="val 722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53225" y="6035582"/>
            <a:ext cx="52597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spc="-69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~31%</a:t>
            </a:r>
            <a:endParaRPr lang="en-US" sz="3450" dirty="0"/>
          </a:p>
        </p:txBody>
      </p:sp>
      <p:sp>
        <p:nvSpPr>
          <p:cNvPr id="23" name="Text 19"/>
          <p:cNvSpPr/>
          <p:nvPr/>
        </p:nvSpPr>
        <p:spPr>
          <a:xfrm>
            <a:off x="6753225" y="6568982"/>
            <a:ext cx="52597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Singh (2020)</a:t>
            </a:r>
            <a:endParaRPr lang="en-US" sz="1725" dirty="0"/>
          </a:p>
        </p:txBody>
      </p:sp>
      <p:sp>
        <p:nvSpPr>
          <p:cNvPr id="24" name="Text 20"/>
          <p:cNvSpPr/>
          <p:nvPr/>
        </p:nvSpPr>
        <p:spPr>
          <a:xfrm>
            <a:off x="6753225" y="6892832"/>
            <a:ext cx="525970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PlantDoc — sem adaptação</a:t>
            </a:r>
            <a:endParaRPr lang="en-US" sz="1275" dirty="0"/>
          </a:p>
        </p:txBody>
      </p:sp>
      <p:sp>
        <p:nvSpPr>
          <p:cNvPr id="25" name="Shape 21"/>
          <p:cNvSpPr/>
          <p:nvPr/>
        </p:nvSpPr>
        <p:spPr>
          <a:xfrm>
            <a:off x="12153900" y="5778407"/>
            <a:ext cx="5372100" cy="1581150"/>
          </a:xfrm>
          <a:prstGeom prst="roundRect">
            <a:avLst>
              <a:gd name="adj" fmla="val 722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2449175" y="6035582"/>
            <a:ext cx="52597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spc="-69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−29 a −58 pp</a:t>
            </a:r>
            <a:endParaRPr lang="en-US" sz="3450" dirty="0"/>
          </a:p>
        </p:txBody>
      </p:sp>
      <p:sp>
        <p:nvSpPr>
          <p:cNvPr id="27" name="Text 23"/>
          <p:cNvSpPr/>
          <p:nvPr/>
        </p:nvSpPr>
        <p:spPr>
          <a:xfrm>
            <a:off x="12449175" y="6568982"/>
            <a:ext cx="52597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Xu (2024)</a:t>
            </a:r>
            <a:endParaRPr lang="en-US" sz="1725" dirty="0"/>
          </a:p>
        </p:txBody>
      </p:sp>
      <p:sp>
        <p:nvSpPr>
          <p:cNvPr id="28" name="Text 24"/>
          <p:cNvSpPr/>
          <p:nvPr/>
        </p:nvSpPr>
        <p:spPr>
          <a:xfrm>
            <a:off x="12449175" y="6892832"/>
            <a:ext cx="525970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revisão de 42 trabalhos</a:t>
            </a:r>
            <a:endParaRPr lang="en-US" sz="1275" dirty="0"/>
          </a:p>
        </p:txBody>
      </p:sp>
      <p:sp>
        <p:nvSpPr>
          <p:cNvPr id="29" name="Shape 25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ABBEA2">
              <a:alpha val="25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762000" y="9582150"/>
            <a:ext cx="26051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GAP LAB–CAMPO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4029879" y="9582150"/>
            <a:ext cx="38457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FENÔMENO ESTRUTURAL DOCUMENTADO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JORNADA PARA FECHAR O GAP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Cinco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experimentos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762000" y="2763738"/>
            <a:ext cx="16764000" cy="3743325"/>
          </a:xfrm>
          <a:prstGeom prst="roundRect">
            <a:avLst>
              <a:gd name="adj" fmla="val 3562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7275" y="3306663"/>
            <a:ext cx="1137493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" name="Text 6"/>
          <p:cNvSpPr/>
          <p:nvPr/>
        </p:nvSpPr>
        <p:spPr>
          <a:xfrm>
            <a:off x="1228725" y="2963763"/>
            <a:ext cx="8707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194768" y="3306663"/>
            <a:ext cx="6586389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" name="Text 8"/>
          <p:cNvSpPr/>
          <p:nvPr/>
        </p:nvSpPr>
        <p:spPr>
          <a:xfrm>
            <a:off x="2366218" y="2963763"/>
            <a:ext cx="64410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ESTRATÉGIA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781157" y="3306663"/>
            <a:ext cx="2511326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3" name="Text 10"/>
          <p:cNvSpPr/>
          <p:nvPr/>
        </p:nvSpPr>
        <p:spPr>
          <a:xfrm>
            <a:off x="8952607" y="2963763"/>
            <a:ext cx="224462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PLANTVILLAGE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1292483" y="3306663"/>
            <a:ext cx="2098179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5" name="Text 12"/>
          <p:cNvSpPr/>
          <p:nvPr/>
        </p:nvSpPr>
        <p:spPr>
          <a:xfrm>
            <a:off x="11463933" y="2963763"/>
            <a:ext cx="183147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PLANTDOC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3390662" y="3306663"/>
            <a:ext cx="2004268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7" name="Text 14"/>
          <p:cNvSpPr/>
          <p:nvPr/>
        </p:nvSpPr>
        <p:spPr>
          <a:xfrm>
            <a:off x="13562112" y="2963763"/>
            <a:ext cx="17375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TOMATO-V.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5394930" y="3306663"/>
            <a:ext cx="1835795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9" name="Text 16"/>
          <p:cNvSpPr/>
          <p:nvPr/>
        </p:nvSpPr>
        <p:spPr>
          <a:xfrm>
            <a:off x="15566380" y="2963763"/>
            <a:ext cx="15690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DAFFODIL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1057275" y="3921026"/>
            <a:ext cx="1137493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1" name="Text 18"/>
          <p:cNvSpPr/>
          <p:nvPr/>
        </p:nvSpPr>
        <p:spPr>
          <a:xfrm>
            <a:off x="1228725" y="3468588"/>
            <a:ext cx="87079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194768" y="3921026"/>
            <a:ext cx="658638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3" name="Text 20"/>
          <p:cNvSpPr/>
          <p:nvPr/>
        </p:nvSpPr>
        <p:spPr>
          <a:xfrm>
            <a:off x="2366218" y="3468588"/>
            <a:ext cx="644108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Edge Impulse — sem calibração INT8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8781157" y="3921026"/>
            <a:ext cx="25113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5" name="Text 22"/>
          <p:cNvSpPr/>
          <p:nvPr/>
        </p:nvSpPr>
        <p:spPr>
          <a:xfrm>
            <a:off x="8952607" y="3468588"/>
            <a:ext cx="224462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62,0%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1292483" y="3921026"/>
            <a:ext cx="209817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7" name="Text 24"/>
          <p:cNvSpPr/>
          <p:nvPr/>
        </p:nvSpPr>
        <p:spPr>
          <a:xfrm>
            <a:off x="11463933" y="3468588"/>
            <a:ext cx="183147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3390662" y="3921026"/>
            <a:ext cx="200426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9" name="Text 26"/>
          <p:cNvSpPr/>
          <p:nvPr/>
        </p:nvSpPr>
        <p:spPr>
          <a:xfrm>
            <a:off x="13562112" y="3468588"/>
            <a:ext cx="173756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5394930" y="3921026"/>
            <a:ext cx="18357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1" name="Text 28"/>
          <p:cNvSpPr/>
          <p:nvPr/>
        </p:nvSpPr>
        <p:spPr>
          <a:xfrm>
            <a:off x="15566380" y="3468588"/>
            <a:ext cx="156909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057275" y="4521101"/>
            <a:ext cx="1137493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3" name="Text 30"/>
          <p:cNvSpPr/>
          <p:nvPr/>
        </p:nvSpPr>
        <p:spPr>
          <a:xfrm>
            <a:off x="1228725" y="4073426"/>
            <a:ext cx="8707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2194768" y="4521101"/>
            <a:ext cx="658638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5" name="Text 32"/>
          <p:cNvSpPr/>
          <p:nvPr/>
        </p:nvSpPr>
        <p:spPr>
          <a:xfrm>
            <a:off x="2366218" y="4073426"/>
            <a:ext cx="64410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TF local — calibração INT8 (50 batches)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781157" y="4521101"/>
            <a:ext cx="25113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7" name="Text 34"/>
          <p:cNvSpPr/>
          <p:nvPr/>
        </p:nvSpPr>
        <p:spPr>
          <a:xfrm>
            <a:off x="8952607" y="4073426"/>
            <a:ext cx="22446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95,76%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1292483" y="4521101"/>
            <a:ext cx="209817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9" name="Text 36"/>
          <p:cNvSpPr/>
          <p:nvPr/>
        </p:nvSpPr>
        <p:spPr>
          <a:xfrm>
            <a:off x="11463933" y="4073426"/>
            <a:ext cx="18314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20,77%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13390662" y="4521101"/>
            <a:ext cx="200426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1" name="Text 38"/>
          <p:cNvSpPr/>
          <p:nvPr/>
        </p:nvSpPr>
        <p:spPr>
          <a:xfrm>
            <a:off x="13562112" y="4073426"/>
            <a:ext cx="17375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15394930" y="4521101"/>
            <a:ext cx="18357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3" name="Text 40"/>
          <p:cNvSpPr/>
          <p:nvPr/>
        </p:nvSpPr>
        <p:spPr>
          <a:xfrm>
            <a:off x="15566380" y="4073426"/>
            <a:ext cx="15690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057275" y="5130701"/>
            <a:ext cx="1137493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5" name="Text 42"/>
          <p:cNvSpPr/>
          <p:nvPr/>
        </p:nvSpPr>
        <p:spPr>
          <a:xfrm>
            <a:off x="1228725" y="4673501"/>
            <a:ext cx="8707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2194768" y="5130701"/>
            <a:ext cx="658638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7" name="Text 44"/>
          <p:cNvSpPr/>
          <p:nvPr/>
        </p:nvSpPr>
        <p:spPr>
          <a:xfrm>
            <a:off x="2366218" y="4673501"/>
            <a:ext cx="64410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 B + augmentation sintética (rembg)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8781157" y="5130701"/>
            <a:ext cx="25113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9" name="Text 46"/>
          <p:cNvSpPr/>
          <p:nvPr/>
        </p:nvSpPr>
        <p:spPr>
          <a:xfrm>
            <a:off x="8952607" y="4673501"/>
            <a:ext cx="22446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96,20%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11292483" y="5130701"/>
            <a:ext cx="209817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1" name="Text 48"/>
          <p:cNvSpPr/>
          <p:nvPr/>
        </p:nvSpPr>
        <p:spPr>
          <a:xfrm>
            <a:off x="11463933" y="4673501"/>
            <a:ext cx="18314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20,24% ✕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13390662" y="5130701"/>
            <a:ext cx="200426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3" name="Text 50"/>
          <p:cNvSpPr/>
          <p:nvPr/>
        </p:nvSpPr>
        <p:spPr>
          <a:xfrm>
            <a:off x="13562112" y="4673501"/>
            <a:ext cx="17375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15394930" y="5130701"/>
            <a:ext cx="18357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5" name="Text 52"/>
          <p:cNvSpPr/>
          <p:nvPr/>
        </p:nvSpPr>
        <p:spPr>
          <a:xfrm>
            <a:off x="15566380" y="4673501"/>
            <a:ext cx="15690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1057275" y="5740301"/>
            <a:ext cx="1137493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7" name="Text 54"/>
          <p:cNvSpPr/>
          <p:nvPr/>
        </p:nvSpPr>
        <p:spPr>
          <a:xfrm>
            <a:off x="1228725" y="5283101"/>
            <a:ext cx="8707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2194768" y="5740301"/>
            <a:ext cx="658638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9" name="Text 56"/>
          <p:cNvSpPr/>
          <p:nvPr/>
        </p:nvSpPr>
        <p:spPr>
          <a:xfrm>
            <a:off x="2366218" y="5283101"/>
            <a:ext cx="64410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 B + fine-tuning com dados reais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8781157" y="5740301"/>
            <a:ext cx="25113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1" name="Text 58"/>
          <p:cNvSpPr/>
          <p:nvPr/>
        </p:nvSpPr>
        <p:spPr>
          <a:xfrm>
            <a:off x="8952607" y="5283101"/>
            <a:ext cx="22446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97,55%</a:t>
            </a:r>
            <a:endParaRPr lang="en-US" sz="1800" dirty="0"/>
          </a:p>
        </p:txBody>
      </p:sp>
      <p:sp>
        <p:nvSpPr>
          <p:cNvPr id="62" name="Shape 59"/>
          <p:cNvSpPr/>
          <p:nvPr/>
        </p:nvSpPr>
        <p:spPr>
          <a:xfrm>
            <a:off x="11292483" y="5740301"/>
            <a:ext cx="209817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3" name="Text 60"/>
          <p:cNvSpPr/>
          <p:nvPr/>
        </p:nvSpPr>
        <p:spPr>
          <a:xfrm>
            <a:off x="11463933" y="5283101"/>
            <a:ext cx="18314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30,43% ✓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3390662" y="5740301"/>
            <a:ext cx="200426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5" name="Text 62"/>
          <p:cNvSpPr/>
          <p:nvPr/>
        </p:nvSpPr>
        <p:spPr>
          <a:xfrm>
            <a:off x="13562112" y="5283101"/>
            <a:ext cx="17375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11,52%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15394930" y="5740301"/>
            <a:ext cx="18357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7" name="Text 64"/>
          <p:cNvSpPr/>
          <p:nvPr/>
        </p:nvSpPr>
        <p:spPr>
          <a:xfrm>
            <a:off x="15566380" y="5283101"/>
            <a:ext cx="15690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68" name="Shape 65"/>
          <p:cNvSpPr/>
          <p:nvPr/>
        </p:nvSpPr>
        <p:spPr>
          <a:xfrm>
            <a:off x="1057275" y="5749826"/>
            <a:ext cx="1137493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1057275" y="6349901"/>
            <a:ext cx="1137493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70" name="Text 67"/>
          <p:cNvSpPr/>
          <p:nvPr/>
        </p:nvSpPr>
        <p:spPr>
          <a:xfrm>
            <a:off x="1228725" y="5892701"/>
            <a:ext cx="8707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 ★</a:t>
            </a:r>
            <a:endParaRPr lang="en-US" sz="1800" dirty="0"/>
          </a:p>
        </p:txBody>
      </p:sp>
      <p:sp>
        <p:nvSpPr>
          <p:cNvPr id="71" name="Shape 68"/>
          <p:cNvSpPr/>
          <p:nvPr/>
        </p:nvSpPr>
        <p:spPr>
          <a:xfrm>
            <a:off x="2194768" y="5749826"/>
            <a:ext cx="6586389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2194768" y="6349901"/>
            <a:ext cx="658638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73" name="Text 70"/>
          <p:cNvSpPr/>
          <p:nvPr/>
        </p:nvSpPr>
        <p:spPr>
          <a:xfrm>
            <a:off x="2366218" y="5892701"/>
            <a:ext cx="64410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highlight>
                  <a:srgbClr val="ECF1EA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 D + Focal Loss γ=2 ← </a:t>
            </a:r>
            <a:pPr algn="l" indent="0" marL="0">
              <a:buNone/>
            </a:pPr>
            <a:r>
              <a:rPr lang="en-US" sz="180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FINAL</a:t>
            </a:r>
            <a:endParaRPr lang="en-US" sz="1800" dirty="0"/>
          </a:p>
        </p:txBody>
      </p:sp>
      <p:sp>
        <p:nvSpPr>
          <p:cNvPr id="74" name="Shape 71"/>
          <p:cNvSpPr/>
          <p:nvPr/>
        </p:nvSpPr>
        <p:spPr>
          <a:xfrm>
            <a:off x="8781157" y="5749826"/>
            <a:ext cx="2511326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8781157" y="6349901"/>
            <a:ext cx="25113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76" name="Text 73"/>
          <p:cNvSpPr/>
          <p:nvPr/>
        </p:nvSpPr>
        <p:spPr>
          <a:xfrm>
            <a:off x="8952607" y="5892701"/>
            <a:ext cx="22446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98,43%</a:t>
            </a:r>
            <a:endParaRPr lang="en-US" sz="1800" dirty="0"/>
          </a:p>
        </p:txBody>
      </p:sp>
      <p:sp>
        <p:nvSpPr>
          <p:cNvPr id="77" name="Shape 74"/>
          <p:cNvSpPr/>
          <p:nvPr/>
        </p:nvSpPr>
        <p:spPr>
          <a:xfrm>
            <a:off x="11292483" y="5749826"/>
            <a:ext cx="2098179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11292483" y="6349901"/>
            <a:ext cx="209817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79" name="Text 76"/>
          <p:cNvSpPr/>
          <p:nvPr/>
        </p:nvSpPr>
        <p:spPr>
          <a:xfrm>
            <a:off x="11463933" y="5892701"/>
            <a:ext cx="18314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30,43% ✓</a:t>
            </a:r>
            <a:endParaRPr lang="en-US" sz="1800" dirty="0"/>
          </a:p>
        </p:txBody>
      </p:sp>
      <p:sp>
        <p:nvSpPr>
          <p:cNvPr id="80" name="Shape 77"/>
          <p:cNvSpPr/>
          <p:nvPr/>
        </p:nvSpPr>
        <p:spPr>
          <a:xfrm>
            <a:off x="13390662" y="5749826"/>
            <a:ext cx="2004268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13390662" y="6349901"/>
            <a:ext cx="200426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82" name="Text 79"/>
          <p:cNvSpPr/>
          <p:nvPr/>
        </p:nvSpPr>
        <p:spPr>
          <a:xfrm>
            <a:off x="13562112" y="5892701"/>
            <a:ext cx="17375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27,65%</a:t>
            </a:r>
            <a:endParaRPr lang="en-US" sz="1800" dirty="0"/>
          </a:p>
        </p:txBody>
      </p:sp>
      <p:sp>
        <p:nvSpPr>
          <p:cNvPr id="83" name="Shape 80"/>
          <p:cNvSpPr/>
          <p:nvPr/>
        </p:nvSpPr>
        <p:spPr>
          <a:xfrm>
            <a:off x="15394930" y="5749826"/>
            <a:ext cx="1835795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84" name="Shape 81"/>
          <p:cNvSpPr/>
          <p:nvPr/>
        </p:nvSpPr>
        <p:spPr>
          <a:xfrm>
            <a:off x="15394930" y="6349901"/>
            <a:ext cx="18357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85" name="Text 82"/>
          <p:cNvSpPr/>
          <p:nvPr/>
        </p:nvSpPr>
        <p:spPr>
          <a:xfrm>
            <a:off x="15566380" y="5892701"/>
            <a:ext cx="15690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18,13%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762000" y="6830913"/>
            <a:ext cx="4019550" cy="1243905"/>
          </a:xfrm>
          <a:prstGeom prst="roundRect">
            <a:avLst>
              <a:gd name="adj" fmla="val 7657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1019175" y="7049988"/>
            <a:ext cx="38557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spc="-60" kern="0" dirty="0">
                <a:solidFill>
                  <a:srgbClr val="A8453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−30,5 pp</a:t>
            </a:r>
            <a:endParaRPr lang="en-US" sz="3000" dirty="0"/>
          </a:p>
        </p:txBody>
      </p:sp>
      <p:sp>
        <p:nvSpPr>
          <p:cNvPr id="88" name="Text 85"/>
          <p:cNvSpPr/>
          <p:nvPr/>
        </p:nvSpPr>
        <p:spPr>
          <a:xfrm>
            <a:off x="1019175" y="7573863"/>
            <a:ext cx="14966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calibração</a:t>
            </a:r>
            <a:endParaRPr lang="en-US" sz="1650" dirty="0"/>
          </a:p>
        </p:txBody>
      </p:sp>
      <p:sp>
        <p:nvSpPr>
          <p:cNvPr id="89" name="Shape 86"/>
          <p:cNvSpPr/>
          <p:nvPr/>
        </p:nvSpPr>
        <p:spPr>
          <a:xfrm>
            <a:off x="5010150" y="6831010"/>
            <a:ext cx="4019550" cy="1243905"/>
          </a:xfrm>
          <a:prstGeom prst="roundRect">
            <a:avLst>
              <a:gd name="adj" fmla="val 7657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5267325" y="7050085"/>
            <a:ext cx="38557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spc="-60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+34 pp</a:t>
            </a:r>
            <a:endParaRPr lang="en-US" sz="3000" dirty="0"/>
          </a:p>
        </p:txBody>
      </p:sp>
      <p:sp>
        <p:nvSpPr>
          <p:cNvPr id="91" name="Text 88"/>
          <p:cNvSpPr/>
          <p:nvPr/>
        </p:nvSpPr>
        <p:spPr>
          <a:xfrm>
            <a:off x="5267325" y="7573960"/>
            <a:ext cx="222706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calibração (Exp B)</a:t>
            </a:r>
            <a:endParaRPr lang="en-US" sz="1650" dirty="0"/>
          </a:p>
        </p:txBody>
      </p:sp>
      <p:sp>
        <p:nvSpPr>
          <p:cNvPr id="92" name="Shape 89"/>
          <p:cNvSpPr/>
          <p:nvPr/>
        </p:nvSpPr>
        <p:spPr>
          <a:xfrm>
            <a:off x="9258300" y="6833080"/>
            <a:ext cx="4019550" cy="1243905"/>
          </a:xfrm>
          <a:prstGeom prst="roundRect">
            <a:avLst>
              <a:gd name="adj" fmla="val 7657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9515475" y="7052155"/>
            <a:ext cx="38557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spc="-60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+10 pp</a:t>
            </a:r>
            <a:endParaRPr lang="en-US" sz="3000" dirty="0"/>
          </a:p>
        </p:txBody>
      </p:sp>
      <p:sp>
        <p:nvSpPr>
          <p:cNvPr id="94" name="Text 91"/>
          <p:cNvSpPr/>
          <p:nvPr/>
        </p:nvSpPr>
        <p:spPr>
          <a:xfrm>
            <a:off x="9515475" y="7576030"/>
            <a:ext cx="179263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campo (Exp D)</a:t>
            </a:r>
            <a:endParaRPr lang="en-US" sz="1650" dirty="0"/>
          </a:p>
        </p:txBody>
      </p:sp>
      <p:sp>
        <p:nvSpPr>
          <p:cNvPr id="95" name="Shape 92"/>
          <p:cNvSpPr/>
          <p:nvPr/>
        </p:nvSpPr>
        <p:spPr>
          <a:xfrm>
            <a:off x="13506450" y="6838359"/>
            <a:ext cx="4019550" cy="1243905"/>
          </a:xfrm>
          <a:prstGeom prst="roundRect">
            <a:avLst>
              <a:gd name="adj" fmla="val 7657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13763625" y="7057434"/>
            <a:ext cx="38557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spc="-60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+16 pp</a:t>
            </a:r>
            <a:endParaRPr lang="en-US" sz="3000" dirty="0"/>
          </a:p>
        </p:txBody>
      </p:sp>
      <p:sp>
        <p:nvSpPr>
          <p:cNvPr id="97" name="Text 94"/>
          <p:cNvSpPr/>
          <p:nvPr/>
        </p:nvSpPr>
        <p:spPr>
          <a:xfrm>
            <a:off x="13763625" y="7581309"/>
            <a:ext cx="176376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Focal Loss (Exp E)</a:t>
            </a:r>
            <a:endParaRPr lang="en-US" sz="1650" dirty="0"/>
          </a:p>
        </p:txBody>
      </p:sp>
      <p:sp>
        <p:nvSpPr>
          <p:cNvPr id="98" name="Shape 95"/>
          <p:cNvSpPr/>
          <p:nvPr/>
        </p:nvSpPr>
        <p:spPr>
          <a:xfrm>
            <a:off x="762000" y="9372600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9" name="Text 96"/>
          <p:cNvSpPr/>
          <p:nvPr/>
        </p:nvSpPr>
        <p:spPr>
          <a:xfrm>
            <a:off x="762000" y="9577388"/>
            <a:ext cx="24812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EXPERIMENTOS</a:t>
            </a:r>
            <a:endParaRPr lang="en-US" sz="1200" dirty="0"/>
          </a:p>
        </p:txBody>
      </p:sp>
      <p:sp>
        <p:nvSpPr>
          <p:cNvPr id="100" name="Text 97"/>
          <p:cNvSpPr/>
          <p:nvPr/>
        </p:nvSpPr>
        <p:spPr>
          <a:xfrm>
            <a:off x="15009316" y="9572625"/>
            <a:ext cx="276835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 E ★ = MODELO FINAL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EXP. C · RESULTADO NEGATIVO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469813" cy="1107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Síntese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não substitui </a:t>
            </a:r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dado de campo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762000" y="3412927"/>
            <a:ext cx="88849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QUE TENTAMOS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2000" y="5213152"/>
            <a:ext cx="80772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4089202"/>
            <a:ext cx="9830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27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HIPÓTESE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762000" y="4374952"/>
            <a:ext cx="831951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o modelo aprende o fundo cinza, trocar o fundo deveria forçá-lo a olhar a lesão.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762000" y="6518077"/>
            <a:ext cx="80772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2" name="Text 9"/>
          <p:cNvSpPr/>
          <p:nvPr/>
        </p:nvSpPr>
        <p:spPr>
          <a:xfrm>
            <a:off x="762000" y="5394127"/>
            <a:ext cx="7563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27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MÉTODO</a:t>
            </a:r>
            <a:endParaRPr lang="en-US" sz="1275" dirty="0"/>
          </a:p>
        </p:txBody>
      </p:sp>
      <p:sp>
        <p:nvSpPr>
          <p:cNvPr id="13" name="Text 10"/>
          <p:cNvSpPr/>
          <p:nvPr/>
        </p:nvSpPr>
        <p:spPr>
          <a:xfrm>
            <a:off x="762000" y="5679877"/>
            <a:ext cx="831951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rembg (U2-Net) remove o fundo de cada folha e recompõe sobre fundos naturais do PlantDoc.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762000" y="7609582"/>
            <a:ext cx="80772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5" name="Text 12"/>
          <p:cNvSpPr/>
          <p:nvPr/>
        </p:nvSpPr>
        <p:spPr>
          <a:xfrm>
            <a:off x="762000" y="6699052"/>
            <a:ext cx="7563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27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762000" y="6984802"/>
            <a:ext cx="8319516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177.698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composições sintéticas geradas.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9448800" y="3413313"/>
            <a:ext cx="88849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QUE ACONTECEU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448800" y="3918138"/>
            <a:ext cx="8077200" cy="1409700"/>
          </a:xfrm>
          <a:prstGeom prst="roundRect">
            <a:avLst>
              <a:gd name="adj" fmla="val 9459"/>
            </a:avLst>
          </a:prstGeom>
          <a:solidFill>
            <a:srgbClr val="FAF5EC"/>
          </a:solidFill>
          <a:ln/>
        </p:spPr>
      </p:sp>
      <p:sp>
        <p:nvSpPr>
          <p:cNvPr id="19" name="Shape 16"/>
          <p:cNvSpPr/>
          <p:nvPr/>
        </p:nvSpPr>
        <p:spPr>
          <a:xfrm>
            <a:off x="9448800" y="5318313"/>
            <a:ext cx="80772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0" name="Shape 17"/>
          <p:cNvSpPr/>
          <p:nvPr/>
        </p:nvSpPr>
        <p:spPr>
          <a:xfrm>
            <a:off x="9448800" y="3918138"/>
            <a:ext cx="80772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1" name="Shape 18"/>
          <p:cNvSpPr/>
          <p:nvPr/>
        </p:nvSpPr>
        <p:spPr>
          <a:xfrm>
            <a:off x="9448800" y="3918138"/>
            <a:ext cx="47625" cy="1409700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22" name="Shape 19"/>
          <p:cNvSpPr/>
          <p:nvPr/>
        </p:nvSpPr>
        <p:spPr>
          <a:xfrm>
            <a:off x="17516475" y="3918138"/>
            <a:ext cx="9525" cy="14097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3" name="Text 20"/>
          <p:cNvSpPr/>
          <p:nvPr/>
        </p:nvSpPr>
        <p:spPr>
          <a:xfrm>
            <a:off x="9839325" y="4213413"/>
            <a:ext cx="80676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A8453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+0 pp em campo</a:t>
            </a:r>
            <a:endParaRPr lang="en-US" sz="3450" dirty="0"/>
          </a:p>
        </p:txBody>
      </p:sp>
      <p:sp>
        <p:nvSpPr>
          <p:cNvPr id="24" name="Text 21"/>
          <p:cNvSpPr/>
          <p:nvPr/>
        </p:nvSpPr>
        <p:spPr>
          <a:xfrm>
            <a:off x="9839325" y="4727763"/>
            <a:ext cx="80676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20,24% vs. 20,77% do Exp. B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448800" y="5537388"/>
            <a:ext cx="8077200" cy="1314450"/>
          </a:xfrm>
          <a:prstGeom prst="roundRect">
            <a:avLst>
              <a:gd name="adj" fmla="val 10145"/>
            </a:avLst>
          </a:prstGeom>
          <a:solidFill>
            <a:srgbClr val="FAF5EC"/>
          </a:solidFill>
          <a:ln/>
        </p:spPr>
      </p:sp>
      <p:sp>
        <p:nvSpPr>
          <p:cNvPr id="26" name="Shape 23"/>
          <p:cNvSpPr/>
          <p:nvPr/>
        </p:nvSpPr>
        <p:spPr>
          <a:xfrm>
            <a:off x="9448800" y="6842313"/>
            <a:ext cx="80772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7" name="Shape 24"/>
          <p:cNvSpPr/>
          <p:nvPr/>
        </p:nvSpPr>
        <p:spPr>
          <a:xfrm>
            <a:off x="9448800" y="5537388"/>
            <a:ext cx="80772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8" name="Shape 25"/>
          <p:cNvSpPr/>
          <p:nvPr/>
        </p:nvSpPr>
        <p:spPr>
          <a:xfrm>
            <a:off x="9448800" y="5537388"/>
            <a:ext cx="47625" cy="1314450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29" name="Shape 26"/>
          <p:cNvSpPr/>
          <p:nvPr/>
        </p:nvSpPr>
        <p:spPr>
          <a:xfrm>
            <a:off x="17516475" y="5537388"/>
            <a:ext cx="9525" cy="13144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0" name="Text 27"/>
          <p:cNvSpPr/>
          <p:nvPr/>
        </p:nvSpPr>
        <p:spPr>
          <a:xfrm>
            <a:off x="9839325" y="5832663"/>
            <a:ext cx="80676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Saudável: 0,0% em campo</a:t>
            </a:r>
            <a:endParaRPr lang="en-US" sz="2700" dirty="0"/>
          </a:p>
        </p:txBody>
      </p:sp>
      <p:sp>
        <p:nvSpPr>
          <p:cNvPr id="31" name="Text 28"/>
          <p:cNvSpPr/>
          <p:nvPr/>
        </p:nvSpPr>
        <p:spPr>
          <a:xfrm>
            <a:off x="9839325" y="6251763"/>
            <a:ext cx="80676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modelo nunca acerta folha saudável real.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448800" y="7061388"/>
            <a:ext cx="8319516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quê: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artefatos de borda e iluminação inconsistente — o domínio sintético não captura a distribuição real.</a:t>
            </a:r>
            <a:endParaRPr lang="en-US" sz="1725" dirty="0"/>
          </a:p>
        </p:txBody>
      </p:sp>
      <p:sp>
        <p:nvSpPr>
          <p:cNvPr id="33" name="Shape 30"/>
          <p:cNvSpPr/>
          <p:nvPr/>
        </p:nvSpPr>
        <p:spPr>
          <a:xfrm>
            <a:off x="762000" y="8023317"/>
            <a:ext cx="16764000" cy="838200"/>
          </a:xfrm>
          <a:prstGeom prst="roundRect">
            <a:avLst>
              <a:gd name="adj" fmla="val 15909"/>
            </a:avLst>
          </a:prstGeom>
          <a:solidFill>
            <a:srgbClr val="142A17"/>
          </a:solidFill>
          <a:ln w="9525">
            <a:solidFill>
              <a:srgbClr val="142A1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52525" y="8299542"/>
            <a:ext cx="175812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Lição: </a:t>
            </a:r>
            <a:pPr algn="l" indent="0" marL="0">
              <a:buNone/>
            </a:pPr>
            <a:r>
              <a:rPr lang="en-US" sz="22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síntese não substitui dado de campo. Resultado negativo </a:t>
            </a:r>
            <a:pPr algn="l" indent="0" marL="0">
              <a:buNone/>
            </a:pPr>
            <a:r>
              <a:rPr lang="en-US" sz="2250" i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reprodutível</a:t>
            </a:r>
            <a:pPr algn="l" indent="0" marL="0">
              <a:buNone/>
            </a:pPr>
            <a:r>
              <a:rPr lang="en-US" sz="22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.</a:t>
            </a:r>
            <a:endParaRPr lang="en-US" sz="2250" dirty="0"/>
          </a:p>
        </p:txBody>
      </p:sp>
      <p:sp>
        <p:nvSpPr>
          <p:cNvPr id="35" name="Shape 32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6" name="Text 33"/>
          <p:cNvSpPr/>
          <p:nvPr/>
        </p:nvSpPr>
        <p:spPr>
          <a:xfrm>
            <a:off x="762000" y="9582150"/>
            <a:ext cx="28533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EXP. C NEGATIVO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4819263" y="9582150"/>
            <a:ext cx="29774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177.698 SÍNTESES · +0 PP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EXP. D E E · O QUE FUNCIONOU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Dado real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 </a:t>
            </a:r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Focal Loss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762000" y="2878038"/>
            <a:ext cx="8153400" cy="4126111"/>
          </a:xfrm>
          <a:prstGeom prst="roundRect">
            <a:avLst>
              <a:gd name="adj" fmla="val 3232"/>
            </a:avLst>
          </a:prstGeom>
          <a:solidFill>
            <a:srgbClr val="FAF5EC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6994624"/>
            <a:ext cx="81534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" name="Shape 6"/>
          <p:cNvSpPr/>
          <p:nvPr/>
        </p:nvSpPr>
        <p:spPr>
          <a:xfrm>
            <a:off x="762000" y="2878038"/>
            <a:ext cx="8153400" cy="38100"/>
          </a:xfrm>
          <a:prstGeom prst="rect">
            <a:avLst/>
          </a:prstGeom>
          <a:solidFill>
            <a:srgbClr val="5E884F"/>
          </a:solidFill>
          <a:ln/>
        </p:spPr>
      </p:sp>
      <p:sp>
        <p:nvSpPr>
          <p:cNvPr id="10" name="Shape 7"/>
          <p:cNvSpPr/>
          <p:nvPr/>
        </p:nvSpPr>
        <p:spPr>
          <a:xfrm>
            <a:off x="762000" y="2878038"/>
            <a:ext cx="9525" cy="4126111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" name="Shape 8"/>
          <p:cNvSpPr/>
          <p:nvPr/>
        </p:nvSpPr>
        <p:spPr>
          <a:xfrm>
            <a:off x="8905875" y="2878038"/>
            <a:ext cx="9525" cy="4126111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2" name="Text 9"/>
          <p:cNvSpPr/>
          <p:nvPr/>
        </p:nvSpPr>
        <p:spPr>
          <a:xfrm>
            <a:off x="1190625" y="3297138"/>
            <a:ext cx="80257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EXP. D — FINE-TUNING REAL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90625" y="3744813"/>
            <a:ext cx="802576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spc="-171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+10 pp </a:t>
            </a:r>
            <a:pPr algn="l" indent="0" marL="0">
              <a:buNone/>
            </a:pPr>
            <a:r>
              <a:rPr lang="en-US" sz="2400" i="1" spc="-171" kern="0" dirty="0">
                <a:solidFill>
                  <a:srgbClr val="4E464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em campo</a:t>
            </a:r>
            <a:endParaRPr lang="en-US" sz="5700" dirty="0"/>
          </a:p>
        </p:txBody>
      </p:sp>
      <p:sp>
        <p:nvSpPr>
          <p:cNvPr id="14" name="Text 11"/>
          <p:cNvSpPr/>
          <p:nvPr/>
        </p:nvSpPr>
        <p:spPr>
          <a:xfrm>
            <a:off x="1190625" y="4506813"/>
            <a:ext cx="80257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20,77% → 30,43% · PlantDoc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190625" y="5021163"/>
            <a:ext cx="751503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677 imagens reais do PlantDoc/train (repetidas 10×), avaliadas em 69 nunca vistas.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90625" y="5817394"/>
            <a:ext cx="751503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Conclusão: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fator limitante é o </a:t>
            </a:r>
            <a:pPr algn="l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volume de dados de campo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não o método de treinamento.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372600" y="2878133"/>
            <a:ext cx="8153400" cy="4126111"/>
          </a:xfrm>
          <a:prstGeom prst="roundRect">
            <a:avLst>
              <a:gd name="adj" fmla="val 3232"/>
            </a:avLst>
          </a:prstGeom>
          <a:solidFill>
            <a:srgbClr val="5E884F">
              <a:alpha val="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9372600" y="6994720"/>
            <a:ext cx="81534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9" name="Shape 16"/>
          <p:cNvSpPr/>
          <p:nvPr/>
        </p:nvSpPr>
        <p:spPr>
          <a:xfrm>
            <a:off x="9372600" y="2878133"/>
            <a:ext cx="8153400" cy="38100"/>
          </a:xfrm>
          <a:prstGeom prst="rect">
            <a:avLst/>
          </a:prstGeom>
          <a:solidFill>
            <a:srgbClr val="5E884F"/>
          </a:solidFill>
          <a:ln/>
        </p:spPr>
      </p:sp>
      <p:sp>
        <p:nvSpPr>
          <p:cNvPr id="20" name="Shape 17"/>
          <p:cNvSpPr/>
          <p:nvPr/>
        </p:nvSpPr>
        <p:spPr>
          <a:xfrm>
            <a:off x="9372600" y="2878133"/>
            <a:ext cx="9525" cy="4126111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1" name="Shape 18"/>
          <p:cNvSpPr/>
          <p:nvPr/>
        </p:nvSpPr>
        <p:spPr>
          <a:xfrm>
            <a:off x="17516475" y="2878133"/>
            <a:ext cx="9525" cy="4126111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2" name="Text 19"/>
          <p:cNvSpPr/>
          <p:nvPr/>
        </p:nvSpPr>
        <p:spPr>
          <a:xfrm>
            <a:off x="9801225" y="3297233"/>
            <a:ext cx="80257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EXP. E — FOCAL LOSS </a:t>
            </a:r>
            <a:pPr algn="l" indent="0" marL="0">
              <a:buNone/>
            </a:pPr>
            <a:r>
              <a:rPr lang="en-US" sz="1500" spc="150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(FINAL)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801225" y="3744908"/>
            <a:ext cx="802576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spc="-171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+16 pp </a:t>
            </a:r>
            <a:pPr algn="l" indent="0" marL="0">
              <a:buNone/>
            </a:pPr>
            <a:r>
              <a:rPr lang="en-US" sz="2400" i="1" spc="-171" kern="0" dirty="0">
                <a:solidFill>
                  <a:srgbClr val="4E464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 Tomato-Village</a:t>
            </a:r>
            <a:endParaRPr lang="en-US" sz="5700" dirty="0"/>
          </a:p>
        </p:txBody>
      </p:sp>
      <p:sp>
        <p:nvSpPr>
          <p:cNvPr id="24" name="Text 21"/>
          <p:cNvSpPr/>
          <p:nvPr/>
        </p:nvSpPr>
        <p:spPr>
          <a:xfrm>
            <a:off x="9801225" y="4506909"/>
            <a:ext cx="80257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11,52% → 27,65% · Índia</a:t>
            </a:r>
            <a:endParaRPr lang="en-US" sz="1575" dirty="0"/>
          </a:p>
        </p:txBody>
      </p:sp>
      <p:sp>
        <p:nvSpPr>
          <p:cNvPr id="25" name="Text 22"/>
          <p:cNvSpPr/>
          <p:nvPr/>
        </p:nvSpPr>
        <p:spPr>
          <a:xfrm>
            <a:off x="9801225" y="5021259"/>
            <a:ext cx="751503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Focal Loss (γ=2) reduz o peso de exemplos fáceis — imagens de lab com fundo cinza.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801225" y="5817489"/>
            <a:ext cx="751503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Efeito: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força o modelo a focar nas features diagnósticas da lesão. É o </a:t>
            </a:r>
            <a:pPr algn="l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final embarcado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8" name="Text 25"/>
          <p:cNvSpPr/>
          <p:nvPr/>
        </p:nvSpPr>
        <p:spPr>
          <a:xfrm>
            <a:off x="762000" y="9582150"/>
            <a:ext cx="22330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EXP. D E 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4480977" y="9582150"/>
            <a:ext cx="33495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VOLUME DE CAMPO É O GARGALO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88849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ESPECIFICIDADE GEOGRÁFICA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38663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spc="-8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acurácia cai com a </a:t>
            </a:r>
            <a:pPr algn="l" indent="0" marL="0">
              <a:lnSpc>
                <a:spcPct val="104000"/>
              </a:lnSpc>
              <a:buNone/>
            </a:pPr>
            <a:r>
              <a:rPr lang="en-US" sz="3750" i="1" spc="-82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distância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762000" y="2938463"/>
            <a:ext cx="24098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EUA / Europa</a:t>
            </a:r>
            <a:endParaRPr lang="en-US" sz="1875" dirty="0"/>
          </a:p>
        </p:txBody>
      </p:sp>
      <p:sp>
        <p:nvSpPr>
          <p:cNvPr id="8" name="Shape 5"/>
          <p:cNvSpPr/>
          <p:nvPr/>
        </p:nvSpPr>
        <p:spPr>
          <a:xfrm>
            <a:off x="3181350" y="3009900"/>
            <a:ext cx="4286250" cy="171450"/>
          </a:xfrm>
          <a:prstGeom prst="roundRect">
            <a:avLst>
              <a:gd name="adj" fmla="val 16667"/>
            </a:avLst>
          </a:prstGeom>
          <a:solidFill>
            <a:srgbClr val="E6E0D9"/>
          </a:solidFill>
          <a:ln/>
        </p:spPr>
      </p:sp>
      <p:sp>
        <p:nvSpPr>
          <p:cNvPr id="9" name="Shape 6"/>
          <p:cNvSpPr/>
          <p:nvPr/>
        </p:nvSpPr>
        <p:spPr>
          <a:xfrm>
            <a:off x="3181350" y="3009900"/>
            <a:ext cx="4286250" cy="171450"/>
          </a:xfrm>
          <a:prstGeom prst="roundRect">
            <a:avLst>
              <a:gd name="adj" fmla="val 16667"/>
            </a:avLst>
          </a:prstGeom>
          <a:solidFill>
            <a:srgbClr val="5E884F"/>
          </a:solidFill>
          <a:ln/>
        </p:spPr>
      </p:sp>
      <p:sp>
        <p:nvSpPr>
          <p:cNvPr id="10" name="Text 7"/>
          <p:cNvSpPr/>
          <p:nvPr/>
        </p:nvSpPr>
        <p:spPr>
          <a:xfrm>
            <a:off x="7620000" y="2933700"/>
            <a:ext cx="1219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30,43%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762000" y="3567999"/>
            <a:ext cx="24098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Índia</a:t>
            </a:r>
            <a:endParaRPr lang="en-US" sz="1875" dirty="0"/>
          </a:p>
        </p:txBody>
      </p:sp>
      <p:sp>
        <p:nvSpPr>
          <p:cNvPr id="12" name="Shape 9"/>
          <p:cNvSpPr/>
          <p:nvPr/>
        </p:nvSpPr>
        <p:spPr>
          <a:xfrm>
            <a:off x="3181350" y="3639437"/>
            <a:ext cx="4286250" cy="171450"/>
          </a:xfrm>
          <a:prstGeom prst="roundRect">
            <a:avLst>
              <a:gd name="adj" fmla="val 16667"/>
            </a:avLst>
          </a:prstGeom>
          <a:solidFill>
            <a:srgbClr val="E6E0D9"/>
          </a:solidFill>
          <a:ln/>
        </p:spPr>
      </p:sp>
      <p:sp>
        <p:nvSpPr>
          <p:cNvPr id="13" name="Shape 10"/>
          <p:cNvSpPr/>
          <p:nvPr/>
        </p:nvSpPr>
        <p:spPr>
          <a:xfrm>
            <a:off x="3181350" y="3639437"/>
            <a:ext cx="3900488" cy="171450"/>
          </a:xfrm>
          <a:prstGeom prst="roundRect">
            <a:avLst>
              <a:gd name="adj" fmla="val 16667"/>
            </a:avLst>
          </a:prstGeom>
          <a:solidFill>
            <a:srgbClr val="C89344"/>
          </a:solidFill>
          <a:ln/>
        </p:spPr>
      </p:sp>
      <p:sp>
        <p:nvSpPr>
          <p:cNvPr id="14" name="Text 11"/>
          <p:cNvSpPr/>
          <p:nvPr/>
        </p:nvSpPr>
        <p:spPr>
          <a:xfrm>
            <a:off x="7620000" y="3563237"/>
            <a:ext cx="1219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27,65%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762000" y="4200399"/>
            <a:ext cx="24098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Bangladesh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3181350" y="4271836"/>
            <a:ext cx="4286250" cy="171450"/>
          </a:xfrm>
          <a:prstGeom prst="roundRect">
            <a:avLst>
              <a:gd name="adj" fmla="val 16667"/>
            </a:avLst>
          </a:prstGeom>
          <a:solidFill>
            <a:srgbClr val="E6E0D9"/>
          </a:solidFill>
          <a:ln/>
        </p:spPr>
      </p:sp>
      <p:sp>
        <p:nvSpPr>
          <p:cNvPr id="17" name="Shape 14"/>
          <p:cNvSpPr/>
          <p:nvPr/>
        </p:nvSpPr>
        <p:spPr>
          <a:xfrm>
            <a:off x="3181350" y="4271836"/>
            <a:ext cx="2571750" cy="171450"/>
          </a:xfrm>
          <a:prstGeom prst="roundRect">
            <a:avLst>
              <a:gd name="adj" fmla="val 16667"/>
            </a:avLst>
          </a:prstGeom>
          <a:solidFill>
            <a:srgbClr val="A84533"/>
          </a:solidFill>
          <a:ln/>
        </p:spPr>
      </p:sp>
      <p:sp>
        <p:nvSpPr>
          <p:cNvPr id="18" name="Text 15"/>
          <p:cNvSpPr/>
          <p:nvPr/>
        </p:nvSpPr>
        <p:spPr>
          <a:xfrm>
            <a:off x="7620000" y="4195636"/>
            <a:ext cx="1219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18,13%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62000" y="5014786"/>
            <a:ext cx="831951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Confirma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Barbedo (2019)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variedades locais, iluminação tropical e estágio fenológico distinto degradam o desempenho.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448800" y="1429636"/>
            <a:ext cx="8077200" cy="8096250"/>
          </a:xfrm>
          <a:prstGeom prst="roundRect">
            <a:avLst>
              <a:gd name="adj" fmla="val 1651"/>
            </a:avLst>
          </a:prstGeom>
          <a:solidFill>
            <a:srgbClr val="142A17"/>
          </a:solidFill>
          <a:ln w="9525">
            <a:solidFill>
              <a:srgbClr val="142A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934575" y="1896361"/>
            <a:ext cx="78162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COLAPSO DE CLASSE</a:t>
            </a:r>
            <a:endParaRPr lang="en-US" sz="1575" dirty="0"/>
          </a:p>
        </p:txBody>
      </p:sp>
      <p:sp>
        <p:nvSpPr>
          <p:cNvPr id="22" name="Text 19"/>
          <p:cNvSpPr/>
          <p:nvPr/>
        </p:nvSpPr>
        <p:spPr>
          <a:xfrm>
            <a:off x="9934575" y="2448812"/>
            <a:ext cx="78162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Exp. D no Tomato-Village (Índia):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934575" y="2925062"/>
            <a:ext cx="781621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0" spc="-315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73</a:t>
            </a:r>
            <a:pPr algn="l" indent="0" marL="0">
              <a:lnSpc>
                <a:spcPct val="90000"/>
              </a:lnSpc>
              <a:buNone/>
            </a:pPr>
            <a:r>
              <a:rPr lang="en-US" sz="3600" spc="-315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10500" dirty="0"/>
          </a:p>
        </p:txBody>
      </p:sp>
      <p:sp>
        <p:nvSpPr>
          <p:cNvPr id="24" name="Text 21"/>
          <p:cNvSpPr/>
          <p:nvPr/>
        </p:nvSpPr>
        <p:spPr>
          <a:xfrm>
            <a:off x="9934575" y="4353812"/>
            <a:ext cx="731882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das folhas saudáveis indianas foram classificadas como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D02 septoriose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.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9934575" y="5411087"/>
            <a:ext cx="731882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Padrão típico de colapso sob shift extremo — o modelo "despeja" tudo numa classe. Mitigado no Exp. E com Focal Loss.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7" name="Text 24"/>
          <p:cNvSpPr/>
          <p:nvPr/>
        </p:nvSpPr>
        <p:spPr>
          <a:xfrm>
            <a:off x="762000" y="9582150"/>
            <a:ext cx="27292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GAP GEOGRÁFICO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3917067" y="9582150"/>
            <a:ext cx="39698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BARBEDO 2019 · COLAPSO DE CLASSE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MODELO PRONTO · ONDE RODAR?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681972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spc="-86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Três </a:t>
            </a:r>
            <a:pPr algn="l" indent="0" marL="0">
              <a:lnSpc>
                <a:spcPct val="104000"/>
              </a:lnSpc>
              <a:buNone/>
            </a:pPr>
            <a:r>
              <a:rPr lang="en-US" sz="3900" i="1" spc="-86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arquiteturas</a:t>
            </a:r>
            <a:pPr algn="l" indent="0" marL="0">
              <a:lnSpc>
                <a:spcPct val="104000"/>
              </a:lnSpc>
              <a:buNone/>
            </a:pPr>
            <a:r>
              <a:rPr lang="en-US" sz="3900" spc="-86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, um modelo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762000" y="2553444"/>
            <a:ext cx="184404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MobileNetV2 INT8 · 638 KB · 96×96 · 10 classes · T=0,25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2000" y="3191619"/>
            <a:ext cx="5372100" cy="3432721"/>
          </a:xfrm>
          <a:prstGeom prst="roundRect">
            <a:avLst>
              <a:gd name="adj" fmla="val 3885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4425" y="3524994"/>
            <a:ext cx="513397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①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1114425" y="4144119"/>
            <a:ext cx="5133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Edge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1114425" y="4582269"/>
            <a:ext cx="51339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ESP32-S3 N16R8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14425" y="5010894"/>
            <a:ext cx="513397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spc="-93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692</a:t>
            </a:r>
            <a:pPr algn="l" indent="0" marL="0">
              <a:buNone/>
            </a:pPr>
            <a:r>
              <a:rPr lang="en-US" sz="1950" spc="-93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</a:t>
            </a:r>
            <a:endParaRPr lang="en-US" sz="4650" dirty="0"/>
          </a:p>
        </p:txBody>
      </p:sp>
      <p:sp>
        <p:nvSpPr>
          <p:cNvPr id="13" name="Text 10"/>
          <p:cNvSpPr/>
          <p:nvPr/>
        </p:nvSpPr>
        <p:spPr>
          <a:xfrm>
            <a:off x="1114425" y="5639544"/>
            <a:ext cx="51339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OFFLINE · 100% LOCAL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14425" y="6011019"/>
            <a:ext cx="5133975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MQTT/TLS → HiveMQ · sem internet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6457950" y="3192002"/>
            <a:ext cx="5372100" cy="3432720"/>
          </a:xfrm>
          <a:prstGeom prst="roundRect">
            <a:avLst>
              <a:gd name="adj" fmla="val 3885"/>
            </a:avLst>
          </a:prstGeom>
          <a:solidFill>
            <a:srgbClr val="5E884F">
              <a:alpha val="7000"/>
            </a:srgbClr>
          </a:solidFill>
          <a:ln w="9525">
            <a:solidFill>
              <a:srgbClr val="ABBEA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10375" y="3525377"/>
            <a:ext cx="513397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②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6810375" y="4144502"/>
            <a:ext cx="5133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Mobile</a:t>
            </a:r>
            <a:endParaRPr lang="en-US" sz="3150" dirty="0"/>
          </a:p>
        </p:txBody>
      </p:sp>
      <p:sp>
        <p:nvSpPr>
          <p:cNvPr id="18" name="Text 15"/>
          <p:cNvSpPr/>
          <p:nvPr/>
        </p:nvSpPr>
        <p:spPr>
          <a:xfrm>
            <a:off x="6810375" y="4582652"/>
            <a:ext cx="51339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Android on-device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810375" y="5011277"/>
            <a:ext cx="513397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spc="-93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~200–400</a:t>
            </a:r>
            <a:pPr algn="l" indent="0" marL="0">
              <a:buNone/>
            </a:pPr>
            <a:r>
              <a:rPr lang="en-US" sz="1950" spc="-93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</a:t>
            </a:r>
            <a:endParaRPr lang="en-US" sz="4650" dirty="0"/>
          </a:p>
        </p:txBody>
      </p:sp>
      <p:sp>
        <p:nvSpPr>
          <p:cNvPr id="20" name="Text 17"/>
          <p:cNvSpPr/>
          <p:nvPr/>
        </p:nvSpPr>
        <p:spPr>
          <a:xfrm>
            <a:off x="6810375" y="5639927"/>
            <a:ext cx="51339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OFFLINE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810375" y="6011402"/>
            <a:ext cx="5133975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tflite_flutter 0.12.1 · toggle Edge ↔ Cloud no app</a:t>
            </a:r>
            <a:endParaRPr lang="en-US" sz="1575" dirty="0"/>
          </a:p>
        </p:txBody>
      </p:sp>
      <p:sp>
        <p:nvSpPr>
          <p:cNvPr id="22" name="Shape 19"/>
          <p:cNvSpPr/>
          <p:nvPr/>
        </p:nvSpPr>
        <p:spPr>
          <a:xfrm>
            <a:off x="12153900" y="3194874"/>
            <a:ext cx="5372100" cy="3432721"/>
          </a:xfrm>
          <a:prstGeom prst="roundRect">
            <a:avLst>
              <a:gd name="adj" fmla="val 3885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506325" y="3528249"/>
            <a:ext cx="513397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③</a:t>
            </a:r>
            <a:endParaRPr lang="en-US" sz="3300" dirty="0"/>
          </a:p>
        </p:txBody>
      </p:sp>
      <p:sp>
        <p:nvSpPr>
          <p:cNvPr id="24" name="Text 21"/>
          <p:cNvSpPr/>
          <p:nvPr/>
        </p:nvSpPr>
        <p:spPr>
          <a:xfrm>
            <a:off x="12506325" y="4147374"/>
            <a:ext cx="5133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Cloud</a:t>
            </a:r>
            <a:endParaRPr lang="en-US" sz="3150" dirty="0"/>
          </a:p>
        </p:txBody>
      </p:sp>
      <p:sp>
        <p:nvSpPr>
          <p:cNvPr id="25" name="Text 22"/>
          <p:cNvSpPr/>
          <p:nvPr/>
        </p:nvSpPr>
        <p:spPr>
          <a:xfrm>
            <a:off x="12506325" y="4585524"/>
            <a:ext cx="51339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Flutter + Django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2506325" y="5014150"/>
            <a:ext cx="513397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spc="-93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306</a:t>
            </a:r>
            <a:pPr algn="l" indent="0" marL="0">
              <a:buNone/>
            </a:pPr>
            <a:r>
              <a:rPr lang="en-US" sz="1950" spc="-93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</a:t>
            </a:r>
            <a:endParaRPr lang="en-US" sz="4650" dirty="0"/>
          </a:p>
        </p:txBody>
      </p:sp>
      <p:sp>
        <p:nvSpPr>
          <p:cNvPr id="27" name="Text 24"/>
          <p:cNvSpPr/>
          <p:nvPr/>
        </p:nvSpPr>
        <p:spPr>
          <a:xfrm>
            <a:off x="12506325" y="5642800"/>
            <a:ext cx="51339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C893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HTTPS · REQUER REDE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2506325" y="6014275"/>
            <a:ext cx="5133975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Railway + PostgreSQL · pipeline completo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762000" y="6970495"/>
            <a:ext cx="16764000" cy="1149548"/>
          </a:xfrm>
          <a:prstGeom prst="roundRect">
            <a:avLst>
              <a:gd name="adj" fmla="val 11600"/>
            </a:avLst>
          </a:prstGeom>
          <a:solidFill>
            <a:srgbClr val="E9E2D9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52525" y="7227670"/>
            <a:ext cx="16462439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Pivô de engenharia: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plano original era ESP32-S3 + câmera OV5640, 100% autônomo. Câmera ainda não integrada (Sprint 2). Adaptação: </a:t>
            </a:r>
            <a:pPr algn="l" indent="0" marL="0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273F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smartphone como sensor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caminho ②. Mesmo modelo INT8, mais flexibilidade.</a:t>
            </a:r>
            <a:endParaRPr lang="en-US" sz="1725" dirty="0"/>
          </a:p>
        </p:txBody>
      </p:sp>
      <p:sp>
        <p:nvSpPr>
          <p:cNvPr id="31" name="Shape 28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2" name="Text 29"/>
          <p:cNvSpPr/>
          <p:nvPr/>
        </p:nvSpPr>
        <p:spPr>
          <a:xfrm>
            <a:off x="762000" y="9582150"/>
            <a:ext cx="22330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ONDE RODAR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5157698" y="9582150"/>
            <a:ext cx="26051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· MOBILE · CLOUD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COMPARATIVO EDGE / MOBILE / CLOUD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Lado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lado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762000" y="2801838"/>
            <a:ext cx="16764000" cy="3209925"/>
          </a:xfrm>
          <a:prstGeom prst="roundRect">
            <a:avLst>
              <a:gd name="adj" fmla="val 4154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7275" y="3344763"/>
            <a:ext cx="3658195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" name="Text 6"/>
          <p:cNvSpPr/>
          <p:nvPr/>
        </p:nvSpPr>
        <p:spPr>
          <a:xfrm>
            <a:off x="1228725" y="3001863"/>
            <a:ext cx="34250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ASPECTO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715470" y="3344763"/>
            <a:ext cx="4211687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" name="Text 8"/>
          <p:cNvSpPr/>
          <p:nvPr/>
        </p:nvSpPr>
        <p:spPr>
          <a:xfrm>
            <a:off x="4823745" y="3001863"/>
            <a:ext cx="39951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① EDGE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927157" y="3344763"/>
            <a:ext cx="4324648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3" name="Text 10"/>
          <p:cNvSpPr/>
          <p:nvPr/>
        </p:nvSpPr>
        <p:spPr>
          <a:xfrm>
            <a:off x="9033738" y="3001863"/>
            <a:ext cx="41114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② MOBILE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3251805" y="3344763"/>
            <a:ext cx="3978920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5" name="Text 12"/>
          <p:cNvSpPr/>
          <p:nvPr/>
        </p:nvSpPr>
        <p:spPr>
          <a:xfrm>
            <a:off x="13363571" y="3001863"/>
            <a:ext cx="37553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③ CLOUD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057275" y="3978176"/>
            <a:ext cx="36581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17" name="Text 14"/>
          <p:cNvSpPr/>
          <p:nvPr/>
        </p:nvSpPr>
        <p:spPr>
          <a:xfrm>
            <a:off x="1228725" y="3506688"/>
            <a:ext cx="3425041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Latência CNN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4715470" y="3978176"/>
            <a:ext cx="4211687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19" name="Text 16"/>
          <p:cNvSpPr/>
          <p:nvPr/>
        </p:nvSpPr>
        <p:spPr>
          <a:xfrm>
            <a:off x="4823745" y="3506688"/>
            <a:ext cx="3995138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692 ms </a:t>
            </a:r>
            <a:pPr algn="ctr" indent="0" marL="0">
              <a:buNone/>
            </a:pPr>
            <a:r>
              <a:rPr lang="en-US" sz="195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(±1)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8927157" y="3978176"/>
            <a:ext cx="432464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1" name="Text 18"/>
          <p:cNvSpPr/>
          <p:nvPr/>
        </p:nvSpPr>
        <p:spPr>
          <a:xfrm>
            <a:off x="9033738" y="3506688"/>
            <a:ext cx="4111487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~200–400 ms</a:t>
            </a:r>
            <a:endParaRPr lang="en-US" sz="1950" dirty="0"/>
          </a:p>
        </p:txBody>
      </p:sp>
      <p:sp>
        <p:nvSpPr>
          <p:cNvPr id="22" name="Shape 19"/>
          <p:cNvSpPr/>
          <p:nvPr/>
        </p:nvSpPr>
        <p:spPr>
          <a:xfrm>
            <a:off x="13251805" y="3978176"/>
            <a:ext cx="3978920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3" name="Text 20"/>
          <p:cNvSpPr/>
          <p:nvPr/>
        </p:nvSpPr>
        <p:spPr>
          <a:xfrm>
            <a:off x="13363571" y="3506688"/>
            <a:ext cx="3755388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306 ms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1057275" y="4606826"/>
            <a:ext cx="36581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5" name="Text 22"/>
          <p:cNvSpPr/>
          <p:nvPr/>
        </p:nvSpPr>
        <p:spPr>
          <a:xfrm>
            <a:off x="1228725" y="4130576"/>
            <a:ext cx="342504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Funciona offline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4715470" y="4606826"/>
            <a:ext cx="4211687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7" name="Text 24"/>
          <p:cNvSpPr/>
          <p:nvPr/>
        </p:nvSpPr>
        <p:spPr>
          <a:xfrm>
            <a:off x="4823745" y="4130576"/>
            <a:ext cx="39951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Sim</a:t>
            </a:r>
            <a:endParaRPr lang="en-US" sz="1950" dirty="0"/>
          </a:p>
        </p:txBody>
      </p:sp>
      <p:sp>
        <p:nvSpPr>
          <p:cNvPr id="28" name="Shape 25"/>
          <p:cNvSpPr/>
          <p:nvPr/>
        </p:nvSpPr>
        <p:spPr>
          <a:xfrm>
            <a:off x="8927157" y="4606826"/>
            <a:ext cx="432464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9" name="Text 26"/>
          <p:cNvSpPr/>
          <p:nvPr/>
        </p:nvSpPr>
        <p:spPr>
          <a:xfrm>
            <a:off x="9033738" y="4130576"/>
            <a:ext cx="41114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Sim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13251805" y="4606826"/>
            <a:ext cx="3978920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1" name="Text 28"/>
          <p:cNvSpPr/>
          <p:nvPr/>
        </p:nvSpPr>
        <p:spPr>
          <a:xfrm>
            <a:off x="13363571" y="4130576"/>
            <a:ext cx="37553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A845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 Não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1057275" y="5225951"/>
            <a:ext cx="36581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3" name="Text 30"/>
          <p:cNvSpPr/>
          <p:nvPr/>
        </p:nvSpPr>
        <p:spPr>
          <a:xfrm>
            <a:off x="1228725" y="4759226"/>
            <a:ext cx="34250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Infraestrutura</a:t>
            </a:r>
            <a:endParaRPr lang="en-US" sz="1950" dirty="0"/>
          </a:p>
        </p:txBody>
      </p:sp>
      <p:sp>
        <p:nvSpPr>
          <p:cNvPr id="34" name="Shape 31"/>
          <p:cNvSpPr/>
          <p:nvPr/>
        </p:nvSpPr>
        <p:spPr>
          <a:xfrm>
            <a:off x="4715470" y="5225951"/>
            <a:ext cx="4211687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5" name="Text 32"/>
          <p:cNvSpPr/>
          <p:nvPr/>
        </p:nvSpPr>
        <p:spPr>
          <a:xfrm>
            <a:off x="4823745" y="4759226"/>
            <a:ext cx="399513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ESP32-S3 ~R$ 80</a:t>
            </a:r>
            <a:endParaRPr lang="en-US" sz="1950" dirty="0"/>
          </a:p>
        </p:txBody>
      </p:sp>
      <p:sp>
        <p:nvSpPr>
          <p:cNvPr id="36" name="Shape 33"/>
          <p:cNvSpPr/>
          <p:nvPr/>
        </p:nvSpPr>
        <p:spPr>
          <a:xfrm>
            <a:off x="8927157" y="5225951"/>
            <a:ext cx="432464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7" name="Text 34"/>
          <p:cNvSpPr/>
          <p:nvPr/>
        </p:nvSpPr>
        <p:spPr>
          <a:xfrm>
            <a:off x="9033738" y="4759226"/>
            <a:ext cx="41114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Celular do produtor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13251805" y="5225951"/>
            <a:ext cx="3978920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9" name="Text 36"/>
          <p:cNvSpPr/>
          <p:nvPr/>
        </p:nvSpPr>
        <p:spPr>
          <a:xfrm>
            <a:off x="13363571" y="4759226"/>
            <a:ext cx="37553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Railway (free tier)</a:t>
            </a:r>
            <a:endParaRPr lang="en-US" sz="1950" dirty="0"/>
          </a:p>
        </p:txBody>
      </p:sp>
      <p:sp>
        <p:nvSpPr>
          <p:cNvPr id="40" name="Shape 37"/>
          <p:cNvSpPr/>
          <p:nvPr/>
        </p:nvSpPr>
        <p:spPr>
          <a:xfrm>
            <a:off x="1057275" y="5854601"/>
            <a:ext cx="36581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1" name="Text 38"/>
          <p:cNvSpPr/>
          <p:nvPr/>
        </p:nvSpPr>
        <p:spPr>
          <a:xfrm>
            <a:off x="1228725" y="5378351"/>
            <a:ext cx="342504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 atual</a:t>
            </a:r>
            <a:endParaRPr lang="en-US" sz="1950" dirty="0"/>
          </a:p>
        </p:txBody>
      </p:sp>
      <p:sp>
        <p:nvSpPr>
          <p:cNvPr id="42" name="Shape 39"/>
          <p:cNvSpPr/>
          <p:nvPr/>
        </p:nvSpPr>
        <p:spPr>
          <a:xfrm>
            <a:off x="4715470" y="5854601"/>
            <a:ext cx="4211687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3" name="Text 40"/>
          <p:cNvSpPr/>
          <p:nvPr/>
        </p:nvSpPr>
        <p:spPr>
          <a:xfrm>
            <a:off x="4823745" y="5378351"/>
            <a:ext cx="39951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Validado · 10/10</a:t>
            </a:r>
            <a:endParaRPr lang="en-US" sz="1950" dirty="0"/>
          </a:p>
        </p:txBody>
      </p:sp>
      <p:sp>
        <p:nvSpPr>
          <p:cNvPr id="44" name="Shape 41"/>
          <p:cNvSpPr/>
          <p:nvPr/>
        </p:nvSpPr>
        <p:spPr>
          <a:xfrm>
            <a:off x="8927157" y="5854601"/>
            <a:ext cx="432464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5" name="Text 42"/>
          <p:cNvSpPr/>
          <p:nvPr/>
        </p:nvSpPr>
        <p:spPr>
          <a:xfrm>
            <a:off x="9033738" y="5378351"/>
            <a:ext cx="41114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Implementado</a:t>
            </a:r>
            <a:endParaRPr lang="en-US" sz="1950" dirty="0"/>
          </a:p>
        </p:txBody>
      </p:sp>
      <p:sp>
        <p:nvSpPr>
          <p:cNvPr id="46" name="Shape 43"/>
          <p:cNvSpPr/>
          <p:nvPr/>
        </p:nvSpPr>
        <p:spPr>
          <a:xfrm>
            <a:off x="13251805" y="5854601"/>
            <a:ext cx="3978920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7" name="Text 44"/>
          <p:cNvSpPr/>
          <p:nvPr/>
        </p:nvSpPr>
        <p:spPr>
          <a:xfrm>
            <a:off x="13363571" y="5378351"/>
            <a:ext cx="37553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Produção</a:t>
            </a:r>
            <a:endParaRPr lang="en-US" sz="1950" dirty="0"/>
          </a:p>
        </p:txBody>
      </p:sp>
      <p:sp>
        <p:nvSpPr>
          <p:cNvPr id="48" name="Shape 45"/>
          <p:cNvSpPr/>
          <p:nvPr/>
        </p:nvSpPr>
        <p:spPr>
          <a:xfrm>
            <a:off x="762000" y="6374105"/>
            <a:ext cx="16764000" cy="1794421"/>
          </a:xfrm>
          <a:prstGeom prst="roundRect">
            <a:avLst>
              <a:gd name="adj" fmla="val 7431"/>
            </a:avLst>
          </a:prstGeom>
          <a:solidFill>
            <a:srgbClr val="142A17"/>
          </a:solidFill>
          <a:ln w="9525">
            <a:solidFill>
              <a:srgbClr val="142A1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76786" y="6707480"/>
            <a:ext cx="2504450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200" spc="-216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692</a:t>
            </a:r>
            <a:pPr algn="ctr" indent="0" marL="0">
              <a:lnSpc>
                <a:spcPct val="90000"/>
              </a:lnSpc>
              <a:buNone/>
            </a:pPr>
            <a:r>
              <a:rPr lang="en-US" sz="2550" spc="-216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</a:t>
            </a:r>
            <a:endParaRPr lang="en-US" sz="7200" dirty="0"/>
          </a:p>
        </p:txBody>
      </p:sp>
      <p:sp>
        <p:nvSpPr>
          <p:cNvPr id="50" name="Text 47"/>
          <p:cNvSpPr/>
          <p:nvPr/>
        </p:nvSpPr>
        <p:spPr>
          <a:xfrm>
            <a:off x="1076786" y="7625600"/>
            <a:ext cx="25044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179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LATÊNCIA REAL ESP32</a:t>
            </a:r>
            <a:endParaRPr lang="en-US" sz="1275" dirty="0"/>
          </a:p>
        </p:txBody>
      </p:sp>
      <p:sp>
        <p:nvSpPr>
          <p:cNvPr id="51" name="Text 48"/>
          <p:cNvSpPr/>
          <p:nvPr/>
        </p:nvSpPr>
        <p:spPr>
          <a:xfrm>
            <a:off x="3886498" y="6856903"/>
            <a:ext cx="1360720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Determinística (±1 ms) · </a:t>
            </a:r>
            <a:pPr algn="l" indent="0" marL="0">
              <a:lnSpc>
                <a:spcPct val="150000"/>
              </a:lnSpc>
              <a:buNone/>
            </a:pPr>
            <a:r>
              <a:rPr lang="en-US" sz="2175" b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10/10 corretas 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 benchmark · 2× mais rápida que a estimativa do Edge Impulse · imperceptível em campo (produtor leva 2–5 s para posicionar a folha).</a:t>
            </a:r>
            <a:endParaRPr lang="en-US" sz="2175" dirty="0"/>
          </a:p>
        </p:txBody>
      </p:sp>
      <p:sp>
        <p:nvSpPr>
          <p:cNvPr id="52" name="Shape 49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53" name="Text 50"/>
          <p:cNvSpPr/>
          <p:nvPr/>
        </p:nvSpPr>
        <p:spPr>
          <a:xfrm>
            <a:off x="762000" y="9582150"/>
            <a:ext cx="2357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COMPARATIVO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14932075" y="9582150"/>
            <a:ext cx="28533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692 MS · DETERMINÍSTICO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23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QUE CONSTRUÍMOS · DA DECISÃO AO SISTEMA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Quatro camadas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integradas</a:t>
            </a:r>
            <a:endParaRPr lang="en-US" sz="4050" dirty="0"/>
          </a:p>
        </p:txBody>
      </p:sp>
      <p:sp>
        <p:nvSpPr>
          <p:cNvPr id="8" name="Shape 4"/>
          <p:cNvSpPr/>
          <p:nvPr/>
        </p:nvSpPr>
        <p:spPr>
          <a:xfrm>
            <a:off x="762000" y="2916138"/>
            <a:ext cx="4033837" cy="3223022"/>
          </a:xfrm>
          <a:prstGeom prst="roundRect">
            <a:avLst>
              <a:gd name="adj" fmla="val 413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7275" y="3230463"/>
            <a:ext cx="37876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Firmware</a:t>
            </a:r>
            <a:endParaRPr lang="en-US" sz="2550" dirty="0"/>
          </a:p>
        </p:txBody>
      </p:sp>
      <p:sp>
        <p:nvSpPr>
          <p:cNvPr id="10" name="Text 6"/>
          <p:cNvSpPr/>
          <p:nvPr/>
        </p:nvSpPr>
        <p:spPr>
          <a:xfrm>
            <a:off x="1057275" y="3630513"/>
            <a:ext cx="37876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ESP32-S3</a:t>
            </a:r>
            <a:endParaRPr lang="en-US" sz="1275" dirty="0"/>
          </a:p>
        </p:txBody>
      </p:sp>
      <p:sp>
        <p:nvSpPr>
          <p:cNvPr id="11" name="Text 7"/>
          <p:cNvSpPr/>
          <p:nvPr/>
        </p:nvSpPr>
        <p:spPr>
          <a:xfrm>
            <a:off x="910590" y="4049613"/>
            <a:ext cx="3666172" cy="1813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PlatformIO / ESP-IDF 5.x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MQTT QoS 1 · TLS 1.3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DHT22 + sensor de solo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Arena 200 KB · 692 ms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5005388" y="2916528"/>
            <a:ext cx="4033837" cy="3223022"/>
          </a:xfrm>
          <a:prstGeom prst="roundRect">
            <a:avLst>
              <a:gd name="adj" fmla="val 413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00663" y="3230853"/>
            <a:ext cx="37876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Broker</a:t>
            </a:r>
            <a:endParaRPr lang="en-US" sz="2550" dirty="0"/>
          </a:p>
        </p:txBody>
      </p:sp>
      <p:sp>
        <p:nvSpPr>
          <p:cNvPr id="14" name="Text 10"/>
          <p:cNvSpPr/>
          <p:nvPr/>
        </p:nvSpPr>
        <p:spPr>
          <a:xfrm>
            <a:off x="5300663" y="3630903"/>
            <a:ext cx="37876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MQTT</a:t>
            </a:r>
            <a:endParaRPr lang="en-US" sz="1275" dirty="0"/>
          </a:p>
        </p:txBody>
      </p:sp>
      <p:sp>
        <p:nvSpPr>
          <p:cNvPr id="15" name="Text 11"/>
          <p:cNvSpPr/>
          <p:nvPr/>
        </p:nvSpPr>
        <p:spPr>
          <a:xfrm>
            <a:off x="5153978" y="4050003"/>
            <a:ext cx="3666172" cy="1813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HiveMQ Cloud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Porta 8883 (TLS)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JSON payload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Pub/Sub em tempo real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9248775" y="2919416"/>
            <a:ext cx="4033837" cy="3223022"/>
          </a:xfrm>
          <a:prstGeom prst="roundRect">
            <a:avLst>
              <a:gd name="adj" fmla="val 413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44050" y="3233741"/>
            <a:ext cx="37876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Backend</a:t>
            </a:r>
            <a:endParaRPr lang="en-US" sz="2550" dirty="0"/>
          </a:p>
        </p:txBody>
      </p:sp>
      <p:sp>
        <p:nvSpPr>
          <p:cNvPr id="18" name="Text 14"/>
          <p:cNvSpPr/>
          <p:nvPr/>
        </p:nvSpPr>
        <p:spPr>
          <a:xfrm>
            <a:off x="9544050" y="3633791"/>
            <a:ext cx="37876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DJANGO REST</a:t>
            </a:r>
            <a:endParaRPr lang="en-US" sz="1275" dirty="0"/>
          </a:p>
        </p:txBody>
      </p:sp>
      <p:sp>
        <p:nvSpPr>
          <p:cNvPr id="19" name="Text 15"/>
          <p:cNvSpPr/>
          <p:nvPr/>
        </p:nvSpPr>
        <p:spPr>
          <a:xfrm>
            <a:off x="9397365" y="4052891"/>
            <a:ext cx="3666172" cy="1813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endpoints REST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 + refresh token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MQTT listener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 · Railway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13492163" y="2925731"/>
            <a:ext cx="4033837" cy="3223022"/>
          </a:xfrm>
          <a:prstGeom prst="roundRect">
            <a:avLst>
              <a:gd name="adj" fmla="val 413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3787438" y="3240056"/>
            <a:ext cx="37876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App</a:t>
            </a:r>
            <a:endParaRPr lang="en-US" sz="2550" dirty="0"/>
          </a:p>
        </p:txBody>
      </p:sp>
      <p:sp>
        <p:nvSpPr>
          <p:cNvPr id="22" name="Text 18"/>
          <p:cNvSpPr/>
          <p:nvPr/>
        </p:nvSpPr>
        <p:spPr>
          <a:xfrm>
            <a:off x="13787438" y="3640106"/>
            <a:ext cx="37876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FLUTTER</a:t>
            </a:r>
            <a:endParaRPr lang="en-US" sz="1275" dirty="0"/>
          </a:p>
        </p:txBody>
      </p:sp>
      <p:sp>
        <p:nvSpPr>
          <p:cNvPr id="23" name="Text 19"/>
          <p:cNvSpPr/>
          <p:nvPr/>
        </p:nvSpPr>
        <p:spPr>
          <a:xfrm>
            <a:off x="13640753" y="4059206"/>
            <a:ext cx="3666172" cy="181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10+ telas implementadas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Drift SQLite offline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tflite_flutter 0.12.1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Sync offline → online</a:t>
            </a:r>
            <a:endParaRPr lang="en-US" sz="1650" dirty="0"/>
          </a:p>
        </p:txBody>
      </p:sp>
      <p:sp>
        <p:nvSpPr>
          <p:cNvPr id="24" name="Text 20"/>
          <p:cNvSpPr/>
          <p:nvPr/>
        </p:nvSpPr>
        <p:spPr>
          <a:xfrm>
            <a:off x="762000" y="6529753"/>
            <a:ext cx="40837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FAF5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ceres_mobilenetv2_int8.tflite</a:t>
            </a:r>
            <a:endParaRPr lang="en-US" sz="1575" dirty="0"/>
          </a:p>
        </p:txBody>
      </p:sp>
      <p:sp>
        <p:nvSpPr>
          <p:cNvPr id="25" name="Text 21"/>
          <p:cNvSpPr/>
          <p:nvPr/>
        </p:nvSpPr>
        <p:spPr>
          <a:xfrm>
            <a:off x="4703118" y="6529753"/>
            <a:ext cx="204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575" dirty="0"/>
          </a:p>
        </p:txBody>
      </p:sp>
      <p:sp>
        <p:nvSpPr>
          <p:cNvPr id="26" name="Text 22"/>
          <p:cNvSpPr/>
          <p:nvPr/>
        </p:nvSpPr>
        <p:spPr>
          <a:xfrm>
            <a:off x="5059859" y="6529753"/>
            <a:ext cx="8443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638 KB</a:t>
            </a:r>
            <a:endParaRPr lang="en-US" sz="1575" dirty="0"/>
          </a:p>
        </p:txBody>
      </p:sp>
      <p:sp>
        <p:nvSpPr>
          <p:cNvPr id="27" name="Text 23"/>
          <p:cNvSpPr/>
          <p:nvPr/>
        </p:nvSpPr>
        <p:spPr>
          <a:xfrm>
            <a:off x="6056561" y="6529753"/>
            <a:ext cx="204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575" dirty="0"/>
          </a:p>
        </p:txBody>
      </p:sp>
      <p:sp>
        <p:nvSpPr>
          <p:cNvPr id="28" name="Text 24"/>
          <p:cNvSpPr/>
          <p:nvPr/>
        </p:nvSpPr>
        <p:spPr>
          <a:xfrm>
            <a:off x="6413302" y="6529753"/>
            <a:ext cx="35204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mesmo arquivo do ESP32-S3</a:t>
            </a:r>
            <a:endParaRPr lang="en-US" sz="1575" dirty="0"/>
          </a:p>
        </p:txBody>
      </p:sp>
      <p:sp>
        <p:nvSpPr>
          <p:cNvPr id="29" name="Text 25"/>
          <p:cNvSpPr/>
          <p:nvPr/>
        </p:nvSpPr>
        <p:spPr>
          <a:xfrm>
            <a:off x="9842302" y="6529753"/>
            <a:ext cx="204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575" dirty="0"/>
          </a:p>
        </p:txBody>
      </p:sp>
      <p:sp>
        <p:nvSpPr>
          <p:cNvPr id="30" name="Text 26"/>
          <p:cNvSpPr/>
          <p:nvPr/>
        </p:nvSpPr>
        <p:spPr>
          <a:xfrm>
            <a:off x="10199043" y="6529753"/>
            <a:ext cx="42245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inferência offline ~200–400 ms</a:t>
            </a:r>
            <a:endParaRPr lang="en-US" sz="1575" dirty="0"/>
          </a:p>
        </p:txBody>
      </p:sp>
      <p:sp>
        <p:nvSpPr>
          <p:cNvPr id="31" name="Shape 27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ABBEA2">
              <a:alpha val="2500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762000" y="9582150"/>
            <a:ext cx="31013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SISTEMA INTEGRADO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3804255" y="9582150"/>
            <a:ext cx="40939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FIRMWARE · BROKER · BACKEND · APP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23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9116" y="1438275"/>
            <a:ext cx="6326359" cy="611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 FLUTTER · TELA IOT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3970" y="7696587"/>
            <a:ext cx="677665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81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ESP32-S3 + DHT22 + sensor de solo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89341" y="1428750"/>
            <a:ext cx="109303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SISTEMA EM FUNCIONAMENTO</a:t>
            </a:r>
            <a:endParaRPr lang="en-US" sz="1575" dirty="0"/>
          </a:p>
        </p:txBody>
      </p:sp>
      <p:sp>
        <p:nvSpPr>
          <p:cNvPr id="9" name="Text 6"/>
          <p:cNvSpPr/>
          <p:nvPr/>
        </p:nvSpPr>
        <p:spPr>
          <a:xfrm>
            <a:off x="7589341" y="1905000"/>
            <a:ext cx="738663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spc="-8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Em </a:t>
            </a:r>
            <a:pPr algn="l" indent="0" marL="0">
              <a:lnSpc>
                <a:spcPct val="104000"/>
              </a:lnSpc>
              <a:buNone/>
            </a:pPr>
            <a:r>
              <a:rPr lang="en-US" sz="3750" i="1" spc="-82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produção</a:t>
            </a:r>
            <a:pPr algn="l" indent="0" marL="0">
              <a:lnSpc>
                <a:spcPct val="104000"/>
              </a:lnSpc>
              <a:buNone/>
            </a:pPr>
            <a:r>
              <a:rPr lang="en-US" sz="3750" spc="-8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, hoje</a:t>
            </a:r>
            <a:endParaRPr lang="en-US" sz="3750" dirty="0"/>
          </a:p>
        </p:txBody>
      </p:sp>
      <p:sp>
        <p:nvSpPr>
          <p:cNvPr id="10" name="Shape 7"/>
          <p:cNvSpPr/>
          <p:nvPr/>
        </p:nvSpPr>
        <p:spPr>
          <a:xfrm>
            <a:off x="7589341" y="4242197"/>
            <a:ext cx="993665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" name="Text 8"/>
          <p:cNvSpPr/>
          <p:nvPr/>
        </p:nvSpPr>
        <p:spPr>
          <a:xfrm>
            <a:off x="7589341" y="2990850"/>
            <a:ext cx="109303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DECISÃO DE ENGENHARIA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7589341" y="3314700"/>
            <a:ext cx="10234758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Plano original: ESP32-S3 + câmera OV5640, autônomo. Câmera pendente (Sprint 2) — ESP32 adaptado para coletar sensores e publicar via MQTT.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7589341" y="5713006"/>
            <a:ext cx="993665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4" name="Text 11"/>
          <p:cNvSpPr/>
          <p:nvPr/>
        </p:nvSpPr>
        <p:spPr>
          <a:xfrm>
            <a:off x="7589341" y="4461659"/>
            <a:ext cx="109303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SENSORIAMENTO EM TEMPO REAL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7589341" y="4785509"/>
            <a:ext cx="10234758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Temperatura · umidade do ar · umidade do solo via MQTT (QoS 1). Tela: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29,5 °C · 49% · 34%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status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ONLINE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7589341" y="7186310"/>
            <a:ext cx="993665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7" name="Text 14"/>
          <p:cNvSpPr/>
          <p:nvPr/>
        </p:nvSpPr>
        <p:spPr>
          <a:xfrm>
            <a:off x="7589341" y="5934963"/>
            <a:ext cx="109303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PIPELINE INTEGRADO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7589341" y="6258813"/>
            <a:ext cx="10234758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Django persiste cada evento com GPS; app sincroniza diagnósticos offline → online ao reconectar.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9582150"/>
            <a:ext cx="29774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EM FUNCIONAMENTO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932075" y="9582150"/>
            <a:ext cx="28533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MQTT QOS 1 · GPS · SYNC</a:t>
            </a:r>
            <a:endParaRPr lang="en-US" sz="1200" dirty="0"/>
          </a:p>
        </p:txBody>
      </p:sp>
      <p:pic>
        <p:nvPicPr>
          <p:cNvPr id="22" name="Picture 21" descr="app_io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428750"/>
            <a:ext cx="6160591" cy="3779520"/>
          </a:xfrm>
          <a:prstGeom prst="rect">
            <a:avLst/>
          </a:prstGeom>
        </p:spPr>
      </p:pic>
      <p:pic>
        <p:nvPicPr>
          <p:cNvPr id="23" name="Picture 22" descr="hardware_setu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208270"/>
            <a:ext cx="6160591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97733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DEMONSTRAÇÃO E RECURSOS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funcionando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762000" y="3792438"/>
            <a:ext cx="888489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3030438"/>
            <a:ext cx="552450" cy="552450"/>
          </a:xfrm>
          <a:prstGeom prst="ellipse">
            <a:avLst/>
          </a:prstGeom>
          <a:solidFill>
            <a:srgbClr val="273F28"/>
          </a:solidFill>
          <a:ln/>
        </p:spPr>
      </p:sp>
      <p:sp>
        <p:nvSpPr>
          <p:cNvPr id="9" name="Text 6"/>
          <p:cNvSpPr/>
          <p:nvPr/>
        </p:nvSpPr>
        <p:spPr>
          <a:xfrm>
            <a:off x="723900" y="3030438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562100" y="3139976"/>
            <a:ext cx="46547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Captura da folha pela câmera do app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4773904"/>
            <a:ext cx="888489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2" name="Shape 9"/>
          <p:cNvSpPr/>
          <p:nvPr/>
        </p:nvSpPr>
        <p:spPr>
          <a:xfrm>
            <a:off x="762000" y="4011904"/>
            <a:ext cx="552450" cy="552450"/>
          </a:xfrm>
          <a:prstGeom prst="ellipse">
            <a:avLst/>
          </a:prstGeom>
          <a:solidFill>
            <a:srgbClr val="273F28"/>
          </a:solidFill>
          <a:ln/>
        </p:spPr>
      </p:sp>
      <p:sp>
        <p:nvSpPr>
          <p:cNvPr id="13" name="Text 10"/>
          <p:cNvSpPr/>
          <p:nvPr/>
        </p:nvSpPr>
        <p:spPr>
          <a:xfrm>
            <a:off x="723900" y="4011904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562100" y="4121441"/>
            <a:ext cx="51565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Diagnóstico INT8 (Edge / Mobile / Cloud)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762000" y="5757869"/>
            <a:ext cx="888489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6" name="Shape 13"/>
          <p:cNvSpPr/>
          <p:nvPr/>
        </p:nvSpPr>
        <p:spPr>
          <a:xfrm>
            <a:off x="762000" y="4995869"/>
            <a:ext cx="552450" cy="552450"/>
          </a:xfrm>
          <a:prstGeom prst="ellipse">
            <a:avLst/>
          </a:prstGeom>
          <a:solidFill>
            <a:srgbClr val="273F28"/>
          </a:solidFill>
          <a:ln/>
        </p:spPr>
      </p:sp>
      <p:sp>
        <p:nvSpPr>
          <p:cNvPr id="17" name="Text 14"/>
          <p:cNvSpPr/>
          <p:nvPr/>
        </p:nvSpPr>
        <p:spPr>
          <a:xfrm>
            <a:off x="723900" y="4995869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1562100" y="5105407"/>
            <a:ext cx="437550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Publicação via MQTT do ESP32-S3</a:t>
            </a:r>
            <a:endParaRPr lang="en-US" sz="2025" dirty="0"/>
          </a:p>
        </p:txBody>
      </p:sp>
      <p:sp>
        <p:nvSpPr>
          <p:cNvPr id="19" name="Shape 16"/>
          <p:cNvSpPr/>
          <p:nvPr/>
        </p:nvSpPr>
        <p:spPr>
          <a:xfrm>
            <a:off x="762000" y="6745263"/>
            <a:ext cx="888489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0" name="Shape 17"/>
          <p:cNvSpPr/>
          <p:nvPr/>
        </p:nvSpPr>
        <p:spPr>
          <a:xfrm>
            <a:off x="762000" y="5983263"/>
            <a:ext cx="552450" cy="552450"/>
          </a:xfrm>
          <a:prstGeom prst="ellipse">
            <a:avLst/>
          </a:prstGeom>
          <a:solidFill>
            <a:srgbClr val="273F28"/>
          </a:solidFill>
          <a:ln/>
        </p:spPr>
      </p:sp>
      <p:sp>
        <p:nvSpPr>
          <p:cNvPr id="21" name="Text 18"/>
          <p:cNvSpPr/>
          <p:nvPr/>
        </p:nvSpPr>
        <p:spPr>
          <a:xfrm>
            <a:off x="723900" y="5983263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1562100" y="6092800"/>
            <a:ext cx="480393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Histórico e mapa de eventos com GPS</a:t>
            </a:r>
            <a:endParaRPr lang="en-US" sz="2025" dirty="0"/>
          </a:p>
        </p:txBody>
      </p:sp>
      <p:sp>
        <p:nvSpPr>
          <p:cNvPr id="24" name="Shape 21"/>
          <p:cNvSpPr/>
          <p:nvPr/>
        </p:nvSpPr>
        <p:spPr>
          <a:xfrm>
            <a:off x="13462546" y="2853128"/>
            <a:ext cx="857250" cy="857250"/>
          </a:xfrm>
          <a:prstGeom prst="ellipse">
            <a:avLst/>
          </a:prstGeom>
          <a:ln w="19050">
            <a:solidFill>
              <a:srgbClr val="80797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3786396" y="3110303"/>
            <a:ext cx="266700" cy="342900"/>
          </a:xfrm>
          <a:prstGeom prst="rect">
            <a:avLst/>
          </a:prstGeom>
          <a:solidFill>
            <a:srgbClr val="4E4640"/>
          </a:solidFill>
          <a:ln/>
        </p:spPr>
      </p:sp>
      <p:sp>
        <p:nvSpPr>
          <p:cNvPr id="26" name="Text 23"/>
          <p:cNvSpPr/>
          <p:nvPr/>
        </p:nvSpPr>
        <p:spPr>
          <a:xfrm>
            <a:off x="12241857" y="3881828"/>
            <a:ext cx="339773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VÍDEO DEMONSTRATIVO (1,5×)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0256490" y="5851631"/>
            <a:ext cx="7269510" cy="1714500"/>
          </a:xfrm>
          <a:prstGeom prst="roundRect">
            <a:avLst>
              <a:gd name="adj" fmla="val 7778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47015" y="6185006"/>
            <a:ext cx="71373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378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BAIXE E TESTE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0647015" y="6575531"/>
            <a:ext cx="71373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APK + imagens de teste</a:t>
            </a:r>
            <a:endParaRPr lang="en-US" sz="2250" dirty="0"/>
          </a:p>
        </p:txBody>
      </p:sp>
      <p:sp>
        <p:nvSpPr>
          <p:cNvPr id="30" name="Text 27"/>
          <p:cNvSpPr/>
          <p:nvPr/>
        </p:nvSpPr>
        <p:spPr>
          <a:xfrm>
            <a:off x="10647015" y="6956531"/>
            <a:ext cx="71373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273F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github.com/Namem/extensao2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2" name="Text 29"/>
          <p:cNvSpPr/>
          <p:nvPr/>
        </p:nvSpPr>
        <p:spPr>
          <a:xfrm>
            <a:off x="762000" y="9582150"/>
            <a:ext cx="24812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DEMONSTRAÇÃO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593788" y="9582150"/>
            <a:ext cx="32254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GITHUB.COM/NAMEM/EXTENSAO2</a:t>
            </a:r>
            <a:endParaRPr lang="en-US" sz="1200" dirty="0"/>
          </a:p>
        </p:txBody>
      </p:sp>
      <p:pic>
        <p:nvPicPr>
          <p:cNvPr id="201" name="Video 1" descr="demo_ceres_1.5x.mp4"/>
          <p:cNvPicPr>
            <a:picLocks noChangeAspect="1"/>
            <a:extLst>
              <a:ext uri="{C0B2C2F2-D5CC-4A6E-B4CC-E8934CF15FC7}">
                <ns0:media xmlns:ns0="http://schemas.microsoft.com/office/drawing/2010/main" r:embed="rIdVid1"/>
              </a:ext>
            </a:extLst>
          </p:cNvPicPr>
          <p:nvPr>
            <p:extLst>
              <p:ext uri="{D42A27DB-BD31-4B8C-83A1-F6EECEF9847C}">
                <ns1:media xmlns:ns1="http://schemas.microsoft.com/office/powerpoint/2010/main" r:embed="rIdVid1"/>
              </p:ext>
            </p:extLst>
          </p:nvPr>
        </p:nvPicPr>
        <p:blipFill>
          <a:blip r:embed="rIdThumb1"/>
          <a:stretch>
            <a:fillRect/>
          </a:stretch>
        </p:blipFill>
        <p:spPr>
          <a:xfrm>
            <a:off x="10256490" y="1429141"/>
            <a:ext cx="7269510" cy="4095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fill="hold">
                                  <p:stCondLst>
                                    <p:cond delay="0"/>
                                  </p:stCondLst>
                                  <p:childTnLst>
                                    <p:video>
                                      <p:cMediaNode vol="80000">
                                        <p:cTn id="6" dur="indefinite" fill="hold" display="0"/>
                                        <p:tgtEl>
                                          <p:spTgt spid="201"/>
                                        </p:tgtEl>
                                      </p:cMediaNode>
                                    </p:vide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23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CONCLUSÃO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762000" y="1924050"/>
            <a:ext cx="10720697" cy="1266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102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TinyML agrícola funciona — o gargalo é </a:t>
            </a:r>
            <a:pPr algn="l" indent="0" marL="0">
              <a:lnSpc>
                <a:spcPct val="104000"/>
              </a:lnSpc>
              <a:buNone/>
            </a:pPr>
            <a:r>
              <a:rPr lang="en-US" sz="4650" i="1" spc="-102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dado </a:t>
            </a:r>
            <a:pPr algn="l" indent="0" marL="0">
              <a:lnSpc>
                <a:spcPct val="104000"/>
              </a:lnSpc>
              <a:buNone/>
            </a:pPr>
            <a:r>
              <a:rPr lang="en-US" sz="4650" spc="-102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, não o hardware</a:t>
            </a:r>
            <a:endParaRPr lang="en-US" sz="4650" dirty="0"/>
          </a:p>
        </p:txBody>
      </p:sp>
      <p:sp>
        <p:nvSpPr>
          <p:cNvPr id="8" name="Shape 4"/>
          <p:cNvSpPr/>
          <p:nvPr/>
        </p:nvSpPr>
        <p:spPr>
          <a:xfrm>
            <a:off x="762000" y="3704630"/>
            <a:ext cx="5359301" cy="3309938"/>
          </a:xfrm>
          <a:prstGeom prst="roundRect">
            <a:avLst>
              <a:gd name="adj" fmla="val 402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33475" y="4076105"/>
            <a:ext cx="5077986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①</a:t>
            </a:r>
            <a:endParaRPr lang="en-US" sz="3750" dirty="0"/>
          </a:p>
        </p:txBody>
      </p:sp>
      <p:sp>
        <p:nvSpPr>
          <p:cNvPr id="10" name="Text 6"/>
          <p:cNvSpPr/>
          <p:nvPr/>
        </p:nvSpPr>
        <p:spPr>
          <a:xfrm>
            <a:off x="1133475" y="4771430"/>
            <a:ext cx="507798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Viabilidade</a:t>
            </a:r>
            <a:endParaRPr lang="en-US" sz="2850" dirty="0"/>
          </a:p>
        </p:txBody>
      </p:sp>
      <p:sp>
        <p:nvSpPr>
          <p:cNvPr id="11" name="Text 7"/>
          <p:cNvSpPr/>
          <p:nvPr/>
        </p:nvSpPr>
        <p:spPr>
          <a:xfrm>
            <a:off x="1133475" y="5228630"/>
            <a:ext cx="50779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PROVA DE CONCEITO CONCLUÍDA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33475" y="5657255"/>
            <a:ext cx="4754841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MobileNetV2 INT8 roda no ESP32-S3 em 692 ms · 638 KB · ~R$ 80. Diagnostica 10 doenças sem internet.</a:t>
            </a:r>
            <a:endParaRPr lang="en-US" sz="1725" dirty="0"/>
          </a:p>
        </p:txBody>
      </p:sp>
      <p:sp>
        <p:nvSpPr>
          <p:cNvPr id="13" name="Shape 9"/>
          <p:cNvSpPr/>
          <p:nvPr/>
        </p:nvSpPr>
        <p:spPr>
          <a:xfrm>
            <a:off x="6464201" y="3705013"/>
            <a:ext cx="5359450" cy="3309938"/>
          </a:xfrm>
          <a:prstGeom prst="roundRect">
            <a:avLst>
              <a:gd name="adj" fmla="val 402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35676" y="4076488"/>
            <a:ext cx="507815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②</a:t>
            </a:r>
            <a:endParaRPr lang="en-US" sz="3750" dirty="0"/>
          </a:p>
        </p:txBody>
      </p:sp>
      <p:sp>
        <p:nvSpPr>
          <p:cNvPr id="15" name="Text 11"/>
          <p:cNvSpPr/>
          <p:nvPr/>
        </p:nvSpPr>
        <p:spPr>
          <a:xfrm>
            <a:off x="6835676" y="4771813"/>
            <a:ext cx="507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Gap lab–campo</a:t>
            </a:r>
            <a:endParaRPr lang="en-US" sz="2850" dirty="0"/>
          </a:p>
        </p:txBody>
      </p:sp>
      <p:sp>
        <p:nvSpPr>
          <p:cNvPr id="16" name="Text 12"/>
          <p:cNvSpPr/>
          <p:nvPr/>
        </p:nvSpPr>
        <p:spPr>
          <a:xfrm>
            <a:off x="6835676" y="5229013"/>
            <a:ext cx="50781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FENÔMENO ESTRUTURAL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835676" y="5657638"/>
            <a:ext cx="4754995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adaptação: 95,76% no lab cai para 18–30% em campo. Documentado (Xu 2024, Singh 2020) — não é particular deste trabalho.</a:t>
            </a:r>
            <a:endParaRPr lang="en-US" sz="1725" dirty="0"/>
          </a:p>
        </p:txBody>
      </p:sp>
      <p:sp>
        <p:nvSpPr>
          <p:cNvPr id="18" name="Shape 14"/>
          <p:cNvSpPr/>
          <p:nvPr/>
        </p:nvSpPr>
        <p:spPr>
          <a:xfrm>
            <a:off x="12166550" y="3707886"/>
            <a:ext cx="5359450" cy="3309938"/>
          </a:xfrm>
          <a:prstGeom prst="roundRect">
            <a:avLst>
              <a:gd name="adj" fmla="val 402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2538025" y="4079361"/>
            <a:ext cx="507815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③</a:t>
            </a:r>
            <a:endParaRPr lang="en-US" sz="3750" dirty="0"/>
          </a:p>
        </p:txBody>
      </p:sp>
      <p:sp>
        <p:nvSpPr>
          <p:cNvPr id="20" name="Text 16"/>
          <p:cNvSpPr/>
          <p:nvPr/>
        </p:nvSpPr>
        <p:spPr>
          <a:xfrm>
            <a:off x="12538025" y="4774686"/>
            <a:ext cx="507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gargalo real</a:t>
            </a:r>
            <a:endParaRPr lang="en-US" sz="2850" dirty="0"/>
          </a:p>
        </p:txBody>
      </p:sp>
      <p:sp>
        <p:nvSpPr>
          <p:cNvPr id="21" name="Text 17"/>
          <p:cNvSpPr/>
          <p:nvPr/>
        </p:nvSpPr>
        <p:spPr>
          <a:xfrm>
            <a:off x="12538025" y="5231886"/>
            <a:ext cx="50781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FALTA DATASET BRASILEIRO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2538025" y="5660511"/>
            <a:ext cx="4754995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Variedades locais, iluminação tropical e estágios reais são o fator limitante. Nenhum método sintético supriu (Exp C).</a:t>
            </a:r>
            <a:endParaRPr lang="en-US" sz="1725" dirty="0"/>
          </a:p>
        </p:txBody>
      </p:sp>
      <p:sp>
        <p:nvSpPr>
          <p:cNvPr id="23" name="Shape 19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ABBEA2">
              <a:alpha val="25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762000" y="9582150"/>
            <a:ext cx="21089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CONCLUSÃO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5495984" y="9582150"/>
            <a:ext cx="22330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DADO É O GARGALO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TRABALHOS FUTUROS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caminho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à frente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762000" y="2916138"/>
            <a:ext cx="8220075" cy="1740098"/>
          </a:xfrm>
          <a:prstGeom prst="roundRect">
            <a:avLst>
              <a:gd name="adj" fmla="val 7663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52525" y="3306663"/>
            <a:ext cx="438150" cy="438150"/>
          </a:xfrm>
          <a:prstGeom prst="ellipse">
            <a:avLst/>
          </a:prstGeom>
          <a:ln w="9525">
            <a:solidFill>
              <a:srgbClr val="CAC3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95400" y="3449538"/>
            <a:ext cx="152400" cy="152400"/>
          </a:xfrm>
          <a:prstGeom prst="ellipse">
            <a:avLst/>
          </a:prstGeom>
          <a:solidFill>
            <a:srgbClr val="5E884F"/>
          </a:solidFill>
          <a:ln/>
        </p:spPr>
      </p:sp>
      <p:sp>
        <p:nvSpPr>
          <p:cNvPr id="10" name="Text 7"/>
          <p:cNvSpPr/>
          <p:nvPr/>
        </p:nvSpPr>
        <p:spPr>
          <a:xfrm>
            <a:off x="1819275" y="3268563"/>
            <a:ext cx="74495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Dataset brasileiro de campo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819275" y="3668613"/>
            <a:ext cx="6975443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Coleta com pequenos produtores, variedades locais e condições reais — o fator que mais limita a generalização.</a:t>
            </a:r>
            <a:endParaRPr lang="en-US" sz="1725" dirty="0"/>
          </a:p>
        </p:txBody>
      </p:sp>
      <p:sp>
        <p:nvSpPr>
          <p:cNvPr id="12" name="Shape 9"/>
          <p:cNvSpPr/>
          <p:nvPr/>
        </p:nvSpPr>
        <p:spPr>
          <a:xfrm>
            <a:off x="9305925" y="2916529"/>
            <a:ext cx="8220075" cy="1740098"/>
          </a:xfrm>
          <a:prstGeom prst="roundRect">
            <a:avLst>
              <a:gd name="adj" fmla="val 7663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96450" y="3307054"/>
            <a:ext cx="438150" cy="438150"/>
          </a:xfrm>
          <a:prstGeom prst="ellipse">
            <a:avLst/>
          </a:prstGeom>
          <a:ln w="9525">
            <a:solidFill>
              <a:srgbClr val="CAC3B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839325" y="3449929"/>
            <a:ext cx="152400" cy="152400"/>
          </a:xfrm>
          <a:prstGeom prst="ellipse">
            <a:avLst/>
          </a:prstGeom>
          <a:solidFill>
            <a:srgbClr val="C89344"/>
          </a:solidFill>
          <a:ln/>
        </p:spPr>
      </p:sp>
      <p:sp>
        <p:nvSpPr>
          <p:cNvPr id="15" name="Text 12"/>
          <p:cNvSpPr/>
          <p:nvPr/>
        </p:nvSpPr>
        <p:spPr>
          <a:xfrm>
            <a:off x="10363200" y="3268954"/>
            <a:ext cx="74495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Integração da câmera OV5640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0363200" y="3669004"/>
            <a:ext cx="6975443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Validar o pipeline de captura completo no ESP32-S3 e medir a latência com sensor real, fechando o ciclo embarcado.</a:t>
            </a:r>
            <a:endParaRPr lang="en-US" sz="1725" dirty="0"/>
          </a:p>
        </p:txBody>
      </p:sp>
      <p:sp>
        <p:nvSpPr>
          <p:cNvPr id="17" name="Shape 14"/>
          <p:cNvSpPr/>
          <p:nvPr/>
        </p:nvSpPr>
        <p:spPr>
          <a:xfrm>
            <a:off x="762000" y="4983367"/>
            <a:ext cx="8220075" cy="1740098"/>
          </a:xfrm>
          <a:prstGeom prst="roundRect">
            <a:avLst>
              <a:gd name="adj" fmla="val 7663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52525" y="5373892"/>
            <a:ext cx="438150" cy="438150"/>
          </a:xfrm>
          <a:prstGeom prst="ellipse">
            <a:avLst/>
          </a:prstGeom>
          <a:ln w="9525">
            <a:solidFill>
              <a:srgbClr val="CAC3B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95400" y="5516767"/>
            <a:ext cx="152400" cy="152400"/>
          </a:xfrm>
          <a:prstGeom prst="ellipse">
            <a:avLst/>
          </a:prstGeom>
          <a:solidFill>
            <a:srgbClr val="A84533"/>
          </a:solidFill>
          <a:ln/>
        </p:spPr>
      </p:sp>
      <p:sp>
        <p:nvSpPr>
          <p:cNvPr id="20" name="Text 17"/>
          <p:cNvSpPr/>
          <p:nvPr/>
        </p:nvSpPr>
        <p:spPr>
          <a:xfrm>
            <a:off x="1819275" y="5335792"/>
            <a:ext cx="74495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Validação com produtores reais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819275" y="5735842"/>
            <a:ext cx="6975443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Levar o sistema a propriedades agrícolas e avaliar usabilidade, acurácia em campo e adoção pelo pequeno produtor.</a:t>
            </a:r>
            <a:endParaRPr lang="en-US" sz="1725" dirty="0"/>
          </a:p>
        </p:txBody>
      </p:sp>
      <p:sp>
        <p:nvSpPr>
          <p:cNvPr id="22" name="Shape 19"/>
          <p:cNvSpPr/>
          <p:nvPr/>
        </p:nvSpPr>
        <p:spPr>
          <a:xfrm>
            <a:off x="9305925" y="4989686"/>
            <a:ext cx="8220075" cy="1740098"/>
          </a:xfrm>
          <a:prstGeom prst="roundRect">
            <a:avLst>
              <a:gd name="adj" fmla="val 7663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96450" y="5380211"/>
            <a:ext cx="438150" cy="438150"/>
          </a:xfrm>
          <a:prstGeom prst="ellipse">
            <a:avLst/>
          </a:prstGeom>
          <a:ln w="9525">
            <a:solidFill>
              <a:srgbClr val="CAC3B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839325" y="5523086"/>
            <a:ext cx="152400" cy="152400"/>
          </a:xfrm>
          <a:prstGeom prst="ellipse">
            <a:avLst/>
          </a:prstGeom>
          <a:solidFill>
            <a:srgbClr val="273F28"/>
          </a:solidFill>
          <a:ln/>
        </p:spPr>
      </p:sp>
      <p:sp>
        <p:nvSpPr>
          <p:cNvPr id="25" name="Text 22"/>
          <p:cNvSpPr/>
          <p:nvPr/>
        </p:nvSpPr>
        <p:spPr>
          <a:xfrm>
            <a:off x="10363200" y="5342111"/>
            <a:ext cx="74495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Expansão para outras culturas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0363200" y="5742161"/>
            <a:ext cx="6975443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Generalizar o pipeline para soja, milho ou café — outras culturas brasileiras de forte impacto econômico.</a:t>
            </a:r>
            <a:endParaRPr lang="en-US" sz="1725" dirty="0"/>
          </a:p>
        </p:txBody>
      </p:sp>
      <p:sp>
        <p:nvSpPr>
          <p:cNvPr id="27" name="Shape 24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8" name="Text 25"/>
          <p:cNvSpPr/>
          <p:nvPr/>
        </p:nvSpPr>
        <p:spPr>
          <a:xfrm>
            <a:off x="762000" y="9582150"/>
            <a:ext cx="31013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TRABALHOS FUTUROS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3240494" y="9582150"/>
            <a:ext cx="47140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DATASET BR · CÂMERA · CAMPO · CULTURAS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14350"/>
            <a:ext cx="381000" cy="381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95400" y="590550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6613832" y="595313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23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2000" y="3843338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DEFESA DE ARTIGO · PSI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762000" y="4395788"/>
            <a:ext cx="18440400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250" spc="-247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Obrigado</a:t>
            </a:r>
            <a:pPr algn="l" indent="0" marL="0">
              <a:lnSpc>
                <a:spcPct val="98000"/>
              </a:lnSpc>
              <a:buNone/>
            </a:pPr>
            <a:r>
              <a:rPr lang="en-US" sz="11250" spc="-247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.</a:t>
            </a:r>
            <a:endParaRPr lang="en-US" sz="11250" dirty="0"/>
          </a:p>
        </p:txBody>
      </p:sp>
      <p:sp>
        <p:nvSpPr>
          <p:cNvPr id="8" name="Text 4"/>
          <p:cNvSpPr/>
          <p:nvPr/>
        </p:nvSpPr>
        <p:spPr>
          <a:xfrm>
            <a:off x="762000" y="6044003"/>
            <a:ext cx="18440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i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Perguntas?</a:t>
            </a:r>
            <a:endParaRPr lang="en-US" sz="3150" dirty="0"/>
          </a:p>
        </p:txBody>
      </p:sp>
      <p:sp>
        <p:nvSpPr>
          <p:cNvPr id="9" name="Shape 5"/>
          <p:cNvSpPr/>
          <p:nvPr/>
        </p:nvSpPr>
        <p:spPr>
          <a:xfrm>
            <a:off x="762000" y="9344025"/>
            <a:ext cx="16764000" cy="9525"/>
          </a:xfrm>
          <a:prstGeom prst="rect">
            <a:avLst/>
          </a:prstGeom>
          <a:solidFill>
            <a:srgbClr val="ABBEA2">
              <a:alpha val="25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762000" y="9544050"/>
            <a:ext cx="55082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Namem Rachid Jaudy Neto · IFMT Cuiabá · Junho 2026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4593788" y="9563100"/>
            <a:ext cx="32254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GITHUB.COM/NAMEM/EXTENSAO2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2026-06-17T04:42:32Z</dcterms:created>
  <dcterms:modified xsi:type="dcterms:W3CDTF">2026-06-17T04:42:32Z</dcterms:modified>
</cp:coreProperties>
</file>