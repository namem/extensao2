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81000" cy="381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5400" y="590550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5180469" y="595313"/>
            <a:ext cx="25800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 · 2026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4095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ARTIGO · DISCIPLINA PSI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4686300"/>
            <a:ext cx="12651882" cy="3128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800" spc="-17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Sistema </a:t>
            </a:r>
            <a:pPr algn="l" indent="0" marL="0">
              <a:lnSpc>
                <a:spcPct val="104000"/>
              </a:lnSpc>
              <a:buNone/>
            </a:pPr>
            <a:r>
              <a:rPr lang="en-US" sz="7800" i="1" spc="-17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</a:t>
            </a:r>
            <a:pPr algn="l" indent="0" marL="0">
              <a:lnSpc>
                <a:spcPct val="104000"/>
              </a:lnSpc>
              <a:buNone/>
            </a:pPr>
            <a:r>
              <a:rPr lang="en-US" sz="7800" spc="-17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embarcado para detecção de doenças em tomateiro</a:t>
            </a:r>
            <a:endParaRPr lang="en-US" sz="7800" dirty="0"/>
          </a:p>
        </p:txBody>
      </p:sp>
      <p:sp>
        <p:nvSpPr>
          <p:cNvPr id="8" name="Shape 4"/>
          <p:cNvSpPr/>
          <p:nvPr/>
        </p:nvSpPr>
        <p:spPr>
          <a:xfrm>
            <a:off x="762000" y="93440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62000" y="9544050"/>
            <a:ext cx="26105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Namem Rachid Jaudy Neto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3127682" y="9563100"/>
            <a:ext cx="48381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JUNHO 2026 · GITHUB.COM/NAMEM/EXTENSAO2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ROTEIRO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10045794" cy="711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spc="-11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caminho da </a:t>
            </a:r>
            <a:pPr algn="l" indent="0" marL="0">
              <a:lnSpc>
                <a:spcPct val="104000"/>
              </a:lnSpc>
              <a:buNone/>
            </a:pPr>
            <a:r>
              <a:rPr lang="en-US" sz="5100" i="1" spc="-11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apresentação</a:t>
            </a:r>
            <a:endParaRPr lang="en-US" sz="5100" dirty="0"/>
          </a:p>
        </p:txBody>
      </p:sp>
      <p:sp>
        <p:nvSpPr>
          <p:cNvPr id="7" name="Shape 4"/>
          <p:cNvSpPr/>
          <p:nvPr/>
        </p:nvSpPr>
        <p:spPr>
          <a:xfrm>
            <a:off x="762000" y="3873996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3321546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01 · Problema e proposta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9525000" y="3874879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0" y="3322429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05 · Gap geográfico e colapso de classe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762000" y="4874121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4321671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02 · Como construímos o modelo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9525000" y="4875004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0" y="4322554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06 · Arquitetura: onde rodar o modelo?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762000" y="5874246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5321796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03 · A surpresa: gap laboratório–campo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9525000" y="5878873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8" name="Text 15"/>
          <p:cNvSpPr/>
          <p:nvPr/>
        </p:nvSpPr>
        <p:spPr>
          <a:xfrm>
            <a:off x="9525000" y="5326423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07 · Sistema em funcionamento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762000" y="6875254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6322804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04 · Os cinco experimentos</a:t>
            </a: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9525000" y="6878998"/>
            <a:ext cx="8001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2" name="Text 19"/>
          <p:cNvSpPr/>
          <p:nvPr/>
        </p:nvSpPr>
        <p:spPr>
          <a:xfrm>
            <a:off x="9525000" y="6326548"/>
            <a:ext cx="82410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08 · Conclusão e trabalhos futuros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4" name="Text 21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DEFESA PSI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924099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PROBLEMA E MOTIVAÇÃO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8299894" cy="1226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500" spc="-9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Quem cuida da lavoura </a:t>
            </a:r>
            <a:pPr algn="l" indent="0" marL="0">
              <a:lnSpc>
                <a:spcPct val="104000"/>
              </a:lnSpc>
              <a:buNone/>
            </a:pPr>
            <a:r>
              <a:rPr lang="en-US" sz="4500" i="1" spc="-9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está sozinho</a:t>
            </a:r>
            <a:endParaRPr lang="en-US" sz="4500" dirty="0"/>
          </a:p>
        </p:txBody>
      </p:sp>
      <p:sp>
        <p:nvSpPr>
          <p:cNvPr id="7" name="Shape 4"/>
          <p:cNvSpPr/>
          <p:nvPr/>
        </p:nvSpPr>
        <p:spPr>
          <a:xfrm>
            <a:off x="762000" y="4750891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Text 5"/>
          <p:cNvSpPr/>
          <p:nvPr/>
        </p:nvSpPr>
        <p:spPr>
          <a:xfrm>
            <a:off x="1162050" y="3741241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R$ 10 bi/ano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tomateiro é a 3ª maior produção mundial </a:t>
            </a:r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(FAO 2024)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762000" y="5579956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" name="Text 7"/>
          <p:cNvSpPr/>
          <p:nvPr/>
        </p:nvSpPr>
        <p:spPr>
          <a:xfrm>
            <a:off x="1162050" y="4970356"/>
            <a:ext cx="82528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Doenças foliares causam até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de perda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safra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62000" y="6811570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1162050" y="5801920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Diagnóstico depende de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agrônomos especializados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inacessíveis ao pequeno produtor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762000" y="8046611"/>
            <a:ext cx="840090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1162050" y="7036961"/>
            <a:ext cx="8252878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Conectividade instável no campo </a:t>
            </a:r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inviabiliza soluções 100% cloud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9924901" y="1429140"/>
            <a:ext cx="7600950" cy="8096250"/>
          </a:xfrm>
          <a:prstGeom prst="roundRect">
            <a:avLst>
              <a:gd name="adj" fmla="val 1754"/>
            </a:avLst>
          </a:prstGeom>
          <a:solidFill>
            <a:srgbClr val="142A17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10676" y="4439040"/>
            <a:ext cx="72923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IMPORTA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10410676" y="4972440"/>
            <a:ext cx="6828282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Um diagnóstico </a:t>
            </a:r>
            <a:pPr algn="l" indent="0" marL="0">
              <a:lnSpc>
                <a:spcPct val="150000"/>
              </a:lnSpc>
              <a:buNone/>
            </a:pPr>
            <a:r>
              <a:rPr lang="en-US" sz="270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campo, offline e ao alcance do bolso </a:t>
            </a:r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pode evitar perdas de safra e acelerar a resposta a surtos.</a:t>
            </a:r>
            <a:endParaRPr lang="en-US" sz="2700" dirty="0"/>
          </a:p>
        </p:txBody>
      </p:sp>
      <p:sp>
        <p:nvSpPr>
          <p:cNvPr id="18" name="Shape 1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Text 16"/>
          <p:cNvSpPr/>
          <p:nvPr/>
        </p:nvSpPr>
        <p:spPr>
          <a:xfrm>
            <a:off x="762000" y="9582150"/>
            <a:ext cx="1984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PROBLEMA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NOSSA PROPOSTA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43100"/>
            <a:ext cx="9683210" cy="17021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Um sistema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embarcado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que classifica 10 doenças do tomateiro — barato 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sem internet</a:t>
            </a:r>
            <a:endParaRPr lang="en-US" sz="4200" dirty="0"/>
          </a:p>
        </p:txBody>
      </p:sp>
      <p:sp>
        <p:nvSpPr>
          <p:cNvPr id="8" name="Shape 4"/>
          <p:cNvSpPr/>
          <p:nvPr/>
        </p:nvSpPr>
        <p:spPr>
          <a:xfrm>
            <a:off x="762000" y="4273897"/>
            <a:ext cx="5334000" cy="3388816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52525" y="4702522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</a:t>
            </a:r>
            <a:endParaRPr lang="en-US" sz="9600" dirty="0"/>
          </a:p>
        </p:txBody>
      </p:sp>
      <p:sp>
        <p:nvSpPr>
          <p:cNvPr id="10" name="Text 6"/>
          <p:cNvSpPr/>
          <p:nvPr/>
        </p:nvSpPr>
        <p:spPr>
          <a:xfrm>
            <a:off x="1152525" y="5933033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52525" y="6475958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 preciso</a:t>
            </a:r>
            <a:endParaRPr lang="en-US" sz="2550" dirty="0"/>
          </a:p>
        </p:txBody>
      </p:sp>
      <p:sp>
        <p:nvSpPr>
          <p:cNvPr id="12" name="Text 8"/>
          <p:cNvSpPr/>
          <p:nvPr/>
        </p:nvSpPr>
        <p:spPr>
          <a:xfrm>
            <a:off x="1152525" y="6914108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doenças foliares + folha saudável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477000" y="4273993"/>
            <a:ext cx="5334000" cy="3388816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67525" y="4702618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638</a:t>
            </a:r>
            <a:pPr algn="l" indent="0" marL="0">
              <a:lnSpc>
                <a:spcPct val="90000"/>
              </a:lnSpc>
              <a:buNone/>
            </a:pPr>
            <a:r>
              <a:rPr lang="en-US" sz="3450" spc="-28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KB</a:t>
            </a:r>
            <a:endParaRPr lang="en-US" sz="9600" dirty="0"/>
          </a:p>
        </p:txBody>
      </p:sp>
      <p:sp>
        <p:nvSpPr>
          <p:cNvPr id="15" name="Text 11"/>
          <p:cNvSpPr/>
          <p:nvPr/>
        </p:nvSpPr>
        <p:spPr>
          <a:xfrm>
            <a:off x="6867525" y="5933129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PEQUENO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867525" y="6476054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INT8 quantizado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6867525" y="6914204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Cabe num microcontrolador de baixo custo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12192000" y="4276062"/>
            <a:ext cx="5334000" cy="3388816"/>
          </a:xfrm>
          <a:prstGeom prst="roundRect">
            <a:avLst>
              <a:gd name="adj" fmla="val 449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582525" y="4704687"/>
            <a:ext cx="5008245" cy="1135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spc="-28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3450" spc="-28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9600" dirty="0"/>
          </a:p>
        </p:txBody>
      </p:sp>
      <p:sp>
        <p:nvSpPr>
          <p:cNvPr id="20" name="Text 16"/>
          <p:cNvSpPr/>
          <p:nvPr/>
        </p:nvSpPr>
        <p:spPr>
          <a:xfrm>
            <a:off x="12582525" y="5935198"/>
            <a:ext cx="500824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7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12582525" y="6478123"/>
            <a:ext cx="500824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Funciona offline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12582525" y="6916273"/>
            <a:ext cx="50082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dependência de nuvem nem internet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62000" y="9582150"/>
            <a:ext cx="1984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PROPOSTA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4593788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INTERNET · BAIXO CUSTO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7242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OBJETIVOS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242572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Objetivo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geral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762000" y="2763738"/>
            <a:ext cx="6781681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Sistema embarcado de baixo custo para detecção precoce de 10 doenças do tomateiro, integrando: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762000" y="3907629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23925" y="4050504"/>
            <a:ext cx="104775" cy="104775"/>
          </a:xfrm>
          <a:prstGeom prst="ellipse">
            <a:avLst/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1123950" y="3993354"/>
            <a:ext cx="28432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TINYML — ESP32-S3 N16R8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62000" y="4431504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3925" y="4574379"/>
            <a:ext cx="104775" cy="104775"/>
          </a:xfrm>
          <a:prstGeom prst="ellipse">
            <a:avLst/>
          </a:prstGeom>
          <a:solidFill>
            <a:srgbClr val="C89344"/>
          </a:solidFill>
          <a:ln/>
        </p:spPr>
      </p:sp>
      <p:sp>
        <p:nvSpPr>
          <p:cNvPr id="13" name="Text 10"/>
          <p:cNvSpPr/>
          <p:nvPr/>
        </p:nvSpPr>
        <p:spPr>
          <a:xfrm>
            <a:off x="1123950" y="4517229"/>
            <a:ext cx="30903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IOT — MQTT / HIVEMQ CLOUD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62000" y="4959136"/>
            <a:ext cx="6584156" cy="390525"/>
          </a:xfrm>
          <a:prstGeom prst="roundRect">
            <a:avLst>
              <a:gd name="adj" fmla="val 14634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925" y="5102011"/>
            <a:ext cx="104775" cy="104775"/>
          </a:xfrm>
          <a:prstGeom prst="ellipse">
            <a:avLst/>
          </a:prstGeom>
          <a:solidFill>
            <a:srgbClr val="A84533"/>
          </a:solidFill>
          <a:ln/>
        </p:spPr>
      </p:sp>
      <p:sp>
        <p:nvSpPr>
          <p:cNvPr id="16" name="Text 13"/>
          <p:cNvSpPr/>
          <p:nvPr/>
        </p:nvSpPr>
        <p:spPr>
          <a:xfrm>
            <a:off x="1123950" y="5044861"/>
            <a:ext cx="32140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MÓVEL — FLUTTER + DART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62000" y="5654461"/>
            <a:ext cx="724257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Código e modelos abertos · github.com/Namem/extensao2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51006" y="1428750"/>
            <a:ext cx="104223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CONTRIBUIÇÕES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8051006" y="2952750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8051006" y="2181225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150" dirty="0"/>
          </a:p>
        </p:txBody>
      </p:sp>
      <p:sp>
        <p:nvSpPr>
          <p:cNvPr id="21" name="Text 18"/>
          <p:cNvSpPr/>
          <p:nvPr/>
        </p:nvSpPr>
        <p:spPr>
          <a:xfrm>
            <a:off x="8736806" y="2271713"/>
            <a:ext cx="637163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classes, pipeline reproduzível </a:t>
            </a:r>
            <a:pPr algn="l" indent="0" marL="0">
              <a:buNone/>
            </a:pPr>
            <a:r>
              <a:rPr lang="en-US" sz="2100" i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(código aberto)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8051006" y="3972816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Text 20"/>
          <p:cNvSpPr/>
          <p:nvPr/>
        </p:nvSpPr>
        <p:spPr>
          <a:xfrm>
            <a:off x="8051006" y="3201291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150" dirty="0"/>
          </a:p>
        </p:txBody>
      </p:sp>
      <p:sp>
        <p:nvSpPr>
          <p:cNvPr id="24" name="Text 21"/>
          <p:cNvSpPr/>
          <p:nvPr/>
        </p:nvSpPr>
        <p:spPr>
          <a:xfrm>
            <a:off x="8736806" y="3291778"/>
            <a:ext cx="58058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ESP32-S3: 692 ms, modelo INT8 de 638 KB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8051006" y="4991991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6" name="Text 23"/>
          <p:cNvSpPr/>
          <p:nvPr/>
        </p:nvSpPr>
        <p:spPr>
          <a:xfrm>
            <a:off x="8051006" y="4220466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150" dirty="0"/>
          </a:p>
        </p:txBody>
      </p:sp>
      <p:sp>
        <p:nvSpPr>
          <p:cNvPr id="27" name="Text 24"/>
          <p:cNvSpPr/>
          <p:nvPr/>
        </p:nvSpPr>
        <p:spPr>
          <a:xfrm>
            <a:off x="8736806" y="4310954"/>
            <a:ext cx="61890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arquiteturas: Edge / Mobile on-device / Cloud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8051006" y="6014922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9" name="Text 26"/>
          <p:cNvSpPr/>
          <p:nvPr/>
        </p:nvSpPr>
        <p:spPr>
          <a:xfrm>
            <a:off x="8051006" y="5243397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④</a:t>
            </a:r>
            <a:endParaRPr lang="en-US" sz="3150" dirty="0"/>
          </a:p>
        </p:txBody>
      </p:sp>
      <p:sp>
        <p:nvSpPr>
          <p:cNvPr id="30" name="Text 27"/>
          <p:cNvSpPr/>
          <p:nvPr/>
        </p:nvSpPr>
        <p:spPr>
          <a:xfrm>
            <a:off x="8736806" y="5333885"/>
            <a:ext cx="66185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 em 3 datasets de campo independentes</a:t>
            </a:r>
            <a:endParaRPr lang="en-US" sz="2100" dirty="0"/>
          </a:p>
        </p:txBody>
      </p:sp>
      <p:sp>
        <p:nvSpPr>
          <p:cNvPr id="31" name="Shape 28"/>
          <p:cNvSpPr/>
          <p:nvPr/>
        </p:nvSpPr>
        <p:spPr>
          <a:xfrm>
            <a:off x="8051006" y="7034097"/>
            <a:ext cx="947484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8051006" y="6262572"/>
            <a:ext cx="5143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⑤</a:t>
            </a:r>
            <a:endParaRPr lang="en-US" sz="3150" dirty="0"/>
          </a:p>
        </p:txBody>
      </p:sp>
      <p:sp>
        <p:nvSpPr>
          <p:cNvPr id="33" name="Text 30"/>
          <p:cNvSpPr/>
          <p:nvPr/>
        </p:nvSpPr>
        <p:spPr>
          <a:xfrm>
            <a:off x="8736806" y="6353060"/>
            <a:ext cx="690254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experimentos documentados </a:t>
            </a:r>
            <a:pPr algn="l" indent="0" marL="0">
              <a:buNone/>
            </a:pPr>
            <a:r>
              <a:rPr lang="en-US" sz="2100" i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(incluindo negativos)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5" name="Text 32"/>
          <p:cNvSpPr/>
          <p:nvPr/>
        </p:nvSpPr>
        <p:spPr>
          <a:xfrm>
            <a:off x="762000" y="9582150"/>
            <a:ext cx="21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OBJETIVOS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6285369" y="9582150"/>
            <a:ext cx="136469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IFMT CUIABÁ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E PIPELINE DE TREINAMENTO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8272969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18 mil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</a:t>
            </a:r>
            <a:pPr algn="l" indent="0" marL="0">
              <a:lnSpc>
                <a:spcPct val="104000"/>
              </a:lnSpc>
              <a:buNone/>
            </a:pPr>
            <a:r>
              <a:rPr lang="en-US" sz="4200" i="1" spc="-9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89 mil </a:t>
            </a:r>
            <a:pPr algn="l" indent="0" marL="0">
              <a:lnSpc>
                <a:spcPct val="104000"/>
              </a:lnSpc>
              <a:buNone/>
            </a:pPr>
            <a:r>
              <a:rPr lang="en-US" sz="4200" spc="-9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imagens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762000" y="2916882"/>
            <a:ext cx="3699421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175" y="3193107"/>
            <a:ext cx="350357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1019175" y="3516957"/>
            <a:ext cx="350357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18.160 imgs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019175" y="3936057"/>
            <a:ext cx="35035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classes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4632871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12" name="Shape 9"/>
          <p:cNvSpPr/>
          <p:nvPr/>
        </p:nvSpPr>
        <p:spPr>
          <a:xfrm>
            <a:off x="5116711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73886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275" dirty="0"/>
          </a:p>
        </p:txBody>
      </p:sp>
      <p:sp>
        <p:nvSpPr>
          <p:cNvPr id="14" name="Text 11"/>
          <p:cNvSpPr/>
          <p:nvPr/>
        </p:nvSpPr>
        <p:spPr>
          <a:xfrm>
            <a:off x="5373886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70 / 15 / 15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373886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seed = 42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8987730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17" name="Shape 14"/>
          <p:cNvSpPr/>
          <p:nvPr/>
        </p:nvSpPr>
        <p:spPr>
          <a:xfrm>
            <a:off x="9471571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28746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AUGMENT.</a:t>
            </a:r>
            <a:endParaRPr lang="en-US" sz="1275" dirty="0"/>
          </a:p>
        </p:txBody>
      </p:sp>
      <p:sp>
        <p:nvSpPr>
          <p:cNvPr id="19" name="Text 16"/>
          <p:cNvSpPr/>
          <p:nvPr/>
        </p:nvSpPr>
        <p:spPr>
          <a:xfrm>
            <a:off x="9728746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offline × 6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728746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só treino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13342590" y="2916882"/>
            <a:ext cx="38859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22" name="Shape 19"/>
          <p:cNvSpPr/>
          <p:nvPr/>
        </p:nvSpPr>
        <p:spPr>
          <a:xfrm>
            <a:off x="13826430" y="2916882"/>
            <a:ext cx="3699570" cy="1562100"/>
          </a:xfrm>
          <a:prstGeom prst="roundRect">
            <a:avLst>
              <a:gd name="adj" fmla="val 7317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083605" y="3193107"/>
            <a:ext cx="35037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TREINO FINAL</a:t>
            </a:r>
            <a:endParaRPr lang="en-US" sz="1275" dirty="0"/>
          </a:p>
        </p:txBody>
      </p:sp>
      <p:sp>
        <p:nvSpPr>
          <p:cNvPr id="24" name="Text 21"/>
          <p:cNvSpPr/>
          <p:nvPr/>
        </p:nvSpPr>
        <p:spPr>
          <a:xfrm>
            <a:off x="14083605" y="3516957"/>
            <a:ext cx="350374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88.949 imgs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14083605" y="3936057"/>
            <a:ext cx="35037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augmentado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762000" y="4993723"/>
            <a:ext cx="8811369" cy="2666999"/>
          </a:xfrm>
          <a:prstGeom prst="roundRect">
            <a:avLst>
              <a:gd name="adj" fmla="val 5000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4425" y="5612848"/>
            <a:ext cx="5491311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1285875" y="5269948"/>
            <a:ext cx="531315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6605736" y="5612848"/>
            <a:ext cx="261520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0" name="Text 27"/>
          <p:cNvSpPr/>
          <p:nvPr/>
        </p:nvSpPr>
        <p:spPr>
          <a:xfrm>
            <a:off x="6698730" y="5269948"/>
            <a:ext cx="23507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IMAGENS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1114425" y="6227210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2" name="Text 29"/>
          <p:cNvSpPr/>
          <p:nvPr/>
        </p:nvSpPr>
        <p:spPr>
          <a:xfrm>
            <a:off x="1285875" y="5774773"/>
            <a:ext cx="53131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Treino </a:t>
            </a:r>
            <a:pPr algn="l" indent="0" marL="0">
              <a:buNone/>
            </a:pPr>
            <a:r>
              <a:rPr lang="en-US" sz="18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(augmentado)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6605736" y="6227210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4" name="Text 31"/>
          <p:cNvSpPr/>
          <p:nvPr/>
        </p:nvSpPr>
        <p:spPr>
          <a:xfrm>
            <a:off x="6698730" y="5774773"/>
            <a:ext cx="235076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88.949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114425" y="6827285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6" name="Text 33"/>
          <p:cNvSpPr/>
          <p:nvPr/>
        </p:nvSpPr>
        <p:spPr>
          <a:xfrm>
            <a:off x="1285875" y="6379610"/>
            <a:ext cx="531315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Validação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6605736" y="6827285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8" name="Text 35"/>
          <p:cNvSpPr/>
          <p:nvPr/>
        </p:nvSpPr>
        <p:spPr>
          <a:xfrm>
            <a:off x="6698730" y="6379610"/>
            <a:ext cx="23507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2.724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114425" y="7427359"/>
            <a:ext cx="5491311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0" name="Text 37"/>
          <p:cNvSpPr/>
          <p:nvPr/>
        </p:nvSpPr>
        <p:spPr>
          <a:xfrm>
            <a:off x="1285875" y="6979685"/>
            <a:ext cx="5313151" cy="34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</a:t>
            </a:r>
            <a:pPr algn="l" indent="0" marL="0">
              <a:buNone/>
            </a:pPr>
            <a:r>
              <a:rPr lang="en-US" sz="18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(nunca visto)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605736" y="7427359"/>
            <a:ext cx="261520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2" name="Text 39"/>
          <p:cNvSpPr/>
          <p:nvPr/>
        </p:nvSpPr>
        <p:spPr>
          <a:xfrm>
            <a:off x="6698730" y="6979685"/>
            <a:ext cx="2350764" cy="342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2.734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10182969" y="4996611"/>
            <a:ext cx="807717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37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ORIGEM DOS DADOS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10182969" y="5406186"/>
            <a:ext cx="756316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PlantVillage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80797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(Hughes &amp; Salathé, 2015)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~18 mil folhas de tomate em laboratório, 10 categorias. Licença CC BY 4.0.</a:t>
            </a:r>
            <a:endParaRPr lang="en-US" sz="2025" dirty="0"/>
          </a:p>
        </p:txBody>
      </p:sp>
      <p:sp>
        <p:nvSpPr>
          <p:cNvPr id="45" name="Shape 4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6" name="Text 43"/>
          <p:cNvSpPr/>
          <p:nvPr/>
        </p:nvSpPr>
        <p:spPr>
          <a:xfrm>
            <a:off x="762000" y="9582150"/>
            <a:ext cx="18609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DATASET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4819263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· CC BY 4.0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 10 CLASSES DO MODELO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Nove doenças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 a folha sã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39938"/>
            <a:ext cx="3154561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2839938"/>
            <a:ext cx="315456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" name="Shape 7"/>
          <p:cNvSpPr/>
          <p:nvPr/>
        </p:nvSpPr>
        <p:spPr>
          <a:xfrm>
            <a:off x="3907036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724207" y="2849463"/>
            <a:ext cx="3230148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12" name="Shape 9"/>
          <p:cNvSpPr/>
          <p:nvPr/>
        </p:nvSpPr>
        <p:spPr>
          <a:xfrm>
            <a:off x="762000" y="4744938"/>
            <a:ext cx="3154561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13" name="Shape 10"/>
          <p:cNvSpPr/>
          <p:nvPr/>
        </p:nvSpPr>
        <p:spPr>
          <a:xfrm>
            <a:off x="762000" y="5364063"/>
            <a:ext cx="315456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4744938"/>
            <a:ext cx="3154561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15" name="Shape 12"/>
          <p:cNvSpPr/>
          <p:nvPr/>
        </p:nvSpPr>
        <p:spPr>
          <a:xfrm>
            <a:off x="762000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Shape 13"/>
          <p:cNvSpPr/>
          <p:nvPr/>
        </p:nvSpPr>
        <p:spPr>
          <a:xfrm>
            <a:off x="3907036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942975" y="500211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D01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12664" y="4925913"/>
            <a:ext cx="108793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Requeima</a:t>
            </a:r>
            <a:endParaRPr lang="en-US" sz="1725" dirty="0"/>
          </a:p>
        </p:txBody>
      </p:sp>
      <p:sp>
        <p:nvSpPr>
          <p:cNvPr id="19" name="Shape 16"/>
          <p:cNvSpPr/>
          <p:nvPr/>
        </p:nvSpPr>
        <p:spPr>
          <a:xfrm>
            <a:off x="4164211" y="283993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20" name="Shape 17"/>
          <p:cNvSpPr/>
          <p:nvPr/>
        </p:nvSpPr>
        <p:spPr>
          <a:xfrm>
            <a:off x="4164211" y="283993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4164211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2" name="Shape 19"/>
          <p:cNvSpPr/>
          <p:nvPr/>
        </p:nvSpPr>
        <p:spPr>
          <a:xfrm>
            <a:off x="7309396" y="283993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Text 20"/>
          <p:cNvSpPr/>
          <p:nvPr/>
        </p:nvSpPr>
        <p:spPr>
          <a:xfrm>
            <a:off x="4126415" y="2849463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24" name="Shape 21"/>
          <p:cNvSpPr/>
          <p:nvPr/>
        </p:nvSpPr>
        <p:spPr>
          <a:xfrm>
            <a:off x="4164211" y="474493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25" name="Shape 22"/>
          <p:cNvSpPr/>
          <p:nvPr/>
        </p:nvSpPr>
        <p:spPr>
          <a:xfrm>
            <a:off x="4164211" y="536406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6" name="Shape 23"/>
          <p:cNvSpPr/>
          <p:nvPr/>
        </p:nvSpPr>
        <p:spPr>
          <a:xfrm>
            <a:off x="4164211" y="474493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27" name="Shape 24"/>
          <p:cNvSpPr/>
          <p:nvPr/>
        </p:nvSpPr>
        <p:spPr>
          <a:xfrm>
            <a:off x="4164211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Shape 25"/>
          <p:cNvSpPr/>
          <p:nvPr/>
        </p:nvSpPr>
        <p:spPr>
          <a:xfrm>
            <a:off x="7309396" y="474493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9" name="Text 26"/>
          <p:cNvSpPr/>
          <p:nvPr/>
        </p:nvSpPr>
        <p:spPr>
          <a:xfrm>
            <a:off x="4345186" y="500211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D02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714875" y="4925913"/>
            <a:ext cx="11546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Septoriose</a:t>
            </a:r>
            <a:endParaRPr lang="en-US" sz="1725" dirty="0"/>
          </a:p>
        </p:txBody>
      </p:sp>
      <p:sp>
        <p:nvSpPr>
          <p:cNvPr id="31" name="Shape 28"/>
          <p:cNvSpPr/>
          <p:nvPr/>
        </p:nvSpPr>
        <p:spPr>
          <a:xfrm>
            <a:off x="7566571" y="284032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32" name="Shape 29"/>
          <p:cNvSpPr/>
          <p:nvPr/>
        </p:nvSpPr>
        <p:spPr>
          <a:xfrm>
            <a:off x="7566571" y="284032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3" name="Shape 30"/>
          <p:cNvSpPr/>
          <p:nvPr/>
        </p:nvSpPr>
        <p:spPr>
          <a:xfrm>
            <a:off x="7566571" y="28403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4" name="Shape 31"/>
          <p:cNvSpPr/>
          <p:nvPr/>
        </p:nvSpPr>
        <p:spPr>
          <a:xfrm>
            <a:off x="10711755" y="28403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5" name="Text 32"/>
          <p:cNvSpPr/>
          <p:nvPr/>
        </p:nvSpPr>
        <p:spPr>
          <a:xfrm>
            <a:off x="7528775" y="2849853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7566571" y="474532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37" name="Shape 34"/>
          <p:cNvSpPr/>
          <p:nvPr/>
        </p:nvSpPr>
        <p:spPr>
          <a:xfrm>
            <a:off x="7566571" y="536445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8" name="Shape 35"/>
          <p:cNvSpPr/>
          <p:nvPr/>
        </p:nvSpPr>
        <p:spPr>
          <a:xfrm>
            <a:off x="7566571" y="474532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39" name="Shape 36"/>
          <p:cNvSpPr/>
          <p:nvPr/>
        </p:nvSpPr>
        <p:spPr>
          <a:xfrm>
            <a:off x="7566571" y="47453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0" name="Shape 37"/>
          <p:cNvSpPr/>
          <p:nvPr/>
        </p:nvSpPr>
        <p:spPr>
          <a:xfrm>
            <a:off x="10711755" y="47453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1" name="Text 38"/>
          <p:cNvSpPr/>
          <p:nvPr/>
        </p:nvSpPr>
        <p:spPr>
          <a:xfrm>
            <a:off x="7747546" y="500250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D03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117235" y="4926303"/>
            <a:ext cx="122009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Pinta-preta</a:t>
            </a:r>
            <a:endParaRPr lang="en-US" sz="1725" dirty="0"/>
          </a:p>
        </p:txBody>
      </p:sp>
      <p:sp>
        <p:nvSpPr>
          <p:cNvPr id="43" name="Shape 40"/>
          <p:cNvSpPr/>
          <p:nvPr/>
        </p:nvSpPr>
        <p:spPr>
          <a:xfrm>
            <a:off x="10968930" y="2840328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44" name="Shape 41"/>
          <p:cNvSpPr/>
          <p:nvPr/>
        </p:nvSpPr>
        <p:spPr>
          <a:xfrm>
            <a:off x="10968930" y="2840328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5" name="Shape 42"/>
          <p:cNvSpPr/>
          <p:nvPr/>
        </p:nvSpPr>
        <p:spPr>
          <a:xfrm>
            <a:off x="10968930" y="28403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6" name="Shape 43"/>
          <p:cNvSpPr/>
          <p:nvPr/>
        </p:nvSpPr>
        <p:spPr>
          <a:xfrm>
            <a:off x="14114115" y="28403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7" name="Text 44"/>
          <p:cNvSpPr/>
          <p:nvPr/>
        </p:nvSpPr>
        <p:spPr>
          <a:xfrm>
            <a:off x="10931135" y="2849853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48" name="Shape 45"/>
          <p:cNvSpPr/>
          <p:nvPr/>
        </p:nvSpPr>
        <p:spPr>
          <a:xfrm>
            <a:off x="10968930" y="4745328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49" name="Shape 46"/>
          <p:cNvSpPr/>
          <p:nvPr/>
        </p:nvSpPr>
        <p:spPr>
          <a:xfrm>
            <a:off x="10968930" y="5364453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0" name="Shape 47"/>
          <p:cNvSpPr/>
          <p:nvPr/>
        </p:nvSpPr>
        <p:spPr>
          <a:xfrm>
            <a:off x="10968930" y="4745328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51" name="Shape 48"/>
          <p:cNvSpPr/>
          <p:nvPr/>
        </p:nvSpPr>
        <p:spPr>
          <a:xfrm>
            <a:off x="10968930" y="47453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2" name="Shape 49"/>
          <p:cNvSpPr/>
          <p:nvPr/>
        </p:nvSpPr>
        <p:spPr>
          <a:xfrm>
            <a:off x="14114115" y="47453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3" name="Text 50"/>
          <p:cNvSpPr/>
          <p:nvPr/>
        </p:nvSpPr>
        <p:spPr>
          <a:xfrm>
            <a:off x="11149905" y="5002503"/>
            <a:ext cx="442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D03b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1610975" y="4926303"/>
            <a:ext cx="136222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Mancha-alvo</a:t>
            </a:r>
            <a:endParaRPr lang="en-US" sz="1725" dirty="0"/>
          </a:p>
        </p:txBody>
      </p:sp>
      <p:sp>
        <p:nvSpPr>
          <p:cNvPr id="55" name="Shape 52"/>
          <p:cNvSpPr/>
          <p:nvPr/>
        </p:nvSpPr>
        <p:spPr>
          <a:xfrm>
            <a:off x="14371290" y="2843215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56" name="Shape 53"/>
          <p:cNvSpPr/>
          <p:nvPr/>
        </p:nvSpPr>
        <p:spPr>
          <a:xfrm>
            <a:off x="14371290" y="2843215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7" name="Shape 54"/>
          <p:cNvSpPr/>
          <p:nvPr/>
        </p:nvSpPr>
        <p:spPr>
          <a:xfrm>
            <a:off x="14371290" y="28432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8" name="Shape 55"/>
          <p:cNvSpPr/>
          <p:nvPr/>
        </p:nvSpPr>
        <p:spPr>
          <a:xfrm>
            <a:off x="17516475" y="28432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9" name="Text 56"/>
          <p:cNvSpPr/>
          <p:nvPr/>
        </p:nvSpPr>
        <p:spPr>
          <a:xfrm>
            <a:off x="14333495" y="2852740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60" name="Shape 57"/>
          <p:cNvSpPr/>
          <p:nvPr/>
        </p:nvSpPr>
        <p:spPr>
          <a:xfrm>
            <a:off x="14371290" y="4748215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61" name="Shape 58"/>
          <p:cNvSpPr/>
          <p:nvPr/>
        </p:nvSpPr>
        <p:spPr>
          <a:xfrm>
            <a:off x="14371290" y="5367340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62" name="Shape 59"/>
          <p:cNvSpPr/>
          <p:nvPr/>
        </p:nvSpPr>
        <p:spPr>
          <a:xfrm>
            <a:off x="14371290" y="4748215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63" name="Shape 60"/>
          <p:cNvSpPr/>
          <p:nvPr/>
        </p:nvSpPr>
        <p:spPr>
          <a:xfrm>
            <a:off x="14371290" y="47482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64" name="Shape 61"/>
          <p:cNvSpPr/>
          <p:nvPr/>
        </p:nvSpPr>
        <p:spPr>
          <a:xfrm>
            <a:off x="17516475" y="47482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65" name="Text 62"/>
          <p:cNvSpPr/>
          <p:nvPr/>
        </p:nvSpPr>
        <p:spPr>
          <a:xfrm>
            <a:off x="14552265" y="5005390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D05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14921954" y="4929190"/>
            <a:ext cx="114642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Mofo foliar</a:t>
            </a:r>
            <a:endParaRPr lang="en-US" sz="1725" dirty="0"/>
          </a:p>
        </p:txBody>
      </p:sp>
      <p:sp>
        <p:nvSpPr>
          <p:cNvPr id="67" name="Shape 64"/>
          <p:cNvSpPr/>
          <p:nvPr/>
        </p:nvSpPr>
        <p:spPr>
          <a:xfrm>
            <a:off x="762000" y="5621628"/>
            <a:ext cx="3154561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68" name="Shape 65"/>
          <p:cNvSpPr/>
          <p:nvPr/>
        </p:nvSpPr>
        <p:spPr>
          <a:xfrm>
            <a:off x="762000" y="5621628"/>
            <a:ext cx="315456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69" name="Shape 66"/>
          <p:cNvSpPr/>
          <p:nvPr/>
        </p:nvSpPr>
        <p:spPr>
          <a:xfrm>
            <a:off x="762000" y="56216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0" name="Shape 67"/>
          <p:cNvSpPr/>
          <p:nvPr/>
        </p:nvSpPr>
        <p:spPr>
          <a:xfrm>
            <a:off x="3907036" y="5621628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1" name="Text 68"/>
          <p:cNvSpPr/>
          <p:nvPr/>
        </p:nvSpPr>
        <p:spPr>
          <a:xfrm>
            <a:off x="724207" y="5631153"/>
            <a:ext cx="3230148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762000" y="7526628"/>
            <a:ext cx="3154561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73" name="Shape 70"/>
          <p:cNvSpPr/>
          <p:nvPr/>
        </p:nvSpPr>
        <p:spPr>
          <a:xfrm>
            <a:off x="762000" y="8145753"/>
            <a:ext cx="3154561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4" name="Shape 71"/>
          <p:cNvSpPr/>
          <p:nvPr/>
        </p:nvSpPr>
        <p:spPr>
          <a:xfrm>
            <a:off x="762000" y="7526628"/>
            <a:ext cx="3154561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75" name="Shape 72"/>
          <p:cNvSpPr/>
          <p:nvPr/>
        </p:nvSpPr>
        <p:spPr>
          <a:xfrm>
            <a:off x="762000" y="75266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6" name="Shape 73"/>
          <p:cNvSpPr/>
          <p:nvPr/>
        </p:nvSpPr>
        <p:spPr>
          <a:xfrm>
            <a:off x="3907036" y="7526628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7" name="Text 74"/>
          <p:cNvSpPr/>
          <p:nvPr/>
        </p:nvSpPr>
        <p:spPr>
          <a:xfrm>
            <a:off x="942975" y="7783803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D06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1312664" y="7707603"/>
            <a:ext cx="127783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Vira-cabeça</a:t>
            </a:r>
            <a:endParaRPr lang="en-US" sz="1725" dirty="0"/>
          </a:p>
        </p:txBody>
      </p:sp>
      <p:sp>
        <p:nvSpPr>
          <p:cNvPr id="79" name="Shape 76"/>
          <p:cNvSpPr/>
          <p:nvPr/>
        </p:nvSpPr>
        <p:spPr>
          <a:xfrm>
            <a:off x="4164211" y="5624515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80" name="Shape 77"/>
          <p:cNvSpPr/>
          <p:nvPr/>
        </p:nvSpPr>
        <p:spPr>
          <a:xfrm>
            <a:off x="4164211" y="5624515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1" name="Shape 78"/>
          <p:cNvSpPr/>
          <p:nvPr/>
        </p:nvSpPr>
        <p:spPr>
          <a:xfrm>
            <a:off x="4164211" y="56245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2" name="Shape 79"/>
          <p:cNvSpPr/>
          <p:nvPr/>
        </p:nvSpPr>
        <p:spPr>
          <a:xfrm>
            <a:off x="7309396" y="56245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3" name="Text 80"/>
          <p:cNvSpPr/>
          <p:nvPr/>
        </p:nvSpPr>
        <p:spPr>
          <a:xfrm>
            <a:off x="4126415" y="5634040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4164211" y="7529515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85" name="Shape 82"/>
          <p:cNvSpPr/>
          <p:nvPr/>
        </p:nvSpPr>
        <p:spPr>
          <a:xfrm>
            <a:off x="4164211" y="8148640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6" name="Shape 83"/>
          <p:cNvSpPr/>
          <p:nvPr/>
        </p:nvSpPr>
        <p:spPr>
          <a:xfrm>
            <a:off x="4164211" y="7529515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87" name="Shape 84"/>
          <p:cNvSpPr/>
          <p:nvPr/>
        </p:nvSpPr>
        <p:spPr>
          <a:xfrm>
            <a:off x="4164211" y="75295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8" name="Shape 85"/>
          <p:cNvSpPr/>
          <p:nvPr/>
        </p:nvSpPr>
        <p:spPr>
          <a:xfrm>
            <a:off x="7309396" y="75295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9" name="Text 86"/>
          <p:cNvSpPr/>
          <p:nvPr/>
        </p:nvSpPr>
        <p:spPr>
          <a:xfrm>
            <a:off x="4345186" y="7786690"/>
            <a:ext cx="4420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D06b</a:t>
            </a:r>
            <a:endParaRPr lang="en-US" sz="1200" dirty="0"/>
          </a:p>
        </p:txBody>
      </p:sp>
      <p:sp>
        <p:nvSpPr>
          <p:cNvPr id="90" name="Text 87"/>
          <p:cNvSpPr/>
          <p:nvPr/>
        </p:nvSpPr>
        <p:spPr>
          <a:xfrm>
            <a:off x="4806255" y="7710490"/>
            <a:ext cx="8978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Mosaico</a:t>
            </a:r>
            <a:endParaRPr lang="en-US" sz="1725" dirty="0"/>
          </a:p>
        </p:txBody>
      </p:sp>
      <p:sp>
        <p:nvSpPr>
          <p:cNvPr id="91" name="Shape 88"/>
          <p:cNvSpPr/>
          <p:nvPr/>
        </p:nvSpPr>
        <p:spPr>
          <a:xfrm>
            <a:off x="7566571" y="5624515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92" name="Shape 89"/>
          <p:cNvSpPr/>
          <p:nvPr/>
        </p:nvSpPr>
        <p:spPr>
          <a:xfrm>
            <a:off x="7566571" y="5624515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3" name="Shape 90"/>
          <p:cNvSpPr/>
          <p:nvPr/>
        </p:nvSpPr>
        <p:spPr>
          <a:xfrm>
            <a:off x="7566571" y="56245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4" name="Shape 91"/>
          <p:cNvSpPr/>
          <p:nvPr/>
        </p:nvSpPr>
        <p:spPr>
          <a:xfrm>
            <a:off x="10711755" y="5624515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5" name="Text 92"/>
          <p:cNvSpPr/>
          <p:nvPr/>
        </p:nvSpPr>
        <p:spPr>
          <a:xfrm>
            <a:off x="7528775" y="5634040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96" name="Shape 93"/>
          <p:cNvSpPr/>
          <p:nvPr/>
        </p:nvSpPr>
        <p:spPr>
          <a:xfrm>
            <a:off x="7566571" y="7529515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97" name="Shape 94"/>
          <p:cNvSpPr/>
          <p:nvPr/>
        </p:nvSpPr>
        <p:spPr>
          <a:xfrm>
            <a:off x="7566571" y="8148640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8" name="Shape 95"/>
          <p:cNvSpPr/>
          <p:nvPr/>
        </p:nvSpPr>
        <p:spPr>
          <a:xfrm>
            <a:off x="7566571" y="7529515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99" name="Shape 96"/>
          <p:cNvSpPr/>
          <p:nvPr/>
        </p:nvSpPr>
        <p:spPr>
          <a:xfrm>
            <a:off x="7566571" y="75295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0" name="Shape 97"/>
          <p:cNvSpPr/>
          <p:nvPr/>
        </p:nvSpPr>
        <p:spPr>
          <a:xfrm>
            <a:off x="10711755" y="7529515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1" name="Text 98"/>
          <p:cNvSpPr/>
          <p:nvPr/>
        </p:nvSpPr>
        <p:spPr>
          <a:xfrm>
            <a:off x="7747546" y="7786690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D07</a:t>
            </a:r>
            <a:endParaRPr lang="en-US" sz="1200" dirty="0"/>
          </a:p>
        </p:txBody>
      </p:sp>
      <p:sp>
        <p:nvSpPr>
          <p:cNvPr id="102" name="Text 99"/>
          <p:cNvSpPr/>
          <p:nvPr/>
        </p:nvSpPr>
        <p:spPr>
          <a:xfrm>
            <a:off x="8117235" y="7710490"/>
            <a:ext cx="65856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Ácaro</a:t>
            </a:r>
            <a:endParaRPr lang="en-US" sz="1725" dirty="0"/>
          </a:p>
        </p:txBody>
      </p:sp>
      <p:sp>
        <p:nvSpPr>
          <p:cNvPr id="103" name="Shape 100"/>
          <p:cNvSpPr/>
          <p:nvPr/>
        </p:nvSpPr>
        <p:spPr>
          <a:xfrm>
            <a:off x="10968930" y="5630829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0968930" y="5630829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0968930" y="5630829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4114115" y="5630829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07" name="Text 104"/>
          <p:cNvSpPr/>
          <p:nvPr/>
        </p:nvSpPr>
        <p:spPr>
          <a:xfrm>
            <a:off x="10931135" y="5640354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108" name="Shape 105"/>
          <p:cNvSpPr/>
          <p:nvPr/>
        </p:nvSpPr>
        <p:spPr>
          <a:xfrm>
            <a:off x="10968930" y="7535829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109" name="Shape 106"/>
          <p:cNvSpPr/>
          <p:nvPr/>
        </p:nvSpPr>
        <p:spPr>
          <a:xfrm>
            <a:off x="10968930" y="8154954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0" name="Shape 107"/>
          <p:cNvSpPr/>
          <p:nvPr/>
        </p:nvSpPr>
        <p:spPr>
          <a:xfrm>
            <a:off x="10968930" y="7535829"/>
            <a:ext cx="3154710" cy="28575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111" name="Shape 108"/>
          <p:cNvSpPr/>
          <p:nvPr/>
        </p:nvSpPr>
        <p:spPr>
          <a:xfrm>
            <a:off x="10968930" y="7535829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2" name="Shape 109"/>
          <p:cNvSpPr/>
          <p:nvPr/>
        </p:nvSpPr>
        <p:spPr>
          <a:xfrm>
            <a:off x="14114115" y="7535829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3" name="Text 110"/>
          <p:cNvSpPr/>
          <p:nvPr/>
        </p:nvSpPr>
        <p:spPr>
          <a:xfrm>
            <a:off x="11149905" y="7793004"/>
            <a:ext cx="3506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D09</a:t>
            </a:r>
            <a:endParaRPr lang="en-US" sz="1200" dirty="0"/>
          </a:p>
        </p:txBody>
      </p:sp>
      <p:sp>
        <p:nvSpPr>
          <p:cNvPr id="114" name="Text 111"/>
          <p:cNvSpPr/>
          <p:nvPr/>
        </p:nvSpPr>
        <p:spPr>
          <a:xfrm>
            <a:off x="11519595" y="7716804"/>
            <a:ext cx="141729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 bact.</a:t>
            </a:r>
            <a:endParaRPr lang="en-US" sz="1725" dirty="0"/>
          </a:p>
        </p:txBody>
      </p:sp>
      <p:sp>
        <p:nvSpPr>
          <p:cNvPr id="115" name="Shape 112"/>
          <p:cNvSpPr/>
          <p:nvPr/>
        </p:nvSpPr>
        <p:spPr>
          <a:xfrm>
            <a:off x="14371290" y="5630829"/>
            <a:ext cx="3154710" cy="1905000"/>
          </a:xfrm>
          <a:prstGeom prst="roundRect">
            <a:avLst>
              <a:gd name="adj" fmla="val 6000"/>
            </a:avLst>
          </a:prstGeom>
          <a:solidFill>
            <a:srgbClr val="2C3F2C"/>
          </a:solidFill>
          <a:ln/>
        </p:spPr>
      </p:sp>
      <p:sp>
        <p:nvSpPr>
          <p:cNvPr id="116" name="Shape 113"/>
          <p:cNvSpPr/>
          <p:nvPr/>
        </p:nvSpPr>
        <p:spPr>
          <a:xfrm>
            <a:off x="14371290" y="5630829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7" name="Shape 114"/>
          <p:cNvSpPr/>
          <p:nvPr/>
        </p:nvSpPr>
        <p:spPr>
          <a:xfrm>
            <a:off x="14371290" y="5630829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8" name="Shape 115"/>
          <p:cNvSpPr/>
          <p:nvPr/>
        </p:nvSpPr>
        <p:spPr>
          <a:xfrm>
            <a:off x="17516475" y="5630829"/>
            <a:ext cx="9525" cy="19050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9" name="Text 116"/>
          <p:cNvSpPr/>
          <p:nvPr/>
        </p:nvSpPr>
        <p:spPr>
          <a:xfrm>
            <a:off x="14333495" y="5640354"/>
            <a:ext cx="3230301" cy="1933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spc="135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IMAGEM · FOLHA</a:t>
            </a:r>
            <a:endParaRPr lang="en-US" sz="1125" dirty="0"/>
          </a:p>
        </p:txBody>
      </p:sp>
      <p:sp>
        <p:nvSpPr>
          <p:cNvPr id="120" name="Shape 117"/>
          <p:cNvSpPr/>
          <p:nvPr/>
        </p:nvSpPr>
        <p:spPr>
          <a:xfrm>
            <a:off x="14371290" y="7535829"/>
            <a:ext cx="3154710" cy="628650"/>
          </a:xfrm>
          <a:prstGeom prst="rect">
            <a:avLst/>
          </a:prstGeom>
          <a:solidFill>
            <a:srgbClr val="FAF5EC"/>
          </a:solidFill>
          <a:ln/>
        </p:spPr>
      </p:sp>
      <p:sp>
        <p:nvSpPr>
          <p:cNvPr id="121" name="Shape 118"/>
          <p:cNvSpPr/>
          <p:nvPr/>
        </p:nvSpPr>
        <p:spPr>
          <a:xfrm>
            <a:off x="14371290" y="8154954"/>
            <a:ext cx="315471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4371290" y="7535829"/>
            <a:ext cx="3154710" cy="28575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123" name="Shape 120"/>
          <p:cNvSpPr/>
          <p:nvPr/>
        </p:nvSpPr>
        <p:spPr>
          <a:xfrm>
            <a:off x="14371290" y="7535829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4" name="Shape 121"/>
          <p:cNvSpPr/>
          <p:nvPr/>
        </p:nvSpPr>
        <p:spPr>
          <a:xfrm>
            <a:off x="17516475" y="7535829"/>
            <a:ext cx="9525" cy="6286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5" name="Text 122"/>
          <p:cNvSpPr/>
          <p:nvPr/>
        </p:nvSpPr>
        <p:spPr>
          <a:xfrm>
            <a:off x="14552265" y="7793004"/>
            <a:ext cx="1677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200" dirty="0"/>
          </a:p>
        </p:txBody>
      </p:sp>
      <p:sp>
        <p:nvSpPr>
          <p:cNvPr id="126" name="Text 123"/>
          <p:cNvSpPr/>
          <p:nvPr/>
        </p:nvSpPr>
        <p:spPr>
          <a:xfrm>
            <a:off x="14739045" y="7716804"/>
            <a:ext cx="99729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Saudável</a:t>
            </a:r>
            <a:endParaRPr lang="en-US" sz="1725" dirty="0"/>
          </a:p>
        </p:txBody>
      </p:sp>
      <p:sp>
        <p:nvSpPr>
          <p:cNvPr id="127" name="Shape 1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8" name="Text 125"/>
          <p:cNvSpPr/>
          <p:nvPr/>
        </p:nvSpPr>
        <p:spPr>
          <a:xfrm>
            <a:off x="762000" y="9582150"/>
            <a:ext cx="18609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CLASSES</a:t>
            </a:r>
            <a:endParaRPr lang="en-US" sz="1200" dirty="0"/>
          </a:p>
        </p:txBody>
      </p:sp>
      <p:sp>
        <p:nvSpPr>
          <p:cNvPr id="129" name="Text 126"/>
          <p:cNvSpPr/>
          <p:nvPr/>
        </p:nvSpPr>
        <p:spPr>
          <a:xfrm>
            <a:off x="15270361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DOENÇAS + SAUDÁVEL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QUE MOBILENETV2?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único que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cabe no chip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782788"/>
            <a:ext cx="16764000" cy="3810000"/>
          </a:xfrm>
          <a:prstGeom prst="roundRect">
            <a:avLst>
              <a:gd name="adj" fmla="val 3500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425" y="3344763"/>
            <a:ext cx="4104382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85875" y="3001863"/>
            <a:ext cx="388461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18807" y="3344763"/>
            <a:ext cx="319161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5390257" y="3001863"/>
            <a:ext cx="29444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PARÂMETROS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410426" y="3344763"/>
            <a:ext cx="26954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8581876" y="3001863"/>
            <a:ext cx="24333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FLOAT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105852" y="3344763"/>
            <a:ext cx="26954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1277302" y="3001863"/>
            <a:ext cx="243338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INT8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3801279" y="3344763"/>
            <a:ext cx="337229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13972729" y="3001863"/>
            <a:ext cx="3130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4425" y="39686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9" name="Text 16"/>
          <p:cNvSpPr/>
          <p:nvPr/>
        </p:nvSpPr>
        <p:spPr>
          <a:xfrm>
            <a:off x="1285875" y="3506688"/>
            <a:ext cx="388461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ResNet-50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218807" y="39686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5390257" y="3506688"/>
            <a:ext cx="29444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 M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410426" y="39686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8581876" y="3506688"/>
            <a:ext cx="24333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&gt;100 MB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1105852" y="39686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11277302" y="3506688"/>
            <a:ext cx="243338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&gt;25 MB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3801279" y="39686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13972729" y="3506688"/>
            <a:ext cx="313056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114425" y="45782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1285875" y="4121051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EfficientNet-B0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5218807" y="45782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5390257" y="4121051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5,3 M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410426" y="45782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8581876" y="41210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~20 MB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11105852" y="45782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11277302" y="41210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 MB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13801279" y="45782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13972729" y="4121051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114425" y="5187851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285875" y="4730651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 (mínimo)*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5218807" y="5187851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5390257" y="4730651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~6 M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410426" y="51878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8581876" y="47306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&gt;10 MB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1105852" y="5187851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11277302" y="4730651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&gt;6 MB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3801279" y="5187851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13972729" y="4730651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Detector*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1114425" y="5787926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9" name="Text 46"/>
          <p:cNvSpPr/>
          <p:nvPr/>
        </p:nvSpPr>
        <p:spPr>
          <a:xfrm>
            <a:off x="1285875" y="5340251"/>
            <a:ext cx="38846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MobileNetV1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5218807" y="5787926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1" name="Text 48"/>
          <p:cNvSpPr/>
          <p:nvPr/>
        </p:nvSpPr>
        <p:spPr>
          <a:xfrm>
            <a:off x="5390257" y="5340251"/>
            <a:ext cx="29444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4,2 M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8410426" y="57879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3" name="Text 50"/>
          <p:cNvSpPr/>
          <p:nvPr/>
        </p:nvSpPr>
        <p:spPr>
          <a:xfrm>
            <a:off x="8581876" y="5340251"/>
            <a:ext cx="24333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~3 MB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1105852" y="57879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5" name="Text 52"/>
          <p:cNvSpPr/>
          <p:nvPr/>
        </p:nvSpPr>
        <p:spPr>
          <a:xfrm>
            <a:off x="11277302" y="5340251"/>
            <a:ext cx="24333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~1,1 MB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3801279" y="5787926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7" name="Text 54"/>
          <p:cNvSpPr/>
          <p:nvPr/>
        </p:nvSpPr>
        <p:spPr>
          <a:xfrm>
            <a:off x="13972729" y="5340251"/>
            <a:ext cx="31305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8934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△ v1 inferior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114425" y="5797451"/>
            <a:ext cx="4104382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1114425" y="6397526"/>
            <a:ext cx="4104382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0" name="Text 57"/>
          <p:cNvSpPr/>
          <p:nvPr/>
        </p:nvSpPr>
        <p:spPr>
          <a:xfrm>
            <a:off x="1285875" y="5940326"/>
            <a:ext cx="3884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MobileNetV2 ★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5218807" y="5797451"/>
            <a:ext cx="319161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5218807" y="6397526"/>
            <a:ext cx="319161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3" name="Text 60"/>
          <p:cNvSpPr/>
          <p:nvPr/>
        </p:nvSpPr>
        <p:spPr>
          <a:xfrm>
            <a:off x="5390257" y="5940326"/>
            <a:ext cx="29444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3,4 M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8410426" y="5797451"/>
            <a:ext cx="26954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8410426" y="63975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6" name="Text 63"/>
          <p:cNvSpPr/>
          <p:nvPr/>
        </p:nvSpPr>
        <p:spPr>
          <a:xfrm>
            <a:off x="8581876" y="5940326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&lt;4 MB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1105852" y="5797451"/>
            <a:ext cx="26954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11105852" y="6397526"/>
            <a:ext cx="26954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9" name="Text 66"/>
          <p:cNvSpPr/>
          <p:nvPr/>
        </p:nvSpPr>
        <p:spPr>
          <a:xfrm>
            <a:off x="11277302" y="5940326"/>
            <a:ext cx="243338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638 KB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13801279" y="5797451"/>
            <a:ext cx="337229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13801279" y="6397526"/>
            <a:ext cx="337229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2" name="Text 69"/>
          <p:cNvSpPr/>
          <p:nvPr/>
        </p:nvSpPr>
        <p:spPr>
          <a:xfrm>
            <a:off x="13972729" y="5940326"/>
            <a:ext cx="31305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Escolhido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762000" y="7033765"/>
            <a:ext cx="13774293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Depthwise separable convolutions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8–9× menos FLOPs · Alpha 0,35 · entrada 96×96×3 · Arena ESP32-S3: 200 KB / 512 KB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(39%)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14611350" y="6883189"/>
            <a:ext cx="300209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*YOLO é detector de objetos (bounding box) — incompatível com classificação de folha única.</a:t>
            </a:r>
            <a:endParaRPr lang="en-US" sz="1275" dirty="0"/>
          </a:p>
        </p:txBody>
      </p:sp>
      <p:sp>
        <p:nvSpPr>
          <p:cNvPr id="75" name="Shape 7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76" name="Text 73"/>
          <p:cNvSpPr/>
          <p:nvPr/>
        </p:nvSpPr>
        <p:spPr>
          <a:xfrm>
            <a:off x="762000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ARQUITETURAS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47066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MOBILENETV2 · INT8 638 KB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TREINAMENTO E QUANTIZAÇÃO · DO FLOAT AO INT8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866900"/>
            <a:ext cx="7091139" cy="513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spc="-7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preço de </a:t>
            </a:r>
            <a:pPr algn="l" indent="0" marL="0">
              <a:lnSpc>
                <a:spcPct val="104000"/>
              </a:lnSpc>
              <a:buNone/>
            </a:pPr>
            <a:r>
              <a:rPr lang="en-US" sz="3600" i="1" spc="-7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caber no chip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62000" y="2570857"/>
            <a:ext cx="9001571" cy="5829300"/>
          </a:xfrm>
          <a:prstGeom prst="roundRect">
            <a:avLst>
              <a:gd name="adj" fmla="val 2614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19175" y="2770882"/>
            <a:ext cx="874183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Ceres </a:t>
            </a:r>
            <a:pPr algn="l" indent="0" marL="0">
              <a:buNone/>
            </a:pPr>
            <a:r>
              <a:rPr lang="en-US" sz="1500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 MobileNetV2 96×96 INT8 — curvas de treinamento </a:t>
            </a:r>
            <a:pPr algn="l" indent="0" marL="0">
              <a:buNone/>
            </a:pPr>
            <a:r>
              <a:rPr lang="en-US" sz="1500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(Exp B)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175" y="3066157"/>
            <a:ext cx="8487221" cy="49434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9175" y="8066782"/>
            <a:ext cx="963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treino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154585" y="8066782"/>
            <a:ext cx="12382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854428" y="8066782"/>
            <a:ext cx="291716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set: </a:t>
            </a:r>
            <a:pPr algn="l" indent="0" marL="0">
              <a:buNone/>
            </a:pPr>
            <a:r>
              <a:rPr lang="en-US" sz="1200" b="1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98,13% </a:t>
            </a:r>
            <a:pPr algn="l" indent="0" marL="0">
              <a:buNone/>
            </a:pPr>
            <a:r>
              <a:rPr lang="en-US" sz="12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 2.734 imgs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0144571" y="2570857"/>
            <a:ext cx="7381429" cy="1816001"/>
          </a:xfrm>
          <a:prstGeom prst="roundRect">
            <a:avLst>
              <a:gd name="adj" fmla="val 7343"/>
            </a:avLst>
          </a:prstGeom>
          <a:solidFill>
            <a:srgbClr val="FAF5EC"/>
          </a:solidFill>
          <a:ln/>
        </p:spPr>
      </p:sp>
      <p:sp>
        <p:nvSpPr>
          <p:cNvPr id="14" name="Shape 10"/>
          <p:cNvSpPr/>
          <p:nvPr/>
        </p:nvSpPr>
        <p:spPr>
          <a:xfrm>
            <a:off x="10144571" y="4377333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Shape 11"/>
          <p:cNvSpPr/>
          <p:nvPr/>
        </p:nvSpPr>
        <p:spPr>
          <a:xfrm>
            <a:off x="10144571" y="2570857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Shape 12"/>
          <p:cNvSpPr/>
          <p:nvPr/>
        </p:nvSpPr>
        <p:spPr>
          <a:xfrm>
            <a:off x="10144571" y="2570857"/>
            <a:ext cx="47625" cy="1816001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17" name="Shape 13"/>
          <p:cNvSpPr/>
          <p:nvPr/>
        </p:nvSpPr>
        <p:spPr>
          <a:xfrm>
            <a:off x="17516475" y="2570857"/>
            <a:ext cx="9525" cy="181600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8" name="Text 14"/>
          <p:cNvSpPr/>
          <p:nvPr/>
        </p:nvSpPr>
        <p:spPr>
          <a:xfrm>
            <a:off x="10516046" y="3170188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62,0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19" name="Text 15"/>
          <p:cNvSpPr/>
          <p:nvPr/>
        </p:nvSpPr>
        <p:spPr>
          <a:xfrm>
            <a:off x="12782996" y="3178820"/>
            <a:ext cx="302979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sem calibração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12782996" y="3569345"/>
            <a:ext cx="302979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Impulse · 1ª tentativa</a:t>
            </a:r>
            <a:endParaRPr lang="en-US" sz="1275" dirty="0"/>
          </a:p>
        </p:txBody>
      </p:sp>
      <p:sp>
        <p:nvSpPr>
          <p:cNvPr id="21" name="Shape 17"/>
          <p:cNvSpPr/>
          <p:nvPr/>
        </p:nvSpPr>
        <p:spPr>
          <a:xfrm>
            <a:off x="10144571" y="4577358"/>
            <a:ext cx="7381429" cy="1816150"/>
          </a:xfrm>
          <a:prstGeom prst="roundRect">
            <a:avLst>
              <a:gd name="adj" fmla="val 7342"/>
            </a:avLst>
          </a:prstGeom>
          <a:solidFill>
            <a:srgbClr val="FAF5EC"/>
          </a:solidFill>
          <a:ln/>
        </p:spPr>
      </p:sp>
      <p:sp>
        <p:nvSpPr>
          <p:cNvPr id="22" name="Shape 18"/>
          <p:cNvSpPr/>
          <p:nvPr/>
        </p:nvSpPr>
        <p:spPr>
          <a:xfrm>
            <a:off x="10144571" y="6383982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Shape 19"/>
          <p:cNvSpPr/>
          <p:nvPr/>
        </p:nvSpPr>
        <p:spPr>
          <a:xfrm>
            <a:off x="10144571" y="4577358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4" name="Shape 20"/>
          <p:cNvSpPr/>
          <p:nvPr/>
        </p:nvSpPr>
        <p:spPr>
          <a:xfrm>
            <a:off x="10144571" y="4577358"/>
            <a:ext cx="47625" cy="1816150"/>
          </a:xfrm>
          <a:prstGeom prst="rect">
            <a:avLst/>
          </a:prstGeom>
          <a:solidFill>
            <a:srgbClr val="807973"/>
          </a:solidFill>
          <a:ln/>
        </p:spPr>
      </p:sp>
      <p:sp>
        <p:nvSpPr>
          <p:cNvPr id="25" name="Shape 21"/>
          <p:cNvSpPr/>
          <p:nvPr/>
        </p:nvSpPr>
        <p:spPr>
          <a:xfrm>
            <a:off x="17516475" y="4577358"/>
            <a:ext cx="9525" cy="18161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6" name="Text 22"/>
          <p:cNvSpPr/>
          <p:nvPr/>
        </p:nvSpPr>
        <p:spPr>
          <a:xfrm>
            <a:off x="10516046" y="5176838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98,13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27" name="Text 23"/>
          <p:cNvSpPr/>
          <p:nvPr/>
        </p:nvSpPr>
        <p:spPr>
          <a:xfrm>
            <a:off x="12782996" y="5185321"/>
            <a:ext cx="269320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float </a:t>
            </a:r>
            <a:pPr algn="l" indent="0" marL="0">
              <a:buNone/>
            </a:pPr>
            <a:r>
              <a:rPr lang="en-US" sz="1875" b="1" dirty="0">
                <a:solidFill>
                  <a:srgbClr val="80797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(teto)</a:t>
            </a:r>
            <a:endParaRPr lang="en-US" sz="1875" dirty="0"/>
          </a:p>
        </p:txBody>
      </p:sp>
      <p:sp>
        <p:nvSpPr>
          <p:cNvPr id="28" name="Text 24"/>
          <p:cNvSpPr/>
          <p:nvPr/>
        </p:nvSpPr>
        <p:spPr>
          <a:xfrm>
            <a:off x="12782996" y="5575846"/>
            <a:ext cx="2693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TensorFlow local · só PC</a:t>
            </a:r>
            <a:endParaRPr lang="en-US" sz="1275" dirty="0"/>
          </a:p>
        </p:txBody>
      </p:sp>
      <p:sp>
        <p:nvSpPr>
          <p:cNvPr id="29" name="Shape 25"/>
          <p:cNvSpPr/>
          <p:nvPr/>
        </p:nvSpPr>
        <p:spPr>
          <a:xfrm>
            <a:off x="10144571" y="6584007"/>
            <a:ext cx="7381429" cy="1816150"/>
          </a:xfrm>
          <a:prstGeom prst="roundRect">
            <a:avLst>
              <a:gd name="adj" fmla="val 7342"/>
            </a:avLst>
          </a:prstGeom>
          <a:solidFill>
            <a:srgbClr val="5E884F">
              <a:alpha val="8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10144571" y="8390632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1" name="Shape 27"/>
          <p:cNvSpPr/>
          <p:nvPr/>
        </p:nvSpPr>
        <p:spPr>
          <a:xfrm>
            <a:off x="10144571" y="6584007"/>
            <a:ext cx="738142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Shape 28"/>
          <p:cNvSpPr/>
          <p:nvPr/>
        </p:nvSpPr>
        <p:spPr>
          <a:xfrm>
            <a:off x="10144571" y="6584007"/>
            <a:ext cx="47625" cy="181615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33" name="Shape 29"/>
          <p:cNvSpPr/>
          <p:nvPr/>
        </p:nvSpPr>
        <p:spPr>
          <a:xfrm>
            <a:off x="17516475" y="6584007"/>
            <a:ext cx="9525" cy="18161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4" name="Text 30"/>
          <p:cNvSpPr/>
          <p:nvPr/>
        </p:nvSpPr>
        <p:spPr>
          <a:xfrm>
            <a:off x="10516046" y="7183487"/>
            <a:ext cx="2200275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400" spc="-162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</a:t>
            </a:r>
            <a:pPr algn="l" indent="0" marL="0">
              <a:lnSpc>
                <a:spcPct val="90000"/>
              </a:lnSpc>
              <a:buNone/>
            </a:pPr>
            <a:r>
              <a:rPr lang="en-US" sz="2250" spc="-162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5400" dirty="0"/>
          </a:p>
        </p:txBody>
      </p:sp>
      <p:sp>
        <p:nvSpPr>
          <p:cNvPr id="35" name="Text 31"/>
          <p:cNvSpPr/>
          <p:nvPr/>
        </p:nvSpPr>
        <p:spPr>
          <a:xfrm>
            <a:off x="12782996" y="7191970"/>
            <a:ext cx="347869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embarcado</a:t>
            </a:r>
            <a:endParaRPr lang="en-US" sz="1875" dirty="0"/>
          </a:p>
        </p:txBody>
      </p:sp>
      <p:sp>
        <p:nvSpPr>
          <p:cNvPr id="36" name="Text 32"/>
          <p:cNvSpPr/>
          <p:nvPr/>
        </p:nvSpPr>
        <p:spPr>
          <a:xfrm>
            <a:off x="12782996" y="7582495"/>
            <a:ext cx="34786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3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TF + calibração · vai pro ESP32</a:t>
            </a:r>
            <a:endParaRPr lang="en-US" sz="1275" dirty="0"/>
          </a:p>
        </p:txBody>
      </p:sp>
      <p:sp>
        <p:nvSpPr>
          <p:cNvPr id="37" name="Shape 33"/>
          <p:cNvSpPr/>
          <p:nvPr/>
        </p:nvSpPr>
        <p:spPr>
          <a:xfrm>
            <a:off x="762000" y="8633400"/>
            <a:ext cx="16764000" cy="771525"/>
          </a:xfrm>
          <a:prstGeom prst="roundRect">
            <a:avLst>
              <a:gd name="adj" fmla="val 17284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133475" y="8852475"/>
            <a:ext cx="176231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Calibração: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perda de quantização caiu de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30,5 → 2,37 pp.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embarcado entrega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95,76%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— não os 98,13% do float que só roda no PC.</a:t>
            </a:r>
            <a:endParaRPr lang="en-US" sz="1875" dirty="0"/>
          </a:p>
        </p:txBody>
      </p:sp>
      <p:sp>
        <p:nvSpPr>
          <p:cNvPr id="39" name="Shape 3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40" name="Text 36"/>
          <p:cNvSpPr/>
          <p:nvPr/>
        </p:nvSpPr>
        <p:spPr>
          <a:xfrm>
            <a:off x="762000" y="9582150"/>
            <a:ext cx="235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QUANTIZAÇÃO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5390763" y="9582150"/>
            <a:ext cx="23487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−30,5 PP → −2,37 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88534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MATRIZ DE CONFUSÃO · INT8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681972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95,76% </a:t>
            </a:r>
            <a:pPr algn="l" indent="0" marL="0">
              <a:lnSpc>
                <a:spcPct val="104000"/>
              </a:lnSpc>
              <a:buNone/>
            </a:pPr>
            <a:r>
              <a:rPr lang="en-US" sz="3900" i="1" spc="-86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laboratório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62000" y="2553444"/>
            <a:ext cx="885348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Test set: 2.618 / 2.734 corretas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3096757"/>
            <a:ext cx="8048625" cy="4953000"/>
          </a:xfrm>
          <a:prstGeom prst="roundRect">
            <a:avLst>
              <a:gd name="adj" fmla="val 2308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796" y="3106282"/>
            <a:ext cx="8271034" cy="4972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MATRIZ 10 × 10 · HEATMAP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477375" y="3153163"/>
            <a:ext cx="804862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9477375" y="2248288"/>
            <a:ext cx="3086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CLASSES QUASE PERFEITAS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12607677" y="2191138"/>
            <a:ext cx="8905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≥ 99%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9477375" y="2629288"/>
            <a:ext cx="88534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Mancha bacteriana · vira-cabeça · saudável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9477375" y="4260946"/>
            <a:ext cx="804862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9477375" y="3384646"/>
            <a:ext cx="25519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CLASSE MAIS DIFÍCIL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12086481" y="3356071"/>
            <a:ext cx="6427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83%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477375" y="3737071"/>
            <a:ext cx="88534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Pinta-preta — confundida com septoriose, requeima e mancha bacteriana.</a:t>
            </a:r>
            <a:endParaRPr lang="en-US" sz="1875" dirty="0"/>
          </a:p>
        </p:txBody>
      </p:sp>
      <p:sp>
        <p:nvSpPr>
          <p:cNvPr id="18" name="Shape 15"/>
          <p:cNvSpPr/>
          <p:nvPr/>
        </p:nvSpPr>
        <p:spPr>
          <a:xfrm>
            <a:off x="9477375" y="5648381"/>
            <a:ext cx="8048625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Text 16"/>
          <p:cNvSpPr/>
          <p:nvPr/>
        </p:nvSpPr>
        <p:spPr>
          <a:xfrm>
            <a:off x="9477375" y="4467281"/>
            <a:ext cx="88534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C893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PADRÃO</a:t>
            </a:r>
            <a:endParaRPr lang="en-US" sz="1425" dirty="0"/>
          </a:p>
        </p:txBody>
      </p:sp>
      <p:sp>
        <p:nvSpPr>
          <p:cNvPr id="20" name="Text 17"/>
          <p:cNvSpPr/>
          <p:nvPr/>
        </p:nvSpPr>
        <p:spPr>
          <a:xfrm>
            <a:off x="9477375" y="4791131"/>
            <a:ext cx="829008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Doenças com lesões necróticas (manchas escuras) tendem a se confundir entre si.</a:t>
            </a:r>
            <a:endParaRPr lang="en-US" sz="1875" dirty="0"/>
          </a:p>
        </p:txBody>
      </p:sp>
      <p:sp>
        <p:nvSpPr>
          <p:cNvPr id="21" name="Shape 18"/>
          <p:cNvSpPr/>
          <p:nvPr/>
        </p:nvSpPr>
        <p:spPr>
          <a:xfrm>
            <a:off x="9477375" y="5943656"/>
            <a:ext cx="8048625" cy="876300"/>
          </a:xfrm>
          <a:prstGeom prst="roundRect">
            <a:avLst>
              <a:gd name="adj" fmla="val 15217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48850" y="6238931"/>
            <a:ext cx="80362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Resultado em laboratório: muito bom. Mas e em </a:t>
            </a:r>
            <a:pPr algn="l" indent="0" marL="0">
              <a:buNone/>
            </a:pPr>
            <a:r>
              <a:rPr lang="en-US" sz="22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campo real?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4" name="Text 21"/>
          <p:cNvSpPr/>
          <p:nvPr/>
        </p:nvSpPr>
        <p:spPr>
          <a:xfrm>
            <a:off x="762000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MATRIZ DE CONFUSÃO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368165" y="9582150"/>
            <a:ext cx="34736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PINTA-PRETA = CLASSE DIFÍCIL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SURPRESA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05096"/>
            <a:ext cx="8568467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spc="-96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gap </a:t>
            </a:r>
            <a:pPr algn="l" indent="0" marL="0">
              <a:lnSpc>
                <a:spcPct val="104000"/>
              </a:lnSpc>
              <a:buNone/>
            </a:pPr>
            <a:r>
              <a:rPr lang="en-US" sz="4350" i="1" spc="-96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laboratório–campo</a:t>
            </a:r>
            <a:endParaRPr lang="en-US" sz="4350" dirty="0"/>
          </a:p>
        </p:txBody>
      </p:sp>
      <p:sp>
        <p:nvSpPr>
          <p:cNvPr id="8" name="Text 4"/>
          <p:cNvSpPr/>
          <p:nvPr/>
        </p:nvSpPr>
        <p:spPr>
          <a:xfrm>
            <a:off x="575719" y="3051072"/>
            <a:ext cx="40981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50" spc="-337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95,76</a:t>
            </a:r>
            <a:pPr algn="ctr" indent="0" marL="0">
              <a:lnSpc>
                <a:spcPct val="90000"/>
              </a:lnSpc>
              <a:buNone/>
            </a:pPr>
            <a:r>
              <a:rPr lang="en-US" sz="3600" spc="-337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1250" dirty="0"/>
          </a:p>
        </p:txBody>
      </p:sp>
      <p:sp>
        <p:nvSpPr>
          <p:cNvPr id="9" name="Text 5"/>
          <p:cNvSpPr/>
          <p:nvPr/>
        </p:nvSpPr>
        <p:spPr>
          <a:xfrm>
            <a:off x="575719" y="4413147"/>
            <a:ext cx="40981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240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· LAB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01964" y="3485980"/>
            <a:ext cx="390525" cy="790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4500" dirty="0"/>
          </a:p>
        </p:txBody>
      </p:sp>
      <p:sp>
        <p:nvSpPr>
          <p:cNvPr id="11" name="Text 7"/>
          <p:cNvSpPr/>
          <p:nvPr/>
        </p:nvSpPr>
        <p:spPr>
          <a:xfrm>
            <a:off x="5644359" y="3052592"/>
            <a:ext cx="409817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250" spc="-337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20,77</a:t>
            </a:r>
            <a:pPr algn="ctr" indent="0" marL="0">
              <a:lnSpc>
                <a:spcPct val="90000"/>
              </a:lnSpc>
              <a:buNone/>
            </a:pPr>
            <a:r>
              <a:rPr lang="en-US" sz="3600" spc="-337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1250" dirty="0"/>
          </a:p>
        </p:txBody>
      </p:sp>
      <p:sp>
        <p:nvSpPr>
          <p:cNvPr id="12" name="Text 8"/>
          <p:cNvSpPr/>
          <p:nvPr/>
        </p:nvSpPr>
        <p:spPr>
          <a:xfrm>
            <a:off x="5644359" y="4414667"/>
            <a:ext cx="409817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240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 · CAMPO REAL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10356354" y="3194498"/>
            <a:ext cx="9525" cy="1344811"/>
          </a:xfrm>
          <a:prstGeom prst="rect">
            <a:avLst/>
          </a:prstGeom>
          <a:solidFill>
            <a:srgbClr val="ABBEA2">
              <a:alpha val="3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0842129" y="3194498"/>
            <a:ext cx="2733645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spc="-19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−75</a:t>
            </a:r>
            <a:pPr algn="l" indent="0" marL="0">
              <a:lnSpc>
                <a:spcPct val="90000"/>
              </a:lnSpc>
              <a:buNone/>
            </a:pPr>
            <a:r>
              <a:rPr lang="en-US" sz="2550" spc="-19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pp</a:t>
            </a:r>
            <a:endParaRPr lang="en-US" sz="6600" dirty="0"/>
          </a:p>
        </p:txBody>
      </p:sp>
      <p:sp>
        <p:nvSpPr>
          <p:cNvPr id="15" name="Text 11"/>
          <p:cNvSpPr/>
          <p:nvPr/>
        </p:nvSpPr>
        <p:spPr>
          <a:xfrm>
            <a:off x="10842129" y="4044009"/>
            <a:ext cx="2561332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uma única transição de domínio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762000" y="5286129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NÃO ESTAMOS SOZINHOS · A LITERATURA JÁ DESCREVIA</a:t>
            </a:r>
            <a:endParaRPr lang="en-US" sz="1575" dirty="0"/>
          </a:p>
        </p:txBody>
      </p:sp>
      <p:sp>
        <p:nvSpPr>
          <p:cNvPr id="17" name="Shape 13"/>
          <p:cNvSpPr/>
          <p:nvPr/>
        </p:nvSpPr>
        <p:spPr>
          <a:xfrm>
            <a:off x="762000" y="5781429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57275" y="6038604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99,35%</a:t>
            </a:r>
            <a:endParaRPr lang="en-US" sz="3450" dirty="0"/>
          </a:p>
        </p:txBody>
      </p:sp>
      <p:sp>
        <p:nvSpPr>
          <p:cNvPr id="19" name="Text 15"/>
          <p:cNvSpPr/>
          <p:nvPr/>
        </p:nvSpPr>
        <p:spPr>
          <a:xfrm>
            <a:off x="1057275" y="6572004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Mohanty (2016)</a:t>
            </a:r>
            <a:endParaRPr lang="en-US" sz="1725" dirty="0"/>
          </a:p>
        </p:txBody>
      </p:sp>
      <p:sp>
        <p:nvSpPr>
          <p:cNvPr id="20" name="Text 16"/>
          <p:cNvSpPr/>
          <p:nvPr/>
        </p:nvSpPr>
        <p:spPr>
          <a:xfrm>
            <a:off x="1057275" y="6895854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 — lab</a:t>
            </a:r>
            <a:endParaRPr lang="en-US" sz="1275" dirty="0"/>
          </a:p>
        </p:txBody>
      </p:sp>
      <p:sp>
        <p:nvSpPr>
          <p:cNvPr id="21" name="Shape 17"/>
          <p:cNvSpPr/>
          <p:nvPr/>
        </p:nvSpPr>
        <p:spPr>
          <a:xfrm>
            <a:off x="6457950" y="5781429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53225" y="6038604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~31%</a:t>
            </a:r>
            <a:endParaRPr lang="en-US" sz="3450" dirty="0"/>
          </a:p>
        </p:txBody>
      </p:sp>
      <p:sp>
        <p:nvSpPr>
          <p:cNvPr id="23" name="Text 19"/>
          <p:cNvSpPr/>
          <p:nvPr/>
        </p:nvSpPr>
        <p:spPr>
          <a:xfrm>
            <a:off x="6753225" y="6572004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Singh (2020)</a:t>
            </a:r>
            <a:endParaRPr lang="en-US" sz="1725" dirty="0"/>
          </a:p>
        </p:txBody>
      </p:sp>
      <p:sp>
        <p:nvSpPr>
          <p:cNvPr id="24" name="Text 20"/>
          <p:cNvSpPr/>
          <p:nvPr/>
        </p:nvSpPr>
        <p:spPr>
          <a:xfrm>
            <a:off x="6753225" y="6895854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 — sem adaptação</a:t>
            </a:r>
            <a:endParaRPr lang="en-US" sz="1275" dirty="0"/>
          </a:p>
        </p:txBody>
      </p:sp>
      <p:sp>
        <p:nvSpPr>
          <p:cNvPr id="25" name="Shape 21"/>
          <p:cNvSpPr/>
          <p:nvPr/>
        </p:nvSpPr>
        <p:spPr>
          <a:xfrm>
            <a:off x="12153900" y="5781429"/>
            <a:ext cx="5372100" cy="1581150"/>
          </a:xfrm>
          <a:prstGeom prst="roundRect">
            <a:avLst>
              <a:gd name="adj" fmla="val 72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2449175" y="6038604"/>
            <a:ext cx="525970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spc="-6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−29 a −58 pp</a:t>
            </a:r>
            <a:endParaRPr lang="en-US" sz="3450" dirty="0"/>
          </a:p>
        </p:txBody>
      </p:sp>
      <p:sp>
        <p:nvSpPr>
          <p:cNvPr id="27" name="Text 23"/>
          <p:cNvSpPr/>
          <p:nvPr/>
        </p:nvSpPr>
        <p:spPr>
          <a:xfrm>
            <a:off x="12449175" y="6572004"/>
            <a:ext cx="52597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Xu (2024)</a:t>
            </a:r>
            <a:endParaRPr lang="en-US" sz="1725" dirty="0"/>
          </a:p>
        </p:txBody>
      </p:sp>
      <p:sp>
        <p:nvSpPr>
          <p:cNvPr id="28" name="Text 24"/>
          <p:cNvSpPr/>
          <p:nvPr/>
        </p:nvSpPr>
        <p:spPr>
          <a:xfrm>
            <a:off x="12449175" y="6895854"/>
            <a:ext cx="525970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51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revisão de 42 trabalhos</a:t>
            </a:r>
            <a:endParaRPr lang="en-US" sz="1275" dirty="0"/>
          </a:p>
        </p:txBody>
      </p:sp>
      <p:sp>
        <p:nvSpPr>
          <p:cNvPr id="29" name="Shape 25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62000" y="9582150"/>
            <a:ext cx="26051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GAP LAB–CAMPO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4029879" y="9582150"/>
            <a:ext cx="38457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FENÔMENO ESTRUTURAL DOCUMENTADO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JORNADA PARA FECHAR O GAP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Cinco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experimentos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763738"/>
            <a:ext cx="16764000" cy="3743325"/>
          </a:xfrm>
          <a:prstGeom prst="roundRect">
            <a:avLst>
              <a:gd name="adj" fmla="val 3562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3306663"/>
            <a:ext cx="1137493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28725" y="2963763"/>
            <a:ext cx="8707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2194768" y="3306663"/>
            <a:ext cx="658638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2366218" y="2963763"/>
            <a:ext cx="6441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ESTRATÉGIA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81157" y="3306663"/>
            <a:ext cx="2511326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8952607" y="2963763"/>
            <a:ext cx="22446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PLANTVILLAGE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1292483" y="3306663"/>
            <a:ext cx="2098179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1463933" y="2963763"/>
            <a:ext cx="183147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PLANTDOC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3390662" y="3306663"/>
            <a:ext cx="200426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13562112" y="2963763"/>
            <a:ext cx="173756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TOMATO-V.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5394930" y="3306663"/>
            <a:ext cx="1835795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Text 16"/>
          <p:cNvSpPr/>
          <p:nvPr/>
        </p:nvSpPr>
        <p:spPr>
          <a:xfrm>
            <a:off x="15566380" y="2963763"/>
            <a:ext cx="15690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DAFFODIL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1057275" y="3921026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1228725" y="3468588"/>
            <a:ext cx="87079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194768" y="3921026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2366218" y="3468588"/>
            <a:ext cx="64410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 Impulse — sem calibração INT8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781157" y="3921026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8952607" y="3468588"/>
            <a:ext cx="224462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62,0%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1292483" y="3921026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11463933" y="3468588"/>
            <a:ext cx="183147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3390662" y="3921026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13562112" y="3468588"/>
            <a:ext cx="173756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5394930" y="3921026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15566380" y="3468588"/>
            <a:ext cx="156909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057275" y="45211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1228725" y="4073426"/>
            <a:ext cx="8707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2194768" y="45211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2366218" y="4073426"/>
            <a:ext cx="64410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 local — calibração INT8 (50 batches)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8781157" y="45211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8952607" y="4073426"/>
            <a:ext cx="22446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95,76%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1292483" y="45211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1463933" y="4073426"/>
            <a:ext cx="18314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20,77%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13390662" y="45211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13562112" y="4073426"/>
            <a:ext cx="173756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15394930" y="45211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15566380" y="4073426"/>
            <a:ext cx="15690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057275" y="51307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1228725" y="46735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2194768" y="51307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2366218" y="46735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B + augmentation sintética (rembg)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8781157" y="51307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9" name="Text 46"/>
          <p:cNvSpPr/>
          <p:nvPr/>
        </p:nvSpPr>
        <p:spPr>
          <a:xfrm>
            <a:off x="8952607" y="46735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96,20%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1292483" y="51307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1" name="Text 48"/>
          <p:cNvSpPr/>
          <p:nvPr/>
        </p:nvSpPr>
        <p:spPr>
          <a:xfrm>
            <a:off x="11463933" y="46735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20,24% ✕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3390662" y="51307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3" name="Text 50"/>
          <p:cNvSpPr/>
          <p:nvPr/>
        </p:nvSpPr>
        <p:spPr>
          <a:xfrm>
            <a:off x="13562112" y="46735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5394930" y="51307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5" name="Text 52"/>
          <p:cNvSpPr/>
          <p:nvPr/>
        </p:nvSpPr>
        <p:spPr>
          <a:xfrm>
            <a:off x="15566380" y="46735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057275" y="57403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7" name="Text 54"/>
          <p:cNvSpPr/>
          <p:nvPr/>
        </p:nvSpPr>
        <p:spPr>
          <a:xfrm>
            <a:off x="1228725" y="52831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2194768" y="57403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59" name="Text 56"/>
          <p:cNvSpPr/>
          <p:nvPr/>
        </p:nvSpPr>
        <p:spPr>
          <a:xfrm>
            <a:off x="2366218" y="52831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B + fine-tuning com dados reais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8781157" y="57403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1" name="Text 58"/>
          <p:cNvSpPr/>
          <p:nvPr/>
        </p:nvSpPr>
        <p:spPr>
          <a:xfrm>
            <a:off x="8952607" y="52831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97,55%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11292483" y="57403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3" name="Text 60"/>
          <p:cNvSpPr/>
          <p:nvPr/>
        </p:nvSpPr>
        <p:spPr>
          <a:xfrm>
            <a:off x="11463933" y="52831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 ✓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3390662" y="57403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5" name="Text 62"/>
          <p:cNvSpPr/>
          <p:nvPr/>
        </p:nvSpPr>
        <p:spPr>
          <a:xfrm>
            <a:off x="13562112" y="52831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11,52%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394930" y="57403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67" name="Text 64"/>
          <p:cNvSpPr/>
          <p:nvPr/>
        </p:nvSpPr>
        <p:spPr>
          <a:xfrm>
            <a:off x="15566380" y="52831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1057275" y="5749826"/>
            <a:ext cx="1137493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69" name="Shape 66"/>
          <p:cNvSpPr/>
          <p:nvPr/>
        </p:nvSpPr>
        <p:spPr>
          <a:xfrm>
            <a:off x="1057275" y="6349901"/>
            <a:ext cx="1137493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0" name="Text 67"/>
          <p:cNvSpPr/>
          <p:nvPr/>
        </p:nvSpPr>
        <p:spPr>
          <a:xfrm>
            <a:off x="1228725" y="5892701"/>
            <a:ext cx="87079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 ★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2194768" y="5749826"/>
            <a:ext cx="658638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2194768" y="6349901"/>
            <a:ext cx="658638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3" name="Text 70"/>
          <p:cNvSpPr/>
          <p:nvPr/>
        </p:nvSpPr>
        <p:spPr>
          <a:xfrm>
            <a:off x="2366218" y="5892701"/>
            <a:ext cx="64410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highlight>
                  <a:srgbClr val="ECF1EA"/>
                </a:highlight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 D + Focal Loss γ=2 ← </a:t>
            </a:r>
            <a:pPr algn="l" indent="0" marL="0"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8781157" y="5749826"/>
            <a:ext cx="2511326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8781157" y="6349901"/>
            <a:ext cx="2511326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6" name="Text 73"/>
          <p:cNvSpPr/>
          <p:nvPr/>
        </p:nvSpPr>
        <p:spPr>
          <a:xfrm>
            <a:off x="8952607" y="5892701"/>
            <a:ext cx="224462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98,43%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1292483" y="5749826"/>
            <a:ext cx="2098179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11292483" y="6349901"/>
            <a:ext cx="2098179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79" name="Text 76"/>
          <p:cNvSpPr/>
          <p:nvPr/>
        </p:nvSpPr>
        <p:spPr>
          <a:xfrm>
            <a:off x="11463933" y="5892701"/>
            <a:ext cx="183147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 ✓</a:t>
            </a:r>
            <a:endParaRPr lang="en-US" sz="1800" dirty="0"/>
          </a:p>
        </p:txBody>
      </p:sp>
      <p:sp>
        <p:nvSpPr>
          <p:cNvPr id="80" name="Shape 77"/>
          <p:cNvSpPr/>
          <p:nvPr/>
        </p:nvSpPr>
        <p:spPr>
          <a:xfrm>
            <a:off x="13390662" y="5749826"/>
            <a:ext cx="2004268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13390662" y="6349901"/>
            <a:ext cx="200426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82" name="Text 79"/>
          <p:cNvSpPr/>
          <p:nvPr/>
        </p:nvSpPr>
        <p:spPr>
          <a:xfrm>
            <a:off x="13562112" y="5892701"/>
            <a:ext cx="173756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27,65%</a:t>
            </a:r>
            <a:endParaRPr lang="en-US" sz="1800" dirty="0"/>
          </a:p>
        </p:txBody>
      </p:sp>
      <p:sp>
        <p:nvSpPr>
          <p:cNvPr id="83" name="Shape 80"/>
          <p:cNvSpPr/>
          <p:nvPr/>
        </p:nvSpPr>
        <p:spPr>
          <a:xfrm>
            <a:off x="15394930" y="5749826"/>
            <a:ext cx="1835795" cy="609600"/>
          </a:xfrm>
          <a:prstGeom prst="rect">
            <a:avLst/>
          </a:prstGeom>
          <a:solidFill>
            <a:srgbClr val="5E884F">
              <a:alpha val="12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15394930" y="6349901"/>
            <a:ext cx="18357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85" name="Text 82"/>
          <p:cNvSpPr/>
          <p:nvPr/>
        </p:nvSpPr>
        <p:spPr>
          <a:xfrm>
            <a:off x="15566380" y="5892701"/>
            <a:ext cx="156909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18,13%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762000" y="6830913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019175" y="7049988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−30,5 pp</a:t>
            </a:r>
            <a:endParaRPr lang="en-US" sz="3000" dirty="0"/>
          </a:p>
        </p:txBody>
      </p:sp>
      <p:sp>
        <p:nvSpPr>
          <p:cNvPr id="88" name="Text 85"/>
          <p:cNvSpPr/>
          <p:nvPr/>
        </p:nvSpPr>
        <p:spPr>
          <a:xfrm>
            <a:off x="1019175" y="7573863"/>
            <a:ext cx="14966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calibração</a:t>
            </a:r>
            <a:endParaRPr lang="en-US" sz="1650" dirty="0"/>
          </a:p>
        </p:txBody>
      </p:sp>
      <p:sp>
        <p:nvSpPr>
          <p:cNvPr id="89" name="Shape 86"/>
          <p:cNvSpPr/>
          <p:nvPr/>
        </p:nvSpPr>
        <p:spPr>
          <a:xfrm>
            <a:off x="5010150" y="6831304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267325" y="7050379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+34 pp</a:t>
            </a:r>
            <a:endParaRPr lang="en-US" sz="3000" dirty="0"/>
          </a:p>
        </p:txBody>
      </p:sp>
      <p:sp>
        <p:nvSpPr>
          <p:cNvPr id="91" name="Text 88"/>
          <p:cNvSpPr/>
          <p:nvPr/>
        </p:nvSpPr>
        <p:spPr>
          <a:xfrm>
            <a:off x="5267325" y="7574254"/>
            <a:ext cx="22270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 calibração (Exp B)</a:t>
            </a:r>
            <a:endParaRPr lang="en-US" sz="1650" dirty="0"/>
          </a:p>
        </p:txBody>
      </p:sp>
      <p:sp>
        <p:nvSpPr>
          <p:cNvPr id="92" name="Shape 89"/>
          <p:cNvSpPr/>
          <p:nvPr/>
        </p:nvSpPr>
        <p:spPr>
          <a:xfrm>
            <a:off x="9258300" y="6834193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9515475" y="7053268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+10 pp</a:t>
            </a:r>
            <a:endParaRPr lang="en-US" sz="3000" dirty="0"/>
          </a:p>
        </p:txBody>
      </p:sp>
      <p:sp>
        <p:nvSpPr>
          <p:cNvPr id="94" name="Text 91"/>
          <p:cNvSpPr/>
          <p:nvPr/>
        </p:nvSpPr>
        <p:spPr>
          <a:xfrm>
            <a:off x="9515475" y="7577143"/>
            <a:ext cx="17926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 campo (Exp D)</a:t>
            </a:r>
            <a:endParaRPr lang="en-US" sz="1650" dirty="0"/>
          </a:p>
        </p:txBody>
      </p:sp>
      <p:sp>
        <p:nvSpPr>
          <p:cNvPr id="95" name="Shape 92"/>
          <p:cNvSpPr/>
          <p:nvPr/>
        </p:nvSpPr>
        <p:spPr>
          <a:xfrm>
            <a:off x="13506450" y="6840511"/>
            <a:ext cx="4019550" cy="1243905"/>
          </a:xfrm>
          <a:prstGeom prst="roundRect">
            <a:avLst>
              <a:gd name="adj" fmla="val 7657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13763625" y="7059586"/>
            <a:ext cx="385572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spc="-60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+16 pp</a:t>
            </a:r>
            <a:endParaRPr lang="en-US" sz="3000" dirty="0"/>
          </a:p>
        </p:txBody>
      </p:sp>
      <p:sp>
        <p:nvSpPr>
          <p:cNvPr id="97" name="Text 94"/>
          <p:cNvSpPr/>
          <p:nvPr/>
        </p:nvSpPr>
        <p:spPr>
          <a:xfrm>
            <a:off x="13763625" y="7583461"/>
            <a:ext cx="176376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Focal Loss (Exp E)</a:t>
            </a:r>
            <a:endParaRPr lang="en-US" sz="1650" dirty="0"/>
          </a:p>
        </p:txBody>
      </p:sp>
      <p:sp>
        <p:nvSpPr>
          <p:cNvPr id="98" name="Shape 95"/>
          <p:cNvSpPr/>
          <p:nvPr/>
        </p:nvSpPr>
        <p:spPr>
          <a:xfrm>
            <a:off x="762000" y="9372600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9" name="Text 96"/>
          <p:cNvSpPr/>
          <p:nvPr/>
        </p:nvSpPr>
        <p:spPr>
          <a:xfrm>
            <a:off x="762000" y="9577388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EXPERIMENTOS</a:t>
            </a:r>
            <a:endParaRPr lang="en-US" sz="1200" dirty="0"/>
          </a:p>
        </p:txBody>
      </p:sp>
      <p:sp>
        <p:nvSpPr>
          <p:cNvPr id="100" name="Text 97"/>
          <p:cNvSpPr/>
          <p:nvPr/>
        </p:nvSpPr>
        <p:spPr>
          <a:xfrm>
            <a:off x="15009316" y="9572625"/>
            <a:ext cx="27683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 E ★ = MODELO FINAL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C · RESULTADO NEGATIVO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469813" cy="1107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Síntese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não substitui 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dado de campo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762000" y="3412927"/>
            <a:ext cx="8884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TENTAMOS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5213152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4089202"/>
            <a:ext cx="98301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HIPÓTESE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762000" y="4374952"/>
            <a:ext cx="831951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o modelo aprende o fundo cinza, trocar o fundo deveria forçá-lo a olhar a lesão.</a:t>
            </a:r>
            <a:endParaRPr lang="en-US" sz="1875" dirty="0"/>
          </a:p>
        </p:txBody>
      </p:sp>
      <p:sp>
        <p:nvSpPr>
          <p:cNvPr id="11" name="Shape 8"/>
          <p:cNvSpPr/>
          <p:nvPr/>
        </p:nvSpPr>
        <p:spPr>
          <a:xfrm>
            <a:off x="762000" y="6518077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5394127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MÉTODO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762000" y="5679877"/>
            <a:ext cx="831951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rembg (U2-Net) remove o fundo de cada folha e recompõe sobre fundos naturais do PlantDoc.</a:t>
            </a:r>
            <a:endParaRPr lang="en-US" sz="1875" dirty="0"/>
          </a:p>
        </p:txBody>
      </p:sp>
      <p:sp>
        <p:nvSpPr>
          <p:cNvPr id="14" name="Shape 11"/>
          <p:cNvSpPr/>
          <p:nvPr/>
        </p:nvSpPr>
        <p:spPr>
          <a:xfrm>
            <a:off x="762000" y="7609582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762000" y="6699052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127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ESCALA</a:t>
            </a:r>
            <a:endParaRPr lang="en-US" sz="1275" dirty="0"/>
          </a:p>
        </p:txBody>
      </p:sp>
      <p:sp>
        <p:nvSpPr>
          <p:cNvPr id="16" name="Text 13"/>
          <p:cNvSpPr/>
          <p:nvPr/>
        </p:nvSpPr>
        <p:spPr>
          <a:xfrm>
            <a:off x="762000" y="6984802"/>
            <a:ext cx="8319516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177.698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composições sintéticas geradas.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9448800" y="3413309"/>
            <a:ext cx="888492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40" kern="0" dirty="0">
                <a:solidFill>
                  <a:srgbClr val="A845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ACONTECEU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448800" y="3918134"/>
            <a:ext cx="8077200" cy="1409700"/>
          </a:xfrm>
          <a:prstGeom prst="roundRect">
            <a:avLst>
              <a:gd name="adj" fmla="val 9459"/>
            </a:avLst>
          </a:prstGeom>
          <a:solidFill>
            <a:srgbClr val="FAF5EC"/>
          </a:solidFill>
          <a:ln/>
        </p:spPr>
      </p:sp>
      <p:sp>
        <p:nvSpPr>
          <p:cNvPr id="19" name="Shape 16"/>
          <p:cNvSpPr/>
          <p:nvPr/>
        </p:nvSpPr>
        <p:spPr>
          <a:xfrm>
            <a:off x="9448800" y="5318309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Shape 17"/>
          <p:cNvSpPr/>
          <p:nvPr/>
        </p:nvSpPr>
        <p:spPr>
          <a:xfrm>
            <a:off x="9448800" y="3918134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9448800" y="3918134"/>
            <a:ext cx="47625" cy="1409700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22" name="Shape 19"/>
          <p:cNvSpPr/>
          <p:nvPr/>
        </p:nvSpPr>
        <p:spPr>
          <a:xfrm>
            <a:off x="17516475" y="3918134"/>
            <a:ext cx="9525" cy="140970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3" name="Text 20"/>
          <p:cNvSpPr/>
          <p:nvPr/>
        </p:nvSpPr>
        <p:spPr>
          <a:xfrm>
            <a:off x="9839325" y="4213409"/>
            <a:ext cx="806767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A8453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+0 pp em campo</a:t>
            </a:r>
            <a:endParaRPr lang="en-US" sz="3450" dirty="0"/>
          </a:p>
        </p:txBody>
      </p:sp>
      <p:sp>
        <p:nvSpPr>
          <p:cNvPr id="24" name="Text 21"/>
          <p:cNvSpPr/>
          <p:nvPr/>
        </p:nvSpPr>
        <p:spPr>
          <a:xfrm>
            <a:off x="9839325" y="4727759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20,24% vs. 20,77% do Exp. B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448800" y="5537384"/>
            <a:ext cx="8077200" cy="1314451"/>
          </a:xfrm>
          <a:prstGeom prst="roundRect">
            <a:avLst>
              <a:gd name="adj" fmla="val 10145"/>
            </a:avLst>
          </a:prstGeom>
          <a:solidFill>
            <a:srgbClr val="FAF5EC"/>
          </a:solidFill>
          <a:ln/>
        </p:spPr>
      </p:sp>
      <p:sp>
        <p:nvSpPr>
          <p:cNvPr id="26" name="Shape 23"/>
          <p:cNvSpPr/>
          <p:nvPr/>
        </p:nvSpPr>
        <p:spPr>
          <a:xfrm>
            <a:off x="9448800" y="6842309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7" name="Shape 24"/>
          <p:cNvSpPr/>
          <p:nvPr/>
        </p:nvSpPr>
        <p:spPr>
          <a:xfrm>
            <a:off x="9448800" y="5537384"/>
            <a:ext cx="80772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Shape 25"/>
          <p:cNvSpPr/>
          <p:nvPr/>
        </p:nvSpPr>
        <p:spPr>
          <a:xfrm>
            <a:off x="9448800" y="5537384"/>
            <a:ext cx="47625" cy="1314451"/>
          </a:xfrm>
          <a:prstGeom prst="rect">
            <a:avLst/>
          </a:prstGeom>
          <a:solidFill>
            <a:srgbClr val="A84533"/>
          </a:solidFill>
          <a:ln/>
        </p:spPr>
      </p:sp>
      <p:sp>
        <p:nvSpPr>
          <p:cNvPr id="29" name="Shape 26"/>
          <p:cNvSpPr/>
          <p:nvPr/>
        </p:nvSpPr>
        <p:spPr>
          <a:xfrm>
            <a:off x="17516475" y="5537384"/>
            <a:ext cx="9525" cy="131445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0" name="Text 27"/>
          <p:cNvSpPr/>
          <p:nvPr/>
        </p:nvSpPr>
        <p:spPr>
          <a:xfrm>
            <a:off x="9839325" y="5832659"/>
            <a:ext cx="8067675" cy="381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Saudável: 0,0% em campo</a:t>
            </a:r>
            <a:endParaRPr lang="en-US" sz="2700" dirty="0"/>
          </a:p>
        </p:txBody>
      </p:sp>
      <p:sp>
        <p:nvSpPr>
          <p:cNvPr id="31" name="Text 28"/>
          <p:cNvSpPr/>
          <p:nvPr/>
        </p:nvSpPr>
        <p:spPr>
          <a:xfrm>
            <a:off x="9839325" y="6251759"/>
            <a:ext cx="8067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modelo nunca acerta folha saudável real.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448800" y="7061384"/>
            <a:ext cx="8319516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 quê: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artefatos de borda e iluminação inconsistente — o domínio sintético não captura a distribuição real.</a:t>
            </a:r>
            <a:endParaRPr lang="en-US" sz="1725" dirty="0"/>
          </a:p>
        </p:txBody>
      </p:sp>
      <p:sp>
        <p:nvSpPr>
          <p:cNvPr id="33" name="Shape 30"/>
          <p:cNvSpPr/>
          <p:nvPr/>
        </p:nvSpPr>
        <p:spPr>
          <a:xfrm>
            <a:off x="762000" y="8023303"/>
            <a:ext cx="16764000" cy="838200"/>
          </a:xfrm>
          <a:prstGeom prst="roundRect">
            <a:avLst>
              <a:gd name="adj" fmla="val 15909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52525" y="8299528"/>
            <a:ext cx="175812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Lição: </a:t>
            </a:r>
            <a:pPr algn="l" indent="0" marL="0"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síntese não substitui dado de campo. Resultado negativo </a:t>
            </a:r>
            <a:pPr algn="l" indent="0" marL="0">
              <a:buNone/>
            </a:pPr>
            <a:r>
              <a:rPr lang="en-US" sz="22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reprodutível</a:t>
            </a:r>
            <a:pPr algn="l" indent="0" marL="0"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2250" dirty="0"/>
          </a:p>
        </p:txBody>
      </p:sp>
      <p:sp>
        <p:nvSpPr>
          <p:cNvPr id="35" name="Shape 32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6" name="Text 33"/>
          <p:cNvSpPr/>
          <p:nvPr/>
        </p:nvSpPr>
        <p:spPr>
          <a:xfrm>
            <a:off x="762000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EXP. C NEGATIVO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4819263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177.698 SÍNTESES · +0 PP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D E E · O QUE FUNCIONOU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Dado real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 </a:t>
            </a:r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Focal Loss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78038"/>
            <a:ext cx="8153400" cy="4126111"/>
          </a:xfrm>
          <a:prstGeom prst="roundRect">
            <a:avLst>
              <a:gd name="adj" fmla="val 3232"/>
            </a:avLst>
          </a:prstGeom>
          <a:solidFill>
            <a:srgbClr val="FAF5EC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6994624"/>
            <a:ext cx="81534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2878038"/>
            <a:ext cx="8153400" cy="3810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2878038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Shape 8"/>
          <p:cNvSpPr/>
          <p:nvPr/>
        </p:nvSpPr>
        <p:spPr>
          <a:xfrm>
            <a:off x="8905875" y="2878038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Text 9"/>
          <p:cNvSpPr/>
          <p:nvPr/>
        </p:nvSpPr>
        <p:spPr>
          <a:xfrm>
            <a:off x="1190625" y="3297138"/>
            <a:ext cx="8025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D — FINE-TUNING REAL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90625" y="3744813"/>
            <a:ext cx="802576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spc="-171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+10 pp </a:t>
            </a:r>
            <a:pPr algn="l" indent="0" marL="0">
              <a:buNone/>
            </a:pPr>
            <a:r>
              <a:rPr lang="en-US" sz="2400" i="1" spc="-171" kern="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campo</a:t>
            </a:r>
            <a:endParaRPr lang="en-US" sz="5700" dirty="0"/>
          </a:p>
        </p:txBody>
      </p:sp>
      <p:sp>
        <p:nvSpPr>
          <p:cNvPr id="14" name="Text 11"/>
          <p:cNvSpPr/>
          <p:nvPr/>
        </p:nvSpPr>
        <p:spPr>
          <a:xfrm>
            <a:off x="1190625" y="4506813"/>
            <a:ext cx="8025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20,77% → 30,43% · PlantDoc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190625" y="5021163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677 imagens reais do PlantDoc/train (repetidas 10×), avaliadas em 69 nunca vistas.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90625" y="5817394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Conclusão: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fator limitante é o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 de dados de campo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não o método de treinamento.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372600" y="2878426"/>
            <a:ext cx="8153400" cy="4126111"/>
          </a:xfrm>
          <a:prstGeom prst="roundRect">
            <a:avLst>
              <a:gd name="adj" fmla="val 3232"/>
            </a:avLst>
          </a:prstGeom>
          <a:solidFill>
            <a:srgbClr val="5E884F">
              <a:alpha val="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372600" y="6995011"/>
            <a:ext cx="81534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9" name="Shape 16"/>
          <p:cNvSpPr/>
          <p:nvPr/>
        </p:nvSpPr>
        <p:spPr>
          <a:xfrm>
            <a:off x="9372600" y="2878426"/>
            <a:ext cx="8153400" cy="38100"/>
          </a:xfrm>
          <a:prstGeom prst="rect">
            <a:avLst/>
          </a:prstGeom>
          <a:solidFill>
            <a:srgbClr val="5E884F"/>
          </a:solidFill>
          <a:ln/>
        </p:spPr>
      </p:sp>
      <p:sp>
        <p:nvSpPr>
          <p:cNvPr id="20" name="Shape 17"/>
          <p:cNvSpPr/>
          <p:nvPr/>
        </p:nvSpPr>
        <p:spPr>
          <a:xfrm>
            <a:off x="9372600" y="2878426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1" name="Shape 18"/>
          <p:cNvSpPr/>
          <p:nvPr/>
        </p:nvSpPr>
        <p:spPr>
          <a:xfrm>
            <a:off x="17516475" y="2878426"/>
            <a:ext cx="9525" cy="4126111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2" name="Text 19"/>
          <p:cNvSpPr/>
          <p:nvPr/>
        </p:nvSpPr>
        <p:spPr>
          <a:xfrm>
            <a:off x="9801225" y="3297526"/>
            <a:ext cx="80257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50" kern="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EXP. E — FOCAL LOSS </a:t>
            </a:r>
            <a:pPr algn="l" indent="0" marL="0">
              <a:buNone/>
            </a:pPr>
            <a:r>
              <a:rPr lang="en-US" sz="1500" spc="150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(FINAL)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801225" y="3745201"/>
            <a:ext cx="802576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spc="-171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+16 pp </a:t>
            </a:r>
            <a:pPr algn="l" indent="0" marL="0">
              <a:buNone/>
            </a:pPr>
            <a:r>
              <a:rPr lang="en-US" sz="2400" i="1" spc="-171" kern="0" dirty="0">
                <a:solidFill>
                  <a:srgbClr val="4E464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Tomato-Village</a:t>
            </a:r>
            <a:endParaRPr lang="en-US" sz="5700" dirty="0"/>
          </a:p>
        </p:txBody>
      </p:sp>
      <p:sp>
        <p:nvSpPr>
          <p:cNvPr id="24" name="Text 21"/>
          <p:cNvSpPr/>
          <p:nvPr/>
        </p:nvSpPr>
        <p:spPr>
          <a:xfrm>
            <a:off x="9801225" y="4507201"/>
            <a:ext cx="80257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11,52% → 27,65% · Índia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9801225" y="5021551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Focal Loss (γ=2) reduz o peso de exemplos fáceis — imagens de lab com fundo cinza.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801225" y="5817781"/>
            <a:ext cx="751503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Efeito: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força o modelo a focar nas features diagnósticas da lesão. É o </a:t>
            </a:r>
            <a:pPr algn="l" indent="0" marL="0">
              <a:lnSpc>
                <a:spcPct val="145000"/>
              </a:lnSpc>
              <a:buNone/>
            </a:pPr>
            <a:r>
              <a:rPr lang="en-US" sz="1800" i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modelo final embarcado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EXP. D E 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480977" y="9582150"/>
            <a:ext cx="33495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VOLUME DE CAMPO É O GARGALO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88849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ESPECIFICIDADE GEOGRÁFICA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3866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acurácia cai com a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8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distância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762000" y="2938463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EUA / Europa</a:t>
            </a:r>
            <a:endParaRPr lang="en-US" sz="1875" dirty="0"/>
          </a:p>
        </p:txBody>
      </p:sp>
      <p:sp>
        <p:nvSpPr>
          <p:cNvPr id="8" name="Shape 5"/>
          <p:cNvSpPr/>
          <p:nvPr/>
        </p:nvSpPr>
        <p:spPr>
          <a:xfrm>
            <a:off x="3181350" y="3009900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9" name="Shape 6"/>
          <p:cNvSpPr/>
          <p:nvPr/>
        </p:nvSpPr>
        <p:spPr>
          <a:xfrm>
            <a:off x="3181350" y="3009900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0" y="2933700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30,43%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62000" y="3567497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Índia</a:t>
            </a:r>
            <a:endParaRPr lang="en-US" sz="1875" dirty="0"/>
          </a:p>
        </p:txBody>
      </p:sp>
      <p:sp>
        <p:nvSpPr>
          <p:cNvPr id="12" name="Shape 9"/>
          <p:cNvSpPr/>
          <p:nvPr/>
        </p:nvSpPr>
        <p:spPr>
          <a:xfrm>
            <a:off x="3181350" y="3638935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13" name="Shape 10"/>
          <p:cNvSpPr/>
          <p:nvPr/>
        </p:nvSpPr>
        <p:spPr>
          <a:xfrm>
            <a:off x="3181350" y="3638935"/>
            <a:ext cx="3900488" cy="171450"/>
          </a:xfrm>
          <a:prstGeom prst="roundRect">
            <a:avLst>
              <a:gd name="adj" fmla="val 16667"/>
            </a:avLst>
          </a:prstGeom>
          <a:solidFill>
            <a:srgbClr val="C89344"/>
          </a:solidFill>
          <a:ln/>
        </p:spPr>
      </p:sp>
      <p:sp>
        <p:nvSpPr>
          <p:cNvPr id="14" name="Text 11"/>
          <p:cNvSpPr/>
          <p:nvPr/>
        </p:nvSpPr>
        <p:spPr>
          <a:xfrm>
            <a:off x="7620000" y="3562735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27,65%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62000" y="4199025"/>
            <a:ext cx="24098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Bangladesh</a:t>
            </a:r>
            <a:endParaRPr lang="en-US" sz="1875" dirty="0"/>
          </a:p>
        </p:txBody>
      </p:sp>
      <p:sp>
        <p:nvSpPr>
          <p:cNvPr id="16" name="Shape 13"/>
          <p:cNvSpPr/>
          <p:nvPr/>
        </p:nvSpPr>
        <p:spPr>
          <a:xfrm>
            <a:off x="3181350" y="4270462"/>
            <a:ext cx="4286250" cy="171450"/>
          </a:xfrm>
          <a:prstGeom prst="roundRect">
            <a:avLst>
              <a:gd name="adj" fmla="val 16667"/>
            </a:avLst>
          </a:prstGeom>
          <a:solidFill>
            <a:srgbClr val="E6E0D9"/>
          </a:solidFill>
          <a:ln/>
        </p:spPr>
      </p:sp>
      <p:sp>
        <p:nvSpPr>
          <p:cNvPr id="17" name="Shape 14"/>
          <p:cNvSpPr/>
          <p:nvPr/>
        </p:nvSpPr>
        <p:spPr>
          <a:xfrm>
            <a:off x="3181350" y="4270462"/>
            <a:ext cx="2571750" cy="171450"/>
          </a:xfrm>
          <a:prstGeom prst="roundRect">
            <a:avLst>
              <a:gd name="adj" fmla="val 16667"/>
            </a:avLst>
          </a:prstGeom>
          <a:solidFill>
            <a:srgbClr val="A84533"/>
          </a:solidFill>
          <a:ln/>
        </p:spPr>
      </p:sp>
      <p:sp>
        <p:nvSpPr>
          <p:cNvPr id="18" name="Text 15"/>
          <p:cNvSpPr/>
          <p:nvPr/>
        </p:nvSpPr>
        <p:spPr>
          <a:xfrm>
            <a:off x="7620000" y="4194262"/>
            <a:ext cx="1219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dirty="0">
                <a:solidFill>
                  <a:srgbClr val="21181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18,13%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62000" y="5013413"/>
            <a:ext cx="831951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Confirma </a:t>
            </a:r>
            <a:pPr algn="l" indent="0" marL="0">
              <a:lnSpc>
                <a:spcPct val="145000"/>
              </a:lnSpc>
              <a:buNone/>
            </a:pPr>
            <a:r>
              <a:rPr lang="en-US" sz="180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Barbedo (2019) </a:t>
            </a:r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 variedades locais, iluminação tropical e estágio fenológico distinto degradam o desempenho.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9448800" y="1429135"/>
            <a:ext cx="8077200" cy="8096250"/>
          </a:xfrm>
          <a:prstGeom prst="roundRect">
            <a:avLst>
              <a:gd name="adj" fmla="val 1651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934575" y="1895860"/>
            <a:ext cx="78162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COLAPSO DE CLASSE</a:t>
            </a:r>
            <a:endParaRPr lang="en-US" sz="1575" dirty="0"/>
          </a:p>
        </p:txBody>
      </p:sp>
      <p:sp>
        <p:nvSpPr>
          <p:cNvPr id="22" name="Text 19"/>
          <p:cNvSpPr/>
          <p:nvPr/>
        </p:nvSpPr>
        <p:spPr>
          <a:xfrm>
            <a:off x="9934575" y="2448310"/>
            <a:ext cx="78162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Exp. D no Tomato-Village (Índia):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934575" y="2924560"/>
            <a:ext cx="781621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0500" spc="-315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73</a:t>
            </a:r>
            <a:pPr algn="l" indent="0" marL="0">
              <a:lnSpc>
                <a:spcPct val="90000"/>
              </a:lnSpc>
              <a:buNone/>
            </a:pPr>
            <a:r>
              <a:rPr lang="en-US" sz="3600" spc="-315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</a:t>
            </a:r>
            <a:endParaRPr lang="en-US" sz="10500" dirty="0"/>
          </a:p>
        </p:txBody>
      </p:sp>
      <p:sp>
        <p:nvSpPr>
          <p:cNvPr id="24" name="Text 21"/>
          <p:cNvSpPr/>
          <p:nvPr/>
        </p:nvSpPr>
        <p:spPr>
          <a:xfrm>
            <a:off x="9934575" y="4353310"/>
            <a:ext cx="731882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das folhas saudáveis indianas foram classificadas como </a:t>
            </a:r>
            <a:pPr algn="l" indent="0" marL="0">
              <a:lnSpc>
                <a:spcPct val="145000"/>
              </a:lnSpc>
              <a:buNone/>
            </a:pPr>
            <a:r>
              <a:rPr lang="en-US" sz="2250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D02 septoriose</a:t>
            </a:r>
            <a:pPr algn="l" indent="0" marL="0">
              <a:lnSpc>
                <a:spcPct val="145000"/>
              </a:lnSpc>
              <a:buNone/>
            </a:pPr>
            <a:r>
              <a:rPr lang="en-US" sz="22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9934575" y="5410585"/>
            <a:ext cx="731882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Padrão típico de colapso sob shift extremo — o modelo "despeja" tudo numa classe. Mitigado no Exp. E com Focal Loss.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7" name="Text 24"/>
          <p:cNvSpPr/>
          <p:nvPr/>
        </p:nvSpPr>
        <p:spPr>
          <a:xfrm>
            <a:off x="762000" y="9582150"/>
            <a:ext cx="27292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GAP GEOGRÁFICO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3917067" y="9582150"/>
            <a:ext cx="39698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BARBEDO 2019 · COLAPSO DE CLASSE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MODELO PRONTO · ONDE RODAR?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681972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Três </a:t>
            </a:r>
            <a:pPr algn="l" indent="0" marL="0">
              <a:lnSpc>
                <a:spcPct val="104000"/>
              </a:lnSpc>
              <a:buNone/>
            </a:pPr>
            <a:r>
              <a:rPr lang="en-US" sz="3900" i="1" spc="-86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arquiteturas</a:t>
            </a:r>
            <a:pPr algn="l" indent="0" marL="0">
              <a:lnSpc>
                <a:spcPct val="104000"/>
              </a:lnSpc>
              <a:buNone/>
            </a:pPr>
            <a:r>
              <a:rPr lang="en-US" sz="3900" spc="-86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um modelo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62000" y="2553444"/>
            <a:ext cx="18440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MobileNetV2 INT8 · 638 KB · 96×96 · 10 classes · T=0,25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2000" y="3191619"/>
            <a:ext cx="5372100" cy="3432721"/>
          </a:xfrm>
          <a:prstGeom prst="roundRect">
            <a:avLst>
              <a:gd name="adj" fmla="val 3885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4425" y="3524994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114425" y="4144119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Edge</a:t>
            </a:r>
            <a:endParaRPr lang="en-US" sz="3150" dirty="0"/>
          </a:p>
        </p:txBody>
      </p:sp>
      <p:sp>
        <p:nvSpPr>
          <p:cNvPr id="11" name="Text 8"/>
          <p:cNvSpPr/>
          <p:nvPr/>
        </p:nvSpPr>
        <p:spPr>
          <a:xfrm>
            <a:off x="1114425" y="4582269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 N16R8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14425" y="5010894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692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13" name="Text 10"/>
          <p:cNvSpPr/>
          <p:nvPr/>
        </p:nvSpPr>
        <p:spPr>
          <a:xfrm>
            <a:off x="1114425" y="5639544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OFFLINE · 100% LOCAL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14425" y="6011019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MQTT/TLS → HiveMQ · sem internet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6457950" y="3192009"/>
            <a:ext cx="5372100" cy="3432720"/>
          </a:xfrm>
          <a:prstGeom prst="roundRect">
            <a:avLst>
              <a:gd name="adj" fmla="val 3885"/>
            </a:avLst>
          </a:prstGeom>
          <a:solidFill>
            <a:srgbClr val="5E884F">
              <a:alpha val="7000"/>
            </a:srgbClr>
          </a:solidFill>
          <a:ln w="9525">
            <a:solidFill>
              <a:srgbClr val="ABBEA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10375" y="3525384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6810375" y="4144509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Mobile</a:t>
            </a:r>
            <a:endParaRPr lang="en-US" sz="3150" dirty="0"/>
          </a:p>
        </p:txBody>
      </p:sp>
      <p:sp>
        <p:nvSpPr>
          <p:cNvPr id="18" name="Text 15"/>
          <p:cNvSpPr/>
          <p:nvPr/>
        </p:nvSpPr>
        <p:spPr>
          <a:xfrm>
            <a:off x="6810375" y="4582659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Android on-device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10375" y="5011284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~200–400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20" name="Text 17"/>
          <p:cNvSpPr/>
          <p:nvPr/>
        </p:nvSpPr>
        <p:spPr>
          <a:xfrm>
            <a:off x="6810375" y="5639934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OFFLINE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810375" y="6011409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tflite_flutter 0.12.1 · toggle Edge ↔ Cloud no app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12153900" y="3194897"/>
            <a:ext cx="5372100" cy="3432720"/>
          </a:xfrm>
          <a:prstGeom prst="roundRect">
            <a:avLst>
              <a:gd name="adj" fmla="val 3885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2506325" y="3528272"/>
            <a:ext cx="513397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300" dirty="0"/>
          </a:p>
        </p:txBody>
      </p:sp>
      <p:sp>
        <p:nvSpPr>
          <p:cNvPr id="24" name="Text 21"/>
          <p:cNvSpPr/>
          <p:nvPr/>
        </p:nvSpPr>
        <p:spPr>
          <a:xfrm>
            <a:off x="12506325" y="4147397"/>
            <a:ext cx="513397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Cloud</a:t>
            </a:r>
            <a:endParaRPr lang="en-US" sz="3150" dirty="0"/>
          </a:p>
        </p:txBody>
      </p:sp>
      <p:sp>
        <p:nvSpPr>
          <p:cNvPr id="25" name="Text 22"/>
          <p:cNvSpPr/>
          <p:nvPr/>
        </p:nvSpPr>
        <p:spPr>
          <a:xfrm>
            <a:off x="12506325" y="4585547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Flutter + Django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506325" y="5014172"/>
            <a:ext cx="513397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spc="-93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306</a:t>
            </a:r>
            <a:pPr algn="l" indent="0" marL="0">
              <a:buNone/>
            </a:pPr>
            <a:r>
              <a:rPr lang="en-US" sz="1950" spc="-93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4650" dirty="0"/>
          </a:p>
        </p:txBody>
      </p:sp>
      <p:sp>
        <p:nvSpPr>
          <p:cNvPr id="27" name="Text 24"/>
          <p:cNvSpPr/>
          <p:nvPr/>
        </p:nvSpPr>
        <p:spPr>
          <a:xfrm>
            <a:off x="12506325" y="5642822"/>
            <a:ext cx="513397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C893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 · REQUER REDE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2506325" y="6014297"/>
            <a:ext cx="5133975" cy="318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Railway + PostgreSQL · pipeline completo</a:t>
            </a:r>
            <a:endParaRPr lang="en-US" sz="1575" dirty="0"/>
          </a:p>
        </p:txBody>
      </p:sp>
      <p:sp>
        <p:nvSpPr>
          <p:cNvPr id="29" name="Shape 26"/>
          <p:cNvSpPr/>
          <p:nvPr/>
        </p:nvSpPr>
        <p:spPr>
          <a:xfrm>
            <a:off x="762000" y="6970518"/>
            <a:ext cx="16764000" cy="1149548"/>
          </a:xfrm>
          <a:prstGeom prst="roundRect">
            <a:avLst>
              <a:gd name="adj" fmla="val 11600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152525" y="7227693"/>
            <a:ext cx="16462439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Pivô de engenharia: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original era ESP32-S3 + câmera OV5640, 100% autônomo. Câmera ainda não integrada (Sprint 2). Adaptação: </a:t>
            </a:r>
            <a:pPr algn="l" indent="0" marL="0">
              <a:lnSpc>
                <a:spcPct val="145000"/>
              </a:lnSpc>
              <a:buNone/>
            </a:pPr>
            <a:r>
              <a:rPr lang="en-US" sz="1725" b="1" dirty="0">
                <a:solidFill>
                  <a:srgbClr val="273F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smartphone como sensor </a:t>
            </a:r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caminho ②. Mesmo modelo INT8, mais flexibilidade.</a:t>
            </a:r>
            <a:endParaRPr lang="en-US" sz="1725" dirty="0"/>
          </a:p>
        </p:txBody>
      </p:sp>
      <p:sp>
        <p:nvSpPr>
          <p:cNvPr id="31" name="Shape 28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762000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ONDE RODAR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5157698" y="9582150"/>
            <a:ext cx="26051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 · MOBILE · CLOUD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COMPARATIVO EDGE / MOBILE / CLOUD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Lado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lado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801838"/>
            <a:ext cx="16764000" cy="3209925"/>
          </a:xfrm>
          <a:prstGeom prst="roundRect">
            <a:avLst>
              <a:gd name="adj" fmla="val 4154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7275" y="3344763"/>
            <a:ext cx="3658195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9" name="Text 6"/>
          <p:cNvSpPr/>
          <p:nvPr/>
        </p:nvSpPr>
        <p:spPr>
          <a:xfrm>
            <a:off x="1228725" y="3001863"/>
            <a:ext cx="34250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ASPECTO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715470" y="3344763"/>
            <a:ext cx="4211687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4823745" y="3001863"/>
            <a:ext cx="39951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① EDGE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927157" y="3344763"/>
            <a:ext cx="4324648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3" name="Text 10"/>
          <p:cNvSpPr/>
          <p:nvPr/>
        </p:nvSpPr>
        <p:spPr>
          <a:xfrm>
            <a:off x="9033738" y="3001863"/>
            <a:ext cx="41114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② MOBILE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3251805" y="3344763"/>
            <a:ext cx="3978920" cy="19050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5" name="Text 12"/>
          <p:cNvSpPr/>
          <p:nvPr/>
        </p:nvSpPr>
        <p:spPr>
          <a:xfrm>
            <a:off x="13363571" y="3001863"/>
            <a:ext cx="37553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35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③ CLOUD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57275" y="3978176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7" name="Text 14"/>
          <p:cNvSpPr/>
          <p:nvPr/>
        </p:nvSpPr>
        <p:spPr>
          <a:xfrm>
            <a:off x="1228725" y="3506688"/>
            <a:ext cx="3425041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Latência CNN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4715470" y="3978176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19" name="Text 16"/>
          <p:cNvSpPr/>
          <p:nvPr/>
        </p:nvSpPr>
        <p:spPr>
          <a:xfrm>
            <a:off x="4823745" y="3506688"/>
            <a:ext cx="3995138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692 ms </a:t>
            </a:r>
            <a:pPr algn="ctr" indent="0" marL="0">
              <a:buNone/>
            </a:pPr>
            <a:r>
              <a:rPr lang="en-US" sz="195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(±1)</a:t>
            </a:r>
            <a:endParaRPr lang="en-US" sz="1950" dirty="0"/>
          </a:p>
        </p:txBody>
      </p:sp>
      <p:sp>
        <p:nvSpPr>
          <p:cNvPr id="20" name="Shape 17"/>
          <p:cNvSpPr/>
          <p:nvPr/>
        </p:nvSpPr>
        <p:spPr>
          <a:xfrm>
            <a:off x="8927157" y="3978176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1" name="Text 18"/>
          <p:cNvSpPr/>
          <p:nvPr/>
        </p:nvSpPr>
        <p:spPr>
          <a:xfrm>
            <a:off x="9033738" y="3506688"/>
            <a:ext cx="4111487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~200–400 ms</a:t>
            </a:r>
            <a:endParaRPr lang="en-US" sz="1950" dirty="0"/>
          </a:p>
        </p:txBody>
      </p:sp>
      <p:sp>
        <p:nvSpPr>
          <p:cNvPr id="22" name="Shape 19"/>
          <p:cNvSpPr/>
          <p:nvPr/>
        </p:nvSpPr>
        <p:spPr>
          <a:xfrm>
            <a:off x="13251805" y="3978176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3" name="Text 20"/>
          <p:cNvSpPr/>
          <p:nvPr/>
        </p:nvSpPr>
        <p:spPr>
          <a:xfrm>
            <a:off x="13363571" y="3506688"/>
            <a:ext cx="3755388" cy="36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306 ms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057275" y="4606826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5" name="Text 22"/>
          <p:cNvSpPr/>
          <p:nvPr/>
        </p:nvSpPr>
        <p:spPr>
          <a:xfrm>
            <a:off x="1228725" y="4130576"/>
            <a:ext cx="34250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Funciona offline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4715470" y="4606826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7" name="Text 24"/>
          <p:cNvSpPr/>
          <p:nvPr/>
        </p:nvSpPr>
        <p:spPr>
          <a:xfrm>
            <a:off x="4823745" y="4130576"/>
            <a:ext cx="3995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Sim</a:t>
            </a:r>
            <a:endParaRPr lang="en-US" sz="1950" dirty="0"/>
          </a:p>
        </p:txBody>
      </p:sp>
      <p:sp>
        <p:nvSpPr>
          <p:cNvPr id="28" name="Shape 25"/>
          <p:cNvSpPr/>
          <p:nvPr/>
        </p:nvSpPr>
        <p:spPr>
          <a:xfrm>
            <a:off x="8927157" y="4606826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29" name="Text 26"/>
          <p:cNvSpPr/>
          <p:nvPr/>
        </p:nvSpPr>
        <p:spPr>
          <a:xfrm>
            <a:off x="9033738" y="4130576"/>
            <a:ext cx="41114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Sim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3251805" y="4606826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1" name="Text 28"/>
          <p:cNvSpPr/>
          <p:nvPr/>
        </p:nvSpPr>
        <p:spPr>
          <a:xfrm>
            <a:off x="13363571" y="4130576"/>
            <a:ext cx="3755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A845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✕ Não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1057275" y="5225951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3" name="Text 30"/>
          <p:cNvSpPr/>
          <p:nvPr/>
        </p:nvSpPr>
        <p:spPr>
          <a:xfrm>
            <a:off x="1228725" y="4759226"/>
            <a:ext cx="342504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Infraestrutura</a:t>
            </a:r>
            <a:endParaRPr lang="en-US" sz="1950" dirty="0"/>
          </a:p>
        </p:txBody>
      </p:sp>
      <p:sp>
        <p:nvSpPr>
          <p:cNvPr id="34" name="Shape 31"/>
          <p:cNvSpPr/>
          <p:nvPr/>
        </p:nvSpPr>
        <p:spPr>
          <a:xfrm>
            <a:off x="4715470" y="5225951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5" name="Text 32"/>
          <p:cNvSpPr/>
          <p:nvPr/>
        </p:nvSpPr>
        <p:spPr>
          <a:xfrm>
            <a:off x="4823745" y="4759226"/>
            <a:ext cx="39951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ESP32-S3 ~R$ 80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8927157" y="5225951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7" name="Text 34"/>
          <p:cNvSpPr/>
          <p:nvPr/>
        </p:nvSpPr>
        <p:spPr>
          <a:xfrm>
            <a:off x="9033738" y="4759226"/>
            <a:ext cx="411148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Celular do produtor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3251805" y="5225951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39" name="Text 36"/>
          <p:cNvSpPr/>
          <p:nvPr/>
        </p:nvSpPr>
        <p:spPr>
          <a:xfrm>
            <a:off x="13363571" y="4759226"/>
            <a:ext cx="375538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Railway (free tier)</a:t>
            </a:r>
            <a:endParaRPr lang="en-US" sz="1950" dirty="0"/>
          </a:p>
        </p:txBody>
      </p:sp>
      <p:sp>
        <p:nvSpPr>
          <p:cNvPr id="40" name="Shape 37"/>
          <p:cNvSpPr/>
          <p:nvPr/>
        </p:nvSpPr>
        <p:spPr>
          <a:xfrm>
            <a:off x="1057275" y="5854601"/>
            <a:ext cx="3658195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1" name="Text 38"/>
          <p:cNvSpPr/>
          <p:nvPr/>
        </p:nvSpPr>
        <p:spPr>
          <a:xfrm>
            <a:off x="1228725" y="5378351"/>
            <a:ext cx="34250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 atual</a:t>
            </a:r>
            <a:endParaRPr lang="en-US" sz="1950" dirty="0"/>
          </a:p>
        </p:txBody>
      </p:sp>
      <p:sp>
        <p:nvSpPr>
          <p:cNvPr id="42" name="Shape 39"/>
          <p:cNvSpPr/>
          <p:nvPr/>
        </p:nvSpPr>
        <p:spPr>
          <a:xfrm>
            <a:off x="4715470" y="5854601"/>
            <a:ext cx="4211687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3" name="Text 40"/>
          <p:cNvSpPr/>
          <p:nvPr/>
        </p:nvSpPr>
        <p:spPr>
          <a:xfrm>
            <a:off x="4823745" y="5378351"/>
            <a:ext cx="399513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Validado · 10/10</a:t>
            </a:r>
            <a:endParaRPr lang="en-US" sz="1950" dirty="0"/>
          </a:p>
        </p:txBody>
      </p:sp>
      <p:sp>
        <p:nvSpPr>
          <p:cNvPr id="44" name="Shape 41"/>
          <p:cNvSpPr/>
          <p:nvPr/>
        </p:nvSpPr>
        <p:spPr>
          <a:xfrm>
            <a:off x="8927157" y="5854601"/>
            <a:ext cx="4324648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5" name="Text 42"/>
          <p:cNvSpPr/>
          <p:nvPr/>
        </p:nvSpPr>
        <p:spPr>
          <a:xfrm>
            <a:off x="9033738" y="5378351"/>
            <a:ext cx="41114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Implementado</a:t>
            </a:r>
            <a:endParaRPr lang="en-US" sz="1950" dirty="0"/>
          </a:p>
        </p:txBody>
      </p:sp>
      <p:sp>
        <p:nvSpPr>
          <p:cNvPr id="46" name="Shape 43"/>
          <p:cNvSpPr/>
          <p:nvPr/>
        </p:nvSpPr>
        <p:spPr>
          <a:xfrm>
            <a:off x="13251805" y="5854601"/>
            <a:ext cx="3978920" cy="9525"/>
          </a:xfrm>
          <a:prstGeom prst="rect">
            <a:avLst/>
          </a:prstGeom>
          <a:solidFill>
            <a:srgbClr val="E6E0D9"/>
          </a:solidFill>
          <a:ln/>
        </p:spPr>
      </p:sp>
      <p:sp>
        <p:nvSpPr>
          <p:cNvPr id="47" name="Text 44"/>
          <p:cNvSpPr/>
          <p:nvPr/>
        </p:nvSpPr>
        <p:spPr>
          <a:xfrm>
            <a:off x="13363571" y="5378351"/>
            <a:ext cx="37553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Produção</a:t>
            </a:r>
            <a:endParaRPr lang="en-US" sz="1950" dirty="0"/>
          </a:p>
        </p:txBody>
      </p:sp>
      <p:sp>
        <p:nvSpPr>
          <p:cNvPr id="48" name="Shape 45"/>
          <p:cNvSpPr/>
          <p:nvPr/>
        </p:nvSpPr>
        <p:spPr>
          <a:xfrm>
            <a:off x="762000" y="6373809"/>
            <a:ext cx="16764000" cy="1794421"/>
          </a:xfrm>
          <a:prstGeom prst="roundRect">
            <a:avLst>
              <a:gd name="adj" fmla="val 7431"/>
            </a:avLst>
          </a:prstGeom>
          <a:solidFill>
            <a:srgbClr val="142A17"/>
          </a:solidFill>
          <a:ln w="9525">
            <a:solidFill>
              <a:srgbClr val="142A1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076786" y="6707184"/>
            <a:ext cx="250445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200" spc="-216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692</a:t>
            </a:r>
            <a:pPr algn="ctr" indent="0" marL="0">
              <a:lnSpc>
                <a:spcPct val="90000"/>
              </a:lnSpc>
              <a:buNone/>
            </a:pPr>
            <a:r>
              <a:rPr lang="en-US" sz="2550" spc="-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ms</a:t>
            </a:r>
            <a:endParaRPr lang="en-US" sz="7200" dirty="0"/>
          </a:p>
        </p:txBody>
      </p:sp>
      <p:sp>
        <p:nvSpPr>
          <p:cNvPr id="50" name="Text 47"/>
          <p:cNvSpPr/>
          <p:nvPr/>
        </p:nvSpPr>
        <p:spPr>
          <a:xfrm>
            <a:off x="1076786" y="7625305"/>
            <a:ext cx="2504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spc="179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LATÊNCIA REAL ESP32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3886498" y="6856608"/>
            <a:ext cx="1360720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Determinística (±1 ms) · </a:t>
            </a:r>
            <a:pPr algn="l" indent="0" marL="0">
              <a:lnSpc>
                <a:spcPct val="150000"/>
              </a:lnSpc>
              <a:buNone/>
            </a:pPr>
            <a:r>
              <a:rPr lang="en-US" sz="2175" b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10/10 corretas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 benchmark · 2× mais rápida que a estimativa do Edge Impulse · imperceptível em campo (produtor leva 2–5 s para posicionar a folha).</a:t>
            </a:r>
            <a:endParaRPr lang="en-US" sz="2175" dirty="0"/>
          </a:p>
        </p:txBody>
      </p:sp>
      <p:sp>
        <p:nvSpPr>
          <p:cNvPr id="52" name="Shape 4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53" name="Text 50"/>
          <p:cNvSpPr/>
          <p:nvPr/>
        </p:nvSpPr>
        <p:spPr>
          <a:xfrm>
            <a:off x="762000" y="9582150"/>
            <a:ext cx="235711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COMPARATIVO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4932075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692 MS · DETERMINÍSTICO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QUE CONSTRUÍMOS · DA DECISÃO AO SISTEMA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Quatro camadas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integradas</a:t>
            </a:r>
            <a:endParaRPr lang="en-US" sz="4050" dirty="0"/>
          </a:p>
        </p:txBody>
      </p:sp>
      <p:sp>
        <p:nvSpPr>
          <p:cNvPr id="8" name="Shape 4"/>
          <p:cNvSpPr/>
          <p:nvPr/>
        </p:nvSpPr>
        <p:spPr>
          <a:xfrm>
            <a:off x="762000" y="2916138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57275" y="3230463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Firmware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1057275" y="3630513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</a:t>
            </a:r>
            <a:endParaRPr lang="en-US" sz="1275" dirty="0"/>
          </a:p>
        </p:txBody>
      </p:sp>
      <p:sp>
        <p:nvSpPr>
          <p:cNvPr id="11" name="Text 7"/>
          <p:cNvSpPr/>
          <p:nvPr/>
        </p:nvSpPr>
        <p:spPr>
          <a:xfrm>
            <a:off x="910590" y="4049613"/>
            <a:ext cx="3666172" cy="1813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PlatformIO / ESP-IDF 5.x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 QoS 1 · TLS 1.3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DHT22 + sensor de solo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Arena 200 KB · 692 ms</a:t>
            </a:r>
            <a:endParaRPr lang="en-US" sz="1650" dirty="0"/>
          </a:p>
        </p:txBody>
      </p:sp>
      <p:sp>
        <p:nvSpPr>
          <p:cNvPr id="12" name="Shape 8"/>
          <p:cNvSpPr/>
          <p:nvPr/>
        </p:nvSpPr>
        <p:spPr>
          <a:xfrm>
            <a:off x="5005388" y="2916234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0663" y="3230559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Broker</a:t>
            </a:r>
            <a:endParaRPr lang="en-US" sz="2550" dirty="0"/>
          </a:p>
        </p:txBody>
      </p:sp>
      <p:sp>
        <p:nvSpPr>
          <p:cNvPr id="14" name="Text 10"/>
          <p:cNvSpPr/>
          <p:nvPr/>
        </p:nvSpPr>
        <p:spPr>
          <a:xfrm>
            <a:off x="5300663" y="3630609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</a:t>
            </a:r>
            <a:endParaRPr lang="en-US" sz="1275" dirty="0"/>
          </a:p>
        </p:txBody>
      </p:sp>
      <p:sp>
        <p:nvSpPr>
          <p:cNvPr id="15" name="Text 11"/>
          <p:cNvSpPr/>
          <p:nvPr/>
        </p:nvSpPr>
        <p:spPr>
          <a:xfrm>
            <a:off x="5153978" y="4049709"/>
            <a:ext cx="3666172" cy="181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HiveMQ Cloud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Porta 8883 (TLS)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JSON payload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Pub/Sub em tempo real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9248775" y="2918302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44050" y="3232628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Backend</a:t>
            </a:r>
            <a:endParaRPr lang="en-US" sz="2550" dirty="0"/>
          </a:p>
        </p:txBody>
      </p:sp>
      <p:sp>
        <p:nvSpPr>
          <p:cNvPr id="18" name="Text 14"/>
          <p:cNvSpPr/>
          <p:nvPr/>
        </p:nvSpPr>
        <p:spPr>
          <a:xfrm>
            <a:off x="9544050" y="3632678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DJANGO REST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9397365" y="4051778"/>
            <a:ext cx="3666172" cy="1813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endpoints REST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 + refresh token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MQTT listener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· Railway</a:t>
            </a:r>
            <a:endParaRPr lang="en-US" sz="1650" dirty="0"/>
          </a:p>
        </p:txBody>
      </p:sp>
      <p:sp>
        <p:nvSpPr>
          <p:cNvPr id="20" name="Shape 16"/>
          <p:cNvSpPr/>
          <p:nvPr/>
        </p:nvSpPr>
        <p:spPr>
          <a:xfrm>
            <a:off x="13492163" y="2923579"/>
            <a:ext cx="4033837" cy="3223022"/>
          </a:xfrm>
          <a:prstGeom prst="roundRect">
            <a:avLst>
              <a:gd name="adj" fmla="val 4137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3787438" y="3237904"/>
            <a:ext cx="37876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App</a:t>
            </a:r>
            <a:endParaRPr lang="en-US" sz="2550" dirty="0"/>
          </a:p>
        </p:txBody>
      </p:sp>
      <p:sp>
        <p:nvSpPr>
          <p:cNvPr id="22" name="Text 18"/>
          <p:cNvSpPr/>
          <p:nvPr/>
        </p:nvSpPr>
        <p:spPr>
          <a:xfrm>
            <a:off x="13787438" y="3637954"/>
            <a:ext cx="378761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5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FLUTTER</a:t>
            </a:r>
            <a:endParaRPr lang="en-US" sz="1275" dirty="0"/>
          </a:p>
        </p:txBody>
      </p:sp>
      <p:sp>
        <p:nvSpPr>
          <p:cNvPr id="23" name="Text 19"/>
          <p:cNvSpPr/>
          <p:nvPr/>
        </p:nvSpPr>
        <p:spPr>
          <a:xfrm>
            <a:off x="13640753" y="4057054"/>
            <a:ext cx="3666172" cy="1813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10+ telas implementadas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 SQLite offline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tflite_flutter 0.12.1</a:t>
            </a:r>
            <a:endParaRPr lang="en-US" sz="16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 offline → online</a:t>
            </a:r>
            <a:endParaRPr lang="en-US" sz="1650" dirty="0"/>
          </a:p>
        </p:txBody>
      </p:sp>
      <p:sp>
        <p:nvSpPr>
          <p:cNvPr id="24" name="Text 20"/>
          <p:cNvSpPr/>
          <p:nvPr/>
        </p:nvSpPr>
        <p:spPr>
          <a:xfrm>
            <a:off x="762000" y="6527600"/>
            <a:ext cx="408376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FAF5E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ceres_mobilenetv2_int8.tflite</a:t>
            </a:r>
            <a:endParaRPr lang="en-US" sz="1575" dirty="0"/>
          </a:p>
        </p:txBody>
      </p:sp>
      <p:sp>
        <p:nvSpPr>
          <p:cNvPr id="25" name="Text 21"/>
          <p:cNvSpPr/>
          <p:nvPr/>
        </p:nvSpPr>
        <p:spPr>
          <a:xfrm>
            <a:off x="4703118" y="6527600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26" name="Text 22"/>
          <p:cNvSpPr/>
          <p:nvPr/>
        </p:nvSpPr>
        <p:spPr>
          <a:xfrm>
            <a:off x="5059859" y="6527600"/>
            <a:ext cx="844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638 KB</a:t>
            </a:r>
            <a:endParaRPr lang="en-US" sz="1575" dirty="0"/>
          </a:p>
        </p:txBody>
      </p:sp>
      <p:sp>
        <p:nvSpPr>
          <p:cNvPr id="27" name="Text 23"/>
          <p:cNvSpPr/>
          <p:nvPr/>
        </p:nvSpPr>
        <p:spPr>
          <a:xfrm>
            <a:off x="6056561" y="6527600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28" name="Text 24"/>
          <p:cNvSpPr/>
          <p:nvPr/>
        </p:nvSpPr>
        <p:spPr>
          <a:xfrm>
            <a:off x="6413302" y="6527600"/>
            <a:ext cx="35204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mesmo arquivo do ESP32-S3</a:t>
            </a:r>
            <a:endParaRPr lang="en-US" sz="1575" dirty="0"/>
          </a:p>
        </p:txBody>
      </p:sp>
      <p:sp>
        <p:nvSpPr>
          <p:cNvPr id="29" name="Text 25"/>
          <p:cNvSpPr/>
          <p:nvPr/>
        </p:nvSpPr>
        <p:spPr>
          <a:xfrm>
            <a:off x="9842302" y="6527600"/>
            <a:ext cx="2043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·</a:t>
            </a:r>
            <a:endParaRPr lang="en-US" sz="1575" dirty="0"/>
          </a:p>
        </p:txBody>
      </p:sp>
      <p:sp>
        <p:nvSpPr>
          <p:cNvPr id="30" name="Text 26"/>
          <p:cNvSpPr/>
          <p:nvPr/>
        </p:nvSpPr>
        <p:spPr>
          <a:xfrm>
            <a:off x="10199043" y="6527600"/>
            <a:ext cx="42245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63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inferência offline ~200–400 ms</a:t>
            </a:r>
            <a:endParaRPr lang="en-US" sz="1575" dirty="0"/>
          </a:p>
        </p:txBody>
      </p:sp>
      <p:sp>
        <p:nvSpPr>
          <p:cNvPr id="31" name="Shape 27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7620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SISTEMA INTEGRADO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3804255" y="9582150"/>
            <a:ext cx="40939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FIRMWARE · BROKER · BACKEND · APP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 / 23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62000" y="1428750"/>
            <a:ext cx="6160591" cy="6096000"/>
          </a:xfrm>
          <a:prstGeom prst="roundRect">
            <a:avLst>
              <a:gd name="adj" fmla="val 5000"/>
            </a:avLst>
          </a:prstGeom>
          <a:solidFill>
            <a:srgbClr val="243524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9116" y="1438275"/>
            <a:ext cx="6326359" cy="6115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7E90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FLUTTER · TELA IOT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3970" y="7696590"/>
            <a:ext cx="677665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81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ESP32-S3 + DHT22 + sensor de solo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589341" y="1428750"/>
            <a:ext cx="109303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SISTEMA EM FUNCIONAMENTO</a:t>
            </a:r>
            <a:endParaRPr lang="en-US" sz="1575" dirty="0"/>
          </a:p>
        </p:txBody>
      </p:sp>
      <p:sp>
        <p:nvSpPr>
          <p:cNvPr id="9" name="Text 6"/>
          <p:cNvSpPr/>
          <p:nvPr/>
        </p:nvSpPr>
        <p:spPr>
          <a:xfrm>
            <a:off x="7589341" y="1905000"/>
            <a:ext cx="73866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Em </a:t>
            </a:r>
            <a:pPr algn="l" indent="0" marL="0">
              <a:lnSpc>
                <a:spcPct val="104000"/>
              </a:lnSpc>
              <a:buNone/>
            </a:pPr>
            <a:r>
              <a:rPr lang="en-US" sz="3750" i="1" spc="-82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produção</a:t>
            </a:r>
            <a:pPr algn="l" indent="0" marL="0">
              <a:lnSpc>
                <a:spcPct val="104000"/>
              </a:lnSpc>
              <a:buNone/>
            </a:pPr>
            <a:r>
              <a:rPr lang="en-US" sz="3750" spc="-82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hoje</a:t>
            </a:r>
            <a:endParaRPr lang="en-US" sz="3750" dirty="0"/>
          </a:p>
        </p:txBody>
      </p:sp>
      <p:sp>
        <p:nvSpPr>
          <p:cNvPr id="10" name="Shape 7"/>
          <p:cNvSpPr/>
          <p:nvPr/>
        </p:nvSpPr>
        <p:spPr>
          <a:xfrm>
            <a:off x="7589341" y="4242197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1" name="Text 8"/>
          <p:cNvSpPr/>
          <p:nvPr/>
        </p:nvSpPr>
        <p:spPr>
          <a:xfrm>
            <a:off x="7589341" y="2990850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DECISÃO DE ENGENHARIA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7589341" y="3314700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Plano original: ESP32-S3 + câmera OV5640, autônomo. Câmera pendente (Sprint 2) — ESP32 adaptado para coletar sensores e publicar via MQTT.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7589341" y="5713009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341" y="4461662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SENSORIAMENTO EM TEMPO REAL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7589341" y="4785512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Temperatura · umidade do ar · umidade do solo via MQTT (QoS 1). Tela: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29,5 °C · 49% · 34% 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status </a:t>
            </a:r>
            <a:pPr algn="l" indent="0" marL="0">
              <a:lnSpc>
                <a:spcPct val="145000"/>
              </a:lnSpc>
              <a:buNone/>
            </a:pPr>
            <a:r>
              <a:rPr lang="en-US" sz="1950" b="1" dirty="0">
                <a:solidFill>
                  <a:srgbClr val="5E884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ONLINE</a:t>
            </a:r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7589341" y="7186319"/>
            <a:ext cx="9936659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341" y="5934973"/>
            <a:ext cx="109303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PIPELINE INTEGRADO</a:t>
            </a:r>
            <a:endParaRPr lang="en-US" sz="1425" dirty="0"/>
          </a:p>
        </p:txBody>
      </p:sp>
      <p:sp>
        <p:nvSpPr>
          <p:cNvPr id="18" name="Text 15"/>
          <p:cNvSpPr/>
          <p:nvPr/>
        </p:nvSpPr>
        <p:spPr>
          <a:xfrm>
            <a:off x="7589341" y="6258823"/>
            <a:ext cx="10234758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Django persiste cada evento com GPS; app sincroniza diagnósticos offline → online ao reconectar.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Text 17"/>
          <p:cNvSpPr/>
          <p:nvPr/>
        </p:nvSpPr>
        <p:spPr>
          <a:xfrm>
            <a:off x="762000" y="9582150"/>
            <a:ext cx="29774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EM FUNCIONAMENTO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932075" y="9582150"/>
            <a:ext cx="28533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MQTT QOS 1 · GPS · SYNC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97733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DEMONSTRAÇÃO E RECURSOS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Ver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funcionando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3792438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8" name="Shape 5"/>
          <p:cNvSpPr/>
          <p:nvPr/>
        </p:nvSpPr>
        <p:spPr>
          <a:xfrm>
            <a:off x="762000" y="3030438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9" name="Text 6"/>
          <p:cNvSpPr/>
          <p:nvPr/>
        </p:nvSpPr>
        <p:spPr>
          <a:xfrm>
            <a:off x="723900" y="3030438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562100" y="3139976"/>
            <a:ext cx="46547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Captura da folha pela câmera do app</a:t>
            </a:r>
            <a:endParaRPr lang="en-US" sz="2025" dirty="0"/>
          </a:p>
        </p:txBody>
      </p:sp>
      <p:sp>
        <p:nvSpPr>
          <p:cNvPr id="11" name="Shape 8"/>
          <p:cNvSpPr/>
          <p:nvPr/>
        </p:nvSpPr>
        <p:spPr>
          <a:xfrm>
            <a:off x="762000" y="4773905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2" name="Shape 9"/>
          <p:cNvSpPr/>
          <p:nvPr/>
        </p:nvSpPr>
        <p:spPr>
          <a:xfrm>
            <a:off x="762000" y="4011905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13" name="Text 10"/>
          <p:cNvSpPr/>
          <p:nvPr/>
        </p:nvSpPr>
        <p:spPr>
          <a:xfrm>
            <a:off x="723900" y="401190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562100" y="4121442"/>
            <a:ext cx="515656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Diagnóstico INT8 (Edge / Mobile / Cloud)</a:t>
            </a:r>
            <a:endParaRPr lang="en-US" sz="2025" dirty="0"/>
          </a:p>
        </p:txBody>
      </p:sp>
      <p:sp>
        <p:nvSpPr>
          <p:cNvPr id="15" name="Shape 12"/>
          <p:cNvSpPr/>
          <p:nvPr/>
        </p:nvSpPr>
        <p:spPr>
          <a:xfrm>
            <a:off x="762000" y="5757870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" y="4995870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17" name="Text 14"/>
          <p:cNvSpPr/>
          <p:nvPr/>
        </p:nvSpPr>
        <p:spPr>
          <a:xfrm>
            <a:off x="723900" y="4995870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562100" y="5105408"/>
            <a:ext cx="437550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Publicação via MQTT do ESP32-S3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762000" y="6745265"/>
            <a:ext cx="888489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" y="5983265"/>
            <a:ext cx="552450" cy="55245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21" name="Text 18"/>
          <p:cNvSpPr/>
          <p:nvPr/>
        </p:nvSpPr>
        <p:spPr>
          <a:xfrm>
            <a:off x="723900" y="5983265"/>
            <a:ext cx="6286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1562100" y="6092803"/>
            <a:ext cx="48039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21181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Histórico e mapa de eventos com GPS</a:t>
            </a:r>
            <a:endParaRPr lang="en-US" sz="2025" dirty="0"/>
          </a:p>
        </p:txBody>
      </p:sp>
      <p:sp>
        <p:nvSpPr>
          <p:cNvPr id="23" name="Shape 20"/>
          <p:cNvSpPr/>
          <p:nvPr/>
        </p:nvSpPr>
        <p:spPr>
          <a:xfrm>
            <a:off x="10256490" y="1429141"/>
            <a:ext cx="7269510" cy="4095750"/>
          </a:xfrm>
          <a:prstGeom prst="roundRect">
            <a:avLst>
              <a:gd name="adj" fmla="val 3721"/>
            </a:avLst>
          </a:prstGeom>
          <a:solidFill>
            <a:srgbClr val="E9E2D9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462546" y="2853129"/>
            <a:ext cx="857250" cy="857250"/>
          </a:xfrm>
          <a:prstGeom prst="ellipse">
            <a:avLst/>
          </a:prstGeom>
          <a:ln w="19050">
            <a:solidFill>
              <a:srgbClr val="80797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3786396" y="3110304"/>
            <a:ext cx="266700" cy="342900"/>
          </a:xfrm>
          <a:prstGeom prst="rect">
            <a:avLst/>
          </a:prstGeom>
          <a:solidFill>
            <a:srgbClr val="4E4640"/>
          </a:solidFill>
          <a:ln/>
        </p:spPr>
      </p:sp>
      <p:sp>
        <p:nvSpPr>
          <p:cNvPr id="26" name="Text 23"/>
          <p:cNvSpPr/>
          <p:nvPr/>
        </p:nvSpPr>
        <p:spPr>
          <a:xfrm>
            <a:off x="12241857" y="3881829"/>
            <a:ext cx="339773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89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VÍDEO DEMONSTRATIVO (1,5×)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256490" y="5851632"/>
            <a:ext cx="7269510" cy="1714500"/>
          </a:xfrm>
          <a:prstGeom prst="roundRect">
            <a:avLst>
              <a:gd name="adj" fmla="val 7778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47015" y="6185007"/>
            <a:ext cx="713730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378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BAIXE E TESTE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10647015" y="6575532"/>
            <a:ext cx="713730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APK + imagens de teste</a:t>
            </a:r>
            <a:endParaRPr lang="en-US" sz="2250" dirty="0"/>
          </a:p>
        </p:txBody>
      </p:sp>
      <p:sp>
        <p:nvSpPr>
          <p:cNvPr id="30" name="Text 27"/>
          <p:cNvSpPr/>
          <p:nvPr/>
        </p:nvSpPr>
        <p:spPr>
          <a:xfrm>
            <a:off x="10647015" y="6956532"/>
            <a:ext cx="71373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33" kern="0" dirty="0">
                <a:solidFill>
                  <a:srgbClr val="273F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32" name="Text 29"/>
          <p:cNvSpPr/>
          <p:nvPr/>
        </p:nvSpPr>
        <p:spPr>
          <a:xfrm>
            <a:off x="762000" y="9582150"/>
            <a:ext cx="24812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DEMONSTRAÇÃO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593788" y="958215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21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CONCLUSÃO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1924050"/>
            <a:ext cx="10720697" cy="1266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50" spc="-10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TinyML agrícola funciona — o gargalo é </a:t>
            </a:r>
            <a:pPr algn="l" indent="0" marL="0">
              <a:lnSpc>
                <a:spcPct val="104000"/>
              </a:lnSpc>
              <a:buNone/>
            </a:pPr>
            <a:r>
              <a:rPr lang="en-US" sz="4650" i="1" spc="-102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dado </a:t>
            </a:r>
            <a:pPr algn="l" indent="0" marL="0">
              <a:lnSpc>
                <a:spcPct val="104000"/>
              </a:lnSpc>
              <a:buNone/>
            </a:pPr>
            <a:r>
              <a:rPr lang="en-US" sz="4650" spc="-102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não o hardware</a:t>
            </a:r>
            <a:endParaRPr lang="en-US" sz="4650" dirty="0"/>
          </a:p>
        </p:txBody>
      </p:sp>
      <p:sp>
        <p:nvSpPr>
          <p:cNvPr id="8" name="Shape 4"/>
          <p:cNvSpPr/>
          <p:nvPr/>
        </p:nvSpPr>
        <p:spPr>
          <a:xfrm>
            <a:off x="762000" y="3704630"/>
            <a:ext cx="5359301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33475" y="4076105"/>
            <a:ext cx="5077986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①</a:t>
            </a:r>
            <a:endParaRPr lang="en-US" sz="3750" dirty="0"/>
          </a:p>
        </p:txBody>
      </p:sp>
      <p:sp>
        <p:nvSpPr>
          <p:cNvPr id="10" name="Text 6"/>
          <p:cNvSpPr/>
          <p:nvPr/>
        </p:nvSpPr>
        <p:spPr>
          <a:xfrm>
            <a:off x="1133475" y="4771430"/>
            <a:ext cx="507798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Viabilidade</a:t>
            </a:r>
            <a:endParaRPr lang="en-US" sz="2850" dirty="0"/>
          </a:p>
        </p:txBody>
      </p:sp>
      <p:sp>
        <p:nvSpPr>
          <p:cNvPr id="11" name="Text 7"/>
          <p:cNvSpPr/>
          <p:nvPr/>
        </p:nvSpPr>
        <p:spPr>
          <a:xfrm>
            <a:off x="1133475" y="5228630"/>
            <a:ext cx="507798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PROVA DE CONCEITO CONCLUÍDA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3475" y="5657255"/>
            <a:ext cx="4754841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MobileNetV2 INT8 roda no ESP32-S3 em 692 ms · 638 KB · ~R$ 80. Diagnostica 10 doenças sem internet.</a:t>
            </a:r>
            <a:endParaRPr lang="en-US" sz="1725" dirty="0"/>
          </a:p>
        </p:txBody>
      </p:sp>
      <p:sp>
        <p:nvSpPr>
          <p:cNvPr id="13" name="Shape 9"/>
          <p:cNvSpPr/>
          <p:nvPr/>
        </p:nvSpPr>
        <p:spPr>
          <a:xfrm>
            <a:off x="6464201" y="3705019"/>
            <a:ext cx="5359450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35676" y="4076494"/>
            <a:ext cx="50781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②</a:t>
            </a:r>
            <a:endParaRPr lang="en-US" sz="3750" dirty="0"/>
          </a:p>
        </p:txBody>
      </p:sp>
      <p:sp>
        <p:nvSpPr>
          <p:cNvPr id="15" name="Text 11"/>
          <p:cNvSpPr/>
          <p:nvPr/>
        </p:nvSpPr>
        <p:spPr>
          <a:xfrm>
            <a:off x="6835676" y="4771819"/>
            <a:ext cx="507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Gap lab–campo</a:t>
            </a:r>
            <a:endParaRPr lang="en-US" sz="2850" dirty="0"/>
          </a:p>
        </p:txBody>
      </p:sp>
      <p:sp>
        <p:nvSpPr>
          <p:cNvPr id="16" name="Text 12"/>
          <p:cNvSpPr/>
          <p:nvPr/>
        </p:nvSpPr>
        <p:spPr>
          <a:xfrm>
            <a:off x="6835676" y="5229019"/>
            <a:ext cx="507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FENÔMENO ESTRUTURAL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835676" y="5657644"/>
            <a:ext cx="4754995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adaptação: 95,76% no lab cai para 18–30% em campo. Documentado (Xu 2024, Singh 2020) — não é particular deste trabalho.</a:t>
            </a:r>
            <a:endParaRPr lang="en-US" sz="1725" dirty="0"/>
          </a:p>
        </p:txBody>
      </p:sp>
      <p:sp>
        <p:nvSpPr>
          <p:cNvPr id="18" name="Shape 14"/>
          <p:cNvSpPr/>
          <p:nvPr/>
        </p:nvSpPr>
        <p:spPr>
          <a:xfrm>
            <a:off x="12166550" y="3707905"/>
            <a:ext cx="5359450" cy="3309938"/>
          </a:xfrm>
          <a:prstGeom prst="roundRect">
            <a:avLst>
              <a:gd name="adj" fmla="val 402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ABBEA2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538025" y="4079380"/>
            <a:ext cx="50781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75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③</a:t>
            </a:r>
            <a:endParaRPr lang="en-US" sz="3750" dirty="0"/>
          </a:p>
        </p:txBody>
      </p:sp>
      <p:sp>
        <p:nvSpPr>
          <p:cNvPr id="20" name="Text 16"/>
          <p:cNvSpPr/>
          <p:nvPr/>
        </p:nvSpPr>
        <p:spPr>
          <a:xfrm>
            <a:off x="12538025" y="4774705"/>
            <a:ext cx="507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gargalo real</a:t>
            </a:r>
            <a:endParaRPr lang="en-US" sz="2850" dirty="0"/>
          </a:p>
        </p:txBody>
      </p:sp>
      <p:sp>
        <p:nvSpPr>
          <p:cNvPr id="21" name="Text 17"/>
          <p:cNvSpPr/>
          <p:nvPr/>
        </p:nvSpPr>
        <p:spPr>
          <a:xfrm>
            <a:off x="12538025" y="5231905"/>
            <a:ext cx="50781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FALTA DATASET BRASILEIRO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2538025" y="5660530"/>
            <a:ext cx="4754995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ABBEA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Variedades locais, iluminação tropical e estágios reais são o fator limitante. Nenhum método sintético supriu (Exp C).</a:t>
            </a:r>
            <a:endParaRPr lang="en-US" sz="1725" dirty="0"/>
          </a:p>
        </p:txBody>
      </p:sp>
      <p:sp>
        <p:nvSpPr>
          <p:cNvPr id="23" name="Shape 19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762000" y="9582150"/>
            <a:ext cx="21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CONCLUSÃO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5495984" y="9582150"/>
            <a:ext cx="223301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 DADO É O GARGALO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514350"/>
            <a:ext cx="323850" cy="3238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8250" y="561975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6613832" y="566738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22 / 23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62000" y="1428750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5E884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TRABALHOS FUTUROS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62000" y="1905000"/>
            <a:ext cx="797747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spc="-89" kern="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 caminho </a:t>
            </a:r>
            <a:pPr algn="l" indent="0" marL="0">
              <a:lnSpc>
                <a:spcPct val="104000"/>
              </a:lnSpc>
              <a:buNone/>
            </a:pPr>
            <a:r>
              <a:rPr lang="en-US" sz="4050" i="1" spc="-89" kern="0" dirty="0">
                <a:solidFill>
                  <a:srgbClr val="273F28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à frente</a:t>
            </a:r>
            <a:endParaRPr lang="en-US" sz="4050" dirty="0"/>
          </a:p>
        </p:txBody>
      </p:sp>
      <p:sp>
        <p:nvSpPr>
          <p:cNvPr id="7" name="Shape 4"/>
          <p:cNvSpPr/>
          <p:nvPr/>
        </p:nvSpPr>
        <p:spPr>
          <a:xfrm>
            <a:off x="762000" y="2916138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52525" y="3306663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95400" y="3449538"/>
            <a:ext cx="152400" cy="152400"/>
          </a:xfrm>
          <a:prstGeom prst="ellipse">
            <a:avLst/>
          </a:prstGeom>
          <a:solidFill>
            <a:srgbClr val="5E884F"/>
          </a:solidFill>
          <a:ln/>
        </p:spPr>
      </p:sp>
      <p:sp>
        <p:nvSpPr>
          <p:cNvPr id="10" name="Text 7"/>
          <p:cNvSpPr/>
          <p:nvPr/>
        </p:nvSpPr>
        <p:spPr>
          <a:xfrm>
            <a:off x="1819275" y="3268563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Dataset brasileiro de campo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819275" y="3668613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Coleta com pequenos produtores, variedades locais e condições reais — o fator que mais limita a generalização.</a:t>
            </a:r>
            <a:endParaRPr lang="en-US" sz="1725" dirty="0"/>
          </a:p>
        </p:txBody>
      </p:sp>
      <p:sp>
        <p:nvSpPr>
          <p:cNvPr id="12" name="Shape 9"/>
          <p:cNvSpPr/>
          <p:nvPr/>
        </p:nvSpPr>
        <p:spPr>
          <a:xfrm>
            <a:off x="9305925" y="2916234"/>
            <a:ext cx="8220075" cy="1740099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6450" y="3306759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839325" y="3449634"/>
            <a:ext cx="152400" cy="152400"/>
          </a:xfrm>
          <a:prstGeom prst="ellipse">
            <a:avLst/>
          </a:prstGeom>
          <a:solidFill>
            <a:srgbClr val="C89344"/>
          </a:solidFill>
          <a:ln/>
        </p:spPr>
      </p:sp>
      <p:sp>
        <p:nvSpPr>
          <p:cNvPr id="15" name="Text 12"/>
          <p:cNvSpPr/>
          <p:nvPr/>
        </p:nvSpPr>
        <p:spPr>
          <a:xfrm>
            <a:off x="10363200" y="3268659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Integração da câmera OV5640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363200" y="3668709"/>
            <a:ext cx="6975443" cy="6732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Validar o pipeline de captura completo no ESP32-S3 e medir a latência com sensor real, fechando o ciclo embarcado.</a:t>
            </a:r>
            <a:endParaRPr lang="en-US" sz="1725" dirty="0"/>
          </a:p>
        </p:txBody>
      </p:sp>
      <p:sp>
        <p:nvSpPr>
          <p:cNvPr id="17" name="Shape 14"/>
          <p:cNvSpPr/>
          <p:nvPr/>
        </p:nvSpPr>
        <p:spPr>
          <a:xfrm>
            <a:off x="762000" y="4982251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52525" y="5372776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95400" y="5515651"/>
            <a:ext cx="152400" cy="152400"/>
          </a:xfrm>
          <a:prstGeom prst="ellipse">
            <a:avLst/>
          </a:prstGeom>
          <a:solidFill>
            <a:srgbClr val="A84533"/>
          </a:solidFill>
          <a:ln/>
        </p:spPr>
      </p:sp>
      <p:sp>
        <p:nvSpPr>
          <p:cNvPr id="20" name="Text 17"/>
          <p:cNvSpPr/>
          <p:nvPr/>
        </p:nvSpPr>
        <p:spPr>
          <a:xfrm>
            <a:off x="1819275" y="5334676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Validação com produtores reais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819275" y="5734726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Levar o sistema a propriedades agrícolas e avaliar usabilidade, acurácia em campo e adoção pelo pequeno produtor.</a:t>
            </a:r>
            <a:endParaRPr lang="en-US" sz="1725" dirty="0"/>
          </a:p>
        </p:txBody>
      </p:sp>
      <p:sp>
        <p:nvSpPr>
          <p:cNvPr id="22" name="Shape 19"/>
          <p:cNvSpPr/>
          <p:nvPr/>
        </p:nvSpPr>
        <p:spPr>
          <a:xfrm>
            <a:off x="9305925" y="4987527"/>
            <a:ext cx="8220075" cy="1740098"/>
          </a:xfrm>
          <a:prstGeom prst="roundRect">
            <a:avLst>
              <a:gd name="adj" fmla="val 7663"/>
            </a:avLst>
          </a:prstGeom>
          <a:solidFill>
            <a:srgbClr val="FAF5EC"/>
          </a:solidFill>
          <a:ln w="9525">
            <a:solidFill>
              <a:srgbClr val="CAC3B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6450" y="5378052"/>
            <a:ext cx="438150" cy="438150"/>
          </a:xfrm>
          <a:prstGeom prst="ellipse">
            <a:avLst/>
          </a:prstGeom>
          <a:ln w="9525">
            <a:solidFill>
              <a:srgbClr val="CAC3B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839325" y="5520927"/>
            <a:ext cx="152400" cy="152400"/>
          </a:xfrm>
          <a:prstGeom prst="ellipse">
            <a:avLst/>
          </a:prstGeom>
          <a:solidFill>
            <a:srgbClr val="273F28"/>
          </a:solidFill>
          <a:ln/>
        </p:spPr>
      </p:sp>
      <p:sp>
        <p:nvSpPr>
          <p:cNvPr id="25" name="Text 22"/>
          <p:cNvSpPr/>
          <p:nvPr/>
        </p:nvSpPr>
        <p:spPr>
          <a:xfrm>
            <a:off x="10363200" y="5339952"/>
            <a:ext cx="744950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1181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Expansão para outras culturas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0363200" y="5740002"/>
            <a:ext cx="6975443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725" dirty="0">
                <a:solidFill>
                  <a:srgbClr val="4E464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Generalizar o pipeline para soja, milho ou café — outras culturas brasileiras de forte impacto econômico.</a:t>
            </a:r>
            <a:endParaRPr lang="en-US" sz="1725" dirty="0"/>
          </a:p>
        </p:txBody>
      </p:sp>
      <p:sp>
        <p:nvSpPr>
          <p:cNvPr id="27" name="Shape 24"/>
          <p:cNvSpPr/>
          <p:nvPr/>
        </p:nvSpPr>
        <p:spPr>
          <a:xfrm>
            <a:off x="762000" y="9382125"/>
            <a:ext cx="16764000" cy="9525"/>
          </a:xfrm>
          <a:prstGeom prst="rect">
            <a:avLst/>
          </a:prstGeom>
          <a:solidFill>
            <a:srgbClr val="CAC3BA"/>
          </a:solidFill>
          <a:ln/>
        </p:spPr>
      </p:sp>
      <p:sp>
        <p:nvSpPr>
          <p:cNvPr id="28" name="Text 25"/>
          <p:cNvSpPr/>
          <p:nvPr/>
        </p:nvSpPr>
        <p:spPr>
          <a:xfrm>
            <a:off x="762000" y="9582150"/>
            <a:ext cx="3101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CERES · TRABALHOS FUTUROS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240494" y="9582150"/>
            <a:ext cx="471405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0797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 BR · CÂMERA · CAMPO · CULTURAS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514350"/>
            <a:ext cx="381000" cy="381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95400" y="590550"/>
            <a:ext cx="18715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spc="-18" kern="0" dirty="0">
                <a:solidFill>
                  <a:srgbClr val="5E884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Ceres </a:t>
            </a:r>
            <a:pPr algn="l" indent="0" marL="0">
              <a:buNone/>
            </a:pPr>
            <a:r>
              <a:rPr lang="en-US" sz="1800" spc="-18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6613832" y="595313"/>
            <a:ext cx="9883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16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23 / 23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3843338"/>
            <a:ext cx="18440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575" spc="441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DEFESA DE ARTIGO · PSI</a:t>
            </a:r>
            <a:endParaRPr lang="en-US" sz="1575" dirty="0"/>
          </a:p>
        </p:txBody>
      </p:sp>
      <p:sp>
        <p:nvSpPr>
          <p:cNvPr id="7" name="Text 3"/>
          <p:cNvSpPr/>
          <p:nvPr/>
        </p:nvSpPr>
        <p:spPr>
          <a:xfrm>
            <a:off x="762000" y="4395788"/>
            <a:ext cx="18440400" cy="1438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1250" spc="-247" kern="0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Obrigado</a:t>
            </a:r>
            <a:pPr algn="l" indent="0" marL="0">
              <a:lnSpc>
                <a:spcPct val="98000"/>
              </a:lnSpc>
              <a:buNone/>
            </a:pPr>
            <a:r>
              <a:rPr lang="en-US" sz="11250" spc="-247" kern="0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11250" dirty="0"/>
          </a:p>
        </p:txBody>
      </p:sp>
      <p:sp>
        <p:nvSpPr>
          <p:cNvPr id="8" name="Text 4"/>
          <p:cNvSpPr/>
          <p:nvPr/>
        </p:nvSpPr>
        <p:spPr>
          <a:xfrm>
            <a:off x="762000" y="6044001"/>
            <a:ext cx="18440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i="1" dirty="0">
                <a:solidFill>
                  <a:srgbClr val="ABBEA2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Perguntas?</a:t>
            </a:r>
            <a:endParaRPr lang="en-US" sz="3150" dirty="0"/>
          </a:p>
        </p:txBody>
      </p:sp>
      <p:sp>
        <p:nvSpPr>
          <p:cNvPr id="9" name="Shape 5"/>
          <p:cNvSpPr/>
          <p:nvPr/>
        </p:nvSpPr>
        <p:spPr>
          <a:xfrm>
            <a:off x="762000" y="9344025"/>
            <a:ext cx="16764000" cy="9525"/>
          </a:xfrm>
          <a:prstGeom prst="rect">
            <a:avLst/>
          </a:prstGeom>
          <a:solidFill>
            <a:srgbClr val="ABBEA2">
              <a:alpha val="2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762000" y="9544050"/>
            <a:ext cx="550821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AF5E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Namem Rachid Jaudy Neto · IFMT Cuiabá · Junho 2026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4593788" y="9563100"/>
            <a:ext cx="322543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ABBEA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GITHUB.COM/NAMEM/EXTENSAO2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2026-06-17T13:47:29Z</dcterms:created>
  <dcterms:modified xsi:type="dcterms:W3CDTF">2026-06-17T13:47:29Z</dcterms:modified>
</cp:coreProperties>
</file>