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6952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Ceres Diagnóstico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Review 2 — </a:t>
            </a:r>
            <a:r>
              <a:rPr lang="en-US" sz="2600" dirty="0" err="1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r>
              <a:rPr lang="en-US" sz="2600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0" y="2880360"/>
            <a:ext cx="5788152" cy="36576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Namem Rachid Jaudy Neto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 /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554480" y="5120640"/>
            <a:ext cx="2651760" cy="3474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554480" y="5120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5120640"/>
            <a:ext cx="2651760" cy="3474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572000" y="5120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INT8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5120640"/>
            <a:ext cx="2651760" cy="3474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7589520" y="5120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PlantVillage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063240" y="5596128"/>
            <a:ext cx="2651760" cy="3474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3063240" y="55961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80760" y="5596128"/>
            <a:ext cx="2651760" cy="3474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6080760" y="55961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Continentes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Ceres Diagnóstico — Visão Geral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0 e 1 já apresentadas — este slide é contexto rápido.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234440"/>
            <a:ext cx="3749040" cy="5029200"/>
          </a:xfrm>
          <a:prstGeom prst="rect">
            <a:avLst/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228600" y="1234440"/>
            <a:ext cx="3749040" cy="50292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2004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34747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rural sem acesso a diagnóstico rápido de doenças no tomateiro.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Prejuízo: até 100% da safra.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06240" y="1234440"/>
            <a:ext cx="3749040" cy="502920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206240" y="1234440"/>
            <a:ext cx="3749040" cy="5029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29768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43400" y="1874520"/>
            <a:ext cx="34747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+ câmera + IA embarcada (TinyML).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10 doenças em campo, sem internet.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83880" y="1234440"/>
            <a:ext cx="3749040" cy="5029200"/>
          </a:xfrm>
          <a:prstGeom prst="rect">
            <a:avLst/>
          </a:prstGeom>
          <a:solidFill>
            <a:srgbClr val="132233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8183880" y="1234440"/>
            <a:ext cx="3749040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827532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1874520"/>
            <a:ext cx="34747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639 KB no chip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WiFi → MQTT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Django REST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PostgreSQL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 Flutter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prometemos na Sprint Review 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1704320" cy="1325880"/>
          </a:xfrm>
          <a:prstGeom prst="rect">
            <a:avLst/>
          </a:prstGeom>
          <a:solidFill>
            <a:srgbClr val="132233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C9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Flutter (promessa original)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444752"/>
            <a:ext cx="11338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de diagnóstico, histórico paginado e funcionamento offline para o produtor rural.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94960" y="2487168"/>
            <a:ext cx="1371600" cy="54864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29200" y="2560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926080"/>
            <a:ext cx="11704320" cy="1280160"/>
          </a:xfrm>
          <a:prstGeom prst="rect">
            <a:avLst/>
          </a:prstGeom>
          <a:solidFill>
            <a:srgbClr val="3E20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11480" y="2999232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Decisão: atacar hardware antes do app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" y="3364992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hardware disponível (ESP32-S3 N16R8) e o modelo IA pronto (639 KB), priorizamos validar a pilha completa de IA + IoT antes do app. O Flutter sem dados reais do hardware seria só UI sem substância.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" y="4370832"/>
            <a:ext cx="5577840" cy="658368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20040" y="4416552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IA: validar gap lab-campo — entender por que 20% e como melhorar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4370832"/>
            <a:ext cx="5897880" cy="65836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126480" y="4416552"/>
            <a:ext cx="5715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Firmware: pipeline IoT de ponta a ponta em hardware real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8600" y="5166360"/>
            <a:ext cx="1170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de treinamento: PlantVillage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5577840" cy="2651760"/>
          </a:xfrm>
          <a:prstGeom prst="rect">
            <a:avLst/>
          </a:prstGeom>
          <a:solidFill>
            <a:srgbClr val="132233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C9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e justificativa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55448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open access repository of images on plant health to enable the development of mobile disease diagnostics"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Hughes &amp; Salathé (2015) criaram o PlantVillage como o maior benchmark público de doenças de plantas: imagens coletadas em laboratório, fundo controlado, alta resolução.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como base nos dois trabalhos do slide de literatura: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Mohanty et al. (2016) — 99,35% lab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Singh et al. (2020) — comparação lab vs campo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CC BY 4.0 — uso acadêmico e comercial permitido.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51560"/>
            <a:ext cx="5897880" cy="265176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217920" y="1143000"/>
            <a:ext cx="5532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do dataset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217920" y="157276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originais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38360" y="1572768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18.160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2084832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augmentation 6× (offline, seed=42)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738360" y="2084832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88.949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596896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treino / val / teste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38360" y="259689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15 / 15%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3108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(tomateiro)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38360" y="31089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" y="3822192"/>
            <a:ext cx="117043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11480" y="3858768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PlantVillage → Ceres (10 classes)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28600" y="4251960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301752" y="4306824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D01 Requeima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78608" y="4251960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2651760" y="4306824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D02 Septoriose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28616" y="4251960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001768" y="4306824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D03 Pinta-preta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78624" y="4251960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7351776" y="4306824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D03b Mancha-alvo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28632" y="4251960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9701784" y="4306824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D05 Mofo-foliar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" y="5001768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301752" y="5056632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D06 Vira-cabeça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78608" y="5001768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2651760" y="5056632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D06b Mosaico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28616" y="5001768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5001768" y="5056632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D07 Ácaro-bronzeamento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278624" y="5001768"/>
            <a:ext cx="224028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7351776" y="5056632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D09 Mancha-bacteriana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628632" y="5001768"/>
            <a:ext cx="2240280" cy="658368"/>
          </a:xfrm>
          <a:prstGeom prst="rect">
            <a:avLst/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9701784" y="5056632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Saudável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28600" y="5806440"/>
            <a:ext cx="11704320" cy="59436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20040" y="5852160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Limitação conhecida: fundo cinza uniforme controlado → modelo aprende o fundo como feature → gap lab-campo. Motivação dos experimentos C, D e 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entregue — jornada dos experimentos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11704320" cy="3657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92608" y="960120"/>
            <a:ext cx="713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960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 do Experimento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84848" y="960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56448" y="9601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436608" y="9601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Resultado-chave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371600"/>
            <a:ext cx="11704320" cy="804672"/>
          </a:xfrm>
          <a:prstGeom prst="rect">
            <a:avLst/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228600" y="1371600"/>
            <a:ext cx="713232" cy="80467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28600" y="1371600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15568" y="1444752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Impulse — treinamento automático (nuvem)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84848" y="144475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INT8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56448" y="1444752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436608" y="1444752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Quantização automática sem calibração: -30pp. Descartado.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2249424"/>
            <a:ext cx="11704320" cy="8046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228600" y="2249424"/>
            <a:ext cx="713232" cy="80467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228600" y="2249424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15568" y="2322576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local + quantização INT8 calibrada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84848" y="232257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98,13%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56448" y="2322576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36608" y="2322576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 do projeto. 50 batches val como calibração → 0pp de perda.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8600" y="3127248"/>
            <a:ext cx="11704320" cy="804672"/>
          </a:xfrm>
          <a:prstGeom prst="rect">
            <a:avLst/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228600" y="3127248"/>
            <a:ext cx="713232" cy="80467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228600" y="3127248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15568" y="3200400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Augmentação sintética de fundo (rembg U2-Net)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84848" y="320040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96,20%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56448" y="320040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20,24%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436608" y="3200400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177k composições, 650 min. 0pp de ganho em campo. Resultado negativo documentado.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" y="4005072"/>
            <a:ext cx="11704320" cy="804672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228600" y="4005072"/>
            <a:ext cx="713232" cy="80467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228600" y="4005072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115568" y="4078224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com imagens reais de campo (PlantDoc)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784848" y="407822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97,55%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156448" y="4078224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30,43%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436608" y="4078224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+10pp em imagens nunca vistas. Dados reais &gt; augmentação sintética.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8600" y="4882896"/>
            <a:ext cx="11704320" cy="804672"/>
          </a:xfrm>
          <a:prstGeom prst="rect">
            <a:avLst/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228600" y="4882896"/>
            <a:ext cx="713232" cy="804672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228600" y="4882896"/>
            <a:ext cx="7132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15568" y="4956048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 + augmentação de cor agressiva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784848" y="495604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98,43%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156448" y="4956048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27,65%*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436608" y="4956048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+16pp Índia · +8,5pp Bangladesh. Modelo final: 638 KB ✅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28600" y="5760720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 C: artefatos de borda do rembg criaram domínio sintético — modelo aprendeu franjas inexistentes em campo → 0pp de ganho → motivou o Exp D com dados reais  |  * Campo = Tomato-Village, 217 imgs, nunca vistas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3 datasets independentes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987552"/>
            <a:ext cx="1170432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01752" y="98755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19272" y="9875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62472" y="987552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59752" y="98755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805672" y="98755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E 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451592" y="98755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" y="1444752"/>
            <a:ext cx="11704320" cy="694944"/>
          </a:xfrm>
          <a:prstGeom prst="rect">
            <a:avLst/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01752" y="1536192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PlantDoc / test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19272" y="1536192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EUA / Europa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62472" y="1536192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59752" y="153619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30,43%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05672" y="153619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~67%*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451592" y="1536192"/>
            <a:ext cx="1143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8600" y="2194560"/>
            <a:ext cx="11704320" cy="694944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01752" y="2286000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Tomato-Village / test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19272" y="22860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Rajasthan, Índia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62472" y="2286000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59752" y="2286000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11,52%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805672" y="2286000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27,65%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51592" y="2286000"/>
            <a:ext cx="1143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+16pp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8600" y="2944368"/>
            <a:ext cx="11704320" cy="694944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01752" y="3035808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Daffodil BD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9272" y="3035808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062472" y="3035808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159752" y="3035808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9,59%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805672" y="3035808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18,13%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451592" y="3035808"/>
            <a:ext cx="1143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+8,5pp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28600" y="373075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28600" y="4133088"/>
            <a:ext cx="11704320" cy="594360"/>
          </a:xfrm>
          <a:prstGeom prst="rect">
            <a:avLst/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11480" y="4178808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E generalizou melhor em 2/3 datasets independentes. Focal Loss corrigiu o colapso para D02 — atrator mudou para D01/D09 (features mais discriminativas).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28600" y="4846320"/>
            <a:ext cx="11704320" cy="1417320"/>
          </a:xfrm>
          <a:prstGeom prst="rect">
            <a:avLst/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411480" y="4910328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Exp E melhorou nos datasets independentes?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5285232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 (Lin et al. 2017, γ=2): exemplos difíceis (erros confiantes) recebem 4× mais gradiente — força aprender features discriminativas em vez de colapsar numa classe 'segura'.  Augmentação de cor (brilho ±30%, contraste ±40%, saturação 50–160%, matiz ±8°): simula variações de iluminação solar e câmeras distintas.  Backbone completo descongelado (LR=1e-5): todas as features do ImageNet reajustadas para domínio de campo.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resultado não é anomalia — é o padrão da área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170432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01752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04872" y="1005840"/>
            <a:ext cx="6492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/ Venue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25712" y="100584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88752" y="100584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" y="1463040"/>
            <a:ext cx="11704320" cy="1170432"/>
          </a:xfrm>
          <a:prstGeom prst="rect">
            <a:avLst/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01752" y="1554480"/>
            <a:ext cx="18288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Mohanty et 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04872" y="1536192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"Using Deep Learning for Image-Based Plant Disease Detection"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Plant Science, 2016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25712" y="1554480"/>
            <a:ext cx="11887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99,35%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88752" y="1554480"/>
            <a:ext cx="11430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~31%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8600" y="2697480"/>
            <a:ext cx="11704320" cy="1170432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2788920"/>
            <a:ext cx="18288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Singh et al.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04872" y="2770632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"Deep Learning-based Plant Disease Identification using Real Field Images"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Access, 2020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25712" y="2788920"/>
            <a:ext cx="11887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588752" y="2788920"/>
            <a:ext cx="11430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~55%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8600" y="3931920"/>
            <a:ext cx="11704320" cy="1170432"/>
          </a:xfrm>
          <a:prstGeom prst="rect">
            <a:avLst/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01752" y="4023360"/>
            <a:ext cx="18288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Ceres (Jaudy Neto)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404872" y="4005072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TCC IFMT Cuiabá, 2026. Exp D: Fine-tuning com dados reais. Exp E: Focal Loss + Aug Agressiva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25712" y="4023360"/>
            <a:ext cx="11887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98,43%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88752" y="4023360"/>
            <a:ext cx="11430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30,43%*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28600" y="5193792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8600" y="5559552"/>
            <a:ext cx="11704320" cy="7772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20040" y="5605272"/>
            <a:ext cx="11521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Mohanty e Singh documentaram o gap lab-campo — o Ceres resolve: sistema embarcado completo em 638 KB, validado em 3 continentes. Howard et al. (2017): MobileNetV2 — única arquitetura que cabe no ESP32-S3.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gap lab-campo existe?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11704320" cy="1078992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228600" y="1005840"/>
            <a:ext cx="502920" cy="107899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228600" y="1005840"/>
            <a:ext cx="50292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1097280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Fundo da imagem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444752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PlantVillage: fundo cinza uniforme, controlado. Modelo aprende o fundo como feature discriminativa. Exp C tentou resolver com composições sintéticas (rembg) — 0pp de ganho.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28600" y="2176272"/>
            <a:ext cx="11704320" cy="1078992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228600" y="2176272"/>
            <a:ext cx="502920" cy="107899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28600" y="2176272"/>
            <a:ext cx="50292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26771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Iluminação e câmera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615184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solar direta, sombras, reflexos e câmeras de celular criam distribuição visual completamente diferente do laboratório.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8600" y="3346704"/>
            <a:ext cx="11704320" cy="1078992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228600" y="3346704"/>
            <a:ext cx="502920" cy="107899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28600" y="3346704"/>
            <a:ext cx="50292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" y="343814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Variedade geográfica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3785616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Cultivares de Rajasthan (Índia) e Bangladesh diferem morfologicamente das cultivares americanas usadas no PlantVillage.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28600" y="4517136"/>
            <a:ext cx="11704320" cy="1078992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228600" y="4517136"/>
            <a:ext cx="502920" cy="107899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228600" y="4517136"/>
            <a:ext cx="50292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" y="4608576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Estágio fenológico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4956048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Folhas em diferentes estágios de crescimento têm textura, cor e proporções distintas — variável ausente no dataset de laboratório.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0040" y="5788152"/>
            <a:ext cx="11521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vem a seguir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1704320" cy="502920"/>
          </a:xfrm>
          <a:prstGeom prst="rect">
            <a:avLst/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65760" y="1033272"/>
            <a:ext cx="11430000" cy="4114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validação do modelo:  Nível 1 ✅ Lab (98%)  →  Nível 2 ✅ Campo PlantDoc (30%)  →  Nível 3 ⏳ Hardware real ESP32-S3  →  Nível 4 ⏳ Produtores Sorriso-MT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600200"/>
            <a:ext cx="11704320" cy="38404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20040" y="160020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20240" y="1600200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0" y="16002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28600" y="2029968"/>
            <a:ext cx="11704320" cy="822960"/>
          </a:xfrm>
          <a:prstGeom prst="rect">
            <a:avLst/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0040" y="21214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20240" y="21031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OV5640 + DHT22 + sensor de umidade do solo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0" y="21031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física / AliExpress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944368"/>
            <a:ext cx="11704320" cy="822960"/>
          </a:xfrm>
          <a:prstGeom prst="rect">
            <a:avLst/>
          </a:prstGeom>
          <a:solidFill>
            <a:srgbClr val="1A2E44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20040" y="30358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920240" y="30175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Micro no ESP32-S3 — modelo 639KB rodando no chip com câmera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0" y="30175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em mãos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3858768"/>
            <a:ext cx="11704320" cy="822960"/>
          </a:xfrm>
          <a:prstGeom prst="rect">
            <a:avLst/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320040" y="39502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920240" y="39319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50 imagens, latência &lt; 300ms, RAM livre &gt; 4MB — Nível 3 da cadeia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0" y="39319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em mãos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" y="4773168"/>
            <a:ext cx="11704320" cy="822960"/>
          </a:xfrm>
          <a:prstGeom prst="rect">
            <a:avLst/>
          </a:prstGeom>
          <a:solidFill>
            <a:srgbClr val="1A2E44"/>
          </a:solidFill>
          <a:ln w="12700">
            <a:solidFill>
              <a:srgbClr val="5C9BF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320040" y="48646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20240" y="48463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 — histórico de diagnósticos, resultado, funcionamento offline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0" y="48463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9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máquina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8600" y="5687568"/>
            <a:ext cx="11704320" cy="82296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20040" y="57790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920240" y="57607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produtores de Sorriso-MT — fotos reais brasileiras — Nível 4 da cadeia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86800" y="57607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com produtores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Sprint Review 2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64008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40080" y="1033272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 experimentos de IA concluídos (A, B, C, D, E) — metodologia científica completa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11274552" cy="64008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Modelo final: Exp E · 638 KB · 98,43% lab · Macro F1 0,979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68296"/>
            <a:ext cx="11274552" cy="64008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40080" y="2441448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 validações independentes: +16pp Índia · +8,5pp Bangladesh com Exp E vs Exp 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72384"/>
            <a:ext cx="11274552" cy="64008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40080" y="3145536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Gap lab-campo multifatorial documentado: fundo + iluminação + geografia + variedade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776472"/>
            <a:ext cx="11274552" cy="640080"/>
          </a:xfrm>
          <a:prstGeom prst="rect">
            <a:avLst/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40080" y="3849624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Firmware ESP32-S3 + MQTT: 74 eventos · pipeline completo validado em hardware real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480560"/>
            <a:ext cx="11274552" cy="640080"/>
          </a:xfrm>
          <a:prstGeom prst="rect">
            <a:avLst/>
          </a:prstGeom>
          <a:solidFill>
            <a:srgbClr val="3E2000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40080" y="4553712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Próximo marco: TFLite Micro no ESP32-S3 com câmera OV5640 + validação Sorriso-MT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35508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github.com/Namem/extensao2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1253</Words>
  <Application>Microsoft Office PowerPoint</Application>
  <PresentationFormat>Widescreen</PresentationFormat>
  <Paragraphs>194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Namem</cp:lastModifiedBy>
  <cp:revision>2</cp:revision>
  <dcterms:created xsi:type="dcterms:W3CDTF">2026-05-12T15:30:52Z</dcterms:created>
  <dcterms:modified xsi:type="dcterms:W3CDTF">2026-05-12T15:35:46Z</dcterms:modified>
</cp:coreProperties>
</file>