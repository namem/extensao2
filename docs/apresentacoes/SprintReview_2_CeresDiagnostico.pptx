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Ceres Diagnóstico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Review 2 — Validação IA + Pipeline IoT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0" y="2880360"/>
            <a:ext cx="5788152" cy="36576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99232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TCC — Engenharia da Computação · IFMT Cuiabá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Namem Rachid Jaudy Neto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 /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554480" y="5120640"/>
            <a:ext cx="2651760" cy="347472"/>
          </a:xfrm>
          <a:prstGeom prst="rect">
            <a:avLst>
              <a:gd name="adj" fmla="val 15789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5120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5120640"/>
            <a:ext cx="2651760" cy="347472"/>
          </a:xfrm>
          <a:prstGeom prst="rect">
            <a:avLst>
              <a:gd name="adj" fmla="val 15789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5120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5120640"/>
            <a:ext cx="2651760" cy="347472"/>
          </a:xfrm>
          <a:prstGeom prst="rect">
            <a:avLst>
              <a:gd name="adj" fmla="val 15789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5120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INT8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54480" y="5596128"/>
            <a:ext cx="2651760" cy="347472"/>
          </a:xfrm>
          <a:prstGeom prst="rect">
            <a:avLst>
              <a:gd name="adj" fmla="val 15789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4480" y="55961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5596128"/>
            <a:ext cx="2651760" cy="347472"/>
          </a:xfrm>
          <a:prstGeom prst="rect">
            <a:avLst>
              <a:gd name="adj" fmla="val 15789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55961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5596128"/>
            <a:ext cx="2651760" cy="347472"/>
          </a:xfrm>
          <a:prstGeom prst="rect">
            <a:avLst>
              <a:gd name="adj" fmla="val 15789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559612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Ceres Diagnóstico — Visão Geral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0 e 1 já apresentadas — este slide é contexto rápido.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234440"/>
            <a:ext cx="3749040" cy="5029200"/>
          </a:xfrm>
          <a:prstGeom prst="rect">
            <a:avLst>
              <a:gd name="adj" fmla="val 2439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1234440"/>
            <a:ext cx="3749040" cy="502920"/>
          </a:xfrm>
          <a:prstGeom prst="rect">
            <a:avLst>
              <a:gd name="adj" fmla="val 14545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34747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rural sem acesso a diagnóstico rápido de doenças no tomateiro.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Prejuízo: até 100% da safra.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06240" y="1234440"/>
            <a:ext cx="3749040" cy="5029200"/>
          </a:xfrm>
          <a:prstGeom prst="rect">
            <a:avLst>
              <a:gd name="adj" fmla="val 2439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1234440"/>
            <a:ext cx="3749040" cy="502920"/>
          </a:xfrm>
          <a:prstGeom prst="rect">
            <a:avLst>
              <a:gd name="adj" fmla="val 14545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43400" y="1874520"/>
            <a:ext cx="34747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+ câmera + IA embarcada (TinyML).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10 doenças em campo, sem internet.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83880" y="1234440"/>
            <a:ext cx="3749040" cy="5029200"/>
          </a:xfrm>
          <a:prstGeom prst="rect">
            <a:avLst>
              <a:gd name="adj" fmla="val 2439"/>
            </a:avLst>
          </a:prstGeom>
          <a:solidFill>
            <a:srgbClr val="132233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234440"/>
            <a:ext cx="3749040" cy="502920"/>
          </a:xfrm>
          <a:prstGeom prst="rect">
            <a:avLst>
              <a:gd name="adj" fmla="val 1454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2801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1874520"/>
            <a:ext cx="34747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639 KB no chip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WiFi → MQTT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Django REST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PostgreSQL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 Flutter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prometemos na Sprint Review 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05840"/>
            <a:ext cx="11704320" cy="1325880"/>
          </a:xfrm>
          <a:prstGeom prst="rect">
            <a:avLst>
              <a:gd name="adj" fmla="val 5517"/>
            </a:avLst>
          </a:prstGeom>
          <a:solidFill>
            <a:srgbClr val="132233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7899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9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Flutter (promessa original)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444752"/>
            <a:ext cx="11338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de diagnóstico, histórico paginado e funcionamento offline para o produtor rural.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94960" y="2487168"/>
            <a:ext cx="1371600" cy="54864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2560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926080"/>
            <a:ext cx="11704320" cy="1280160"/>
          </a:xfrm>
          <a:prstGeom prst="rect">
            <a:avLst>
              <a:gd name="adj" fmla="val 5714"/>
            </a:avLst>
          </a:prstGeom>
          <a:solidFill>
            <a:srgbClr val="3E20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999232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Decisão: atacar hardware antes do app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" y="3364992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hardware disponível (ESP32-S3 N16R8) e o modelo IA pronto (639 KB), priorizamos validar a pilha completa de IA + IoT antes do app. O Flutter sem dados reais do hardware seria só UI sem substância.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" y="4370832"/>
            <a:ext cx="5577840" cy="658368"/>
          </a:xfrm>
          <a:prstGeom prst="rect">
            <a:avLst>
              <a:gd name="adj" fmla="val 11111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4416552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IA: validar gap lab-campo — entender por que 20% e como melhorar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4370832"/>
            <a:ext cx="5897880" cy="658368"/>
          </a:xfrm>
          <a:prstGeom prst="rect">
            <a:avLst>
              <a:gd name="adj" fmla="val 11111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4416552"/>
            <a:ext cx="5715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Firmware: pipeline IoT de ponta a ponta em hardware real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8600" y="5166360"/>
            <a:ext cx="1170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 mantido no roadmap — próxima entrega após hardware validado.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entregue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960120"/>
            <a:ext cx="11704320" cy="38404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960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869680" y="96012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99032"/>
            <a:ext cx="11704320" cy="914400"/>
          </a:xfrm>
          <a:prstGeom prst="rect">
            <a:avLst>
              <a:gd name="adj" fmla="val 5000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472184"/>
            <a:ext cx="69037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C — Background Augmentation sintética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43800" y="1472184"/>
            <a:ext cx="10515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69680" y="1472184"/>
            <a:ext cx="3017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20,24% campo — igual ao anterior. Meta 70% não atingida.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" y="2404872"/>
            <a:ext cx="11704320" cy="914400"/>
          </a:xfrm>
          <a:prstGeom prst="rect">
            <a:avLst>
              <a:gd name="adj" fmla="val 5000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478024"/>
            <a:ext cx="69037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D — Fine-tuning com fotos reais de campo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43800" y="2478024"/>
            <a:ext cx="10515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69680" y="2478024"/>
            <a:ext cx="3017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97,55% lab · 30,43% campo não visto · +10pp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3410712"/>
            <a:ext cx="11704320" cy="914400"/>
          </a:xfrm>
          <a:prstGeom prst="rect">
            <a:avLst>
              <a:gd name="adj" fmla="val 5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483864"/>
            <a:ext cx="69037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Tomato-Village (Rajasthan, Índia)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43800" y="3483864"/>
            <a:ext cx="10515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69680" y="3483864"/>
            <a:ext cx="3017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11,52% · 217 imgs · gap geográfico confirmado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" y="4416552"/>
            <a:ext cx="11704320" cy="914400"/>
          </a:xfrm>
          <a:prstGeom prst="rect">
            <a:avLst>
              <a:gd name="adj" fmla="val 5000"/>
            </a:avLst>
          </a:prstGeom>
          <a:solidFill>
            <a:srgbClr val="1A2E44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489704"/>
            <a:ext cx="69037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Daffodil BD (Bangladesh) — 3ª opinião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543800" y="4489704"/>
            <a:ext cx="10515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869680" y="4489704"/>
            <a:ext cx="3017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9,59% · 1.616 imgs · D05_mofo 77,3% (outlier positivo)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" y="5422392"/>
            <a:ext cx="11704320" cy="914400"/>
          </a:xfrm>
          <a:prstGeom prst="rect">
            <a:avLst>
              <a:gd name="adj" fmla="val 5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5495544"/>
            <a:ext cx="69037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ESP32-S3 + Pipeline MQTT completo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543800" y="5495544"/>
            <a:ext cx="10515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869680" y="5495544"/>
            <a:ext cx="30175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eventos · ESP32-S3 → Mosquitto → Django → PostgreSQL → API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C — Background Augmentation: por que falhou?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51560"/>
            <a:ext cx="5394960" cy="5029200"/>
          </a:xfrm>
          <a:prstGeom prst="rect">
            <a:avLst>
              <a:gd name="adj" fmla="val 1455"/>
            </a:avLst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fizemos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177.698 composições sintéticas geradas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2585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rembg (rede U2-Net) remove fundo da folha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916936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Recompõe sobre fundos naturais do PlantDoc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575304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650 minutos de processamento contínuo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4233672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Retreino completo WSL2 (RTX 3060 Ti)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489204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96,20% acurácia no laboratório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0" y="1051560"/>
            <a:ext cx="6126480" cy="2194560"/>
          </a:xfrm>
          <a:prstGeom prst="rect">
            <a:avLst>
              <a:gd name="adj" fmla="val 3333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1430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35040" y="1572768"/>
            <a:ext cx="5760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Antes (Exp B):  20,24%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(Exp C): 20,24%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Diferença:         0 pp ❌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852160" y="3429000"/>
            <a:ext cx="6126480" cy="1508760"/>
          </a:xfrm>
          <a:prstGeom prst="rect">
            <a:avLst>
              <a:gd name="adj" fmla="val 4848"/>
            </a:avLst>
          </a:prstGeom>
          <a:solidFill>
            <a:srgbClr val="3E20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3502152"/>
            <a:ext cx="5760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quê falhou?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35040" y="3877056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Alpha-matting gera artefatos de borda e iluminação inconsistente. O modelo aprendeu o domínio sintético, não o real.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Singh et al. (2020) usaram fotos reais — por isso funcionou para eles.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52160" y="5074920"/>
            <a:ext cx="6126480" cy="1463040"/>
          </a:xfrm>
          <a:prstGeom prst="rect">
            <a:avLst>
              <a:gd name="adj" fmla="val 5000"/>
            </a:avLst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5148072"/>
            <a:ext cx="5760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usamos fotos reais de campo?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35040" y="553212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dataset público de folhas de tomate em campo brasileiro. O PlantDoc (fotos reais, EUA/Europa) foi usado no Exp D (+10pp). A coleta no Brasil acontece na próxima sprint (Sorriso-MT).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D — Fine-tuning com Dados Reais de Campo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plano A falha, você faz ciência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170432"/>
            <a:ext cx="11704320" cy="594360"/>
          </a:xfrm>
          <a:prstGeom prst="rect">
            <a:avLst>
              <a:gd name="adj" fmla="val 10769"/>
            </a:avLst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16152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Estratégia: 677 fotos reais do PlantDoc/train + PlantVillage = 95.719 imagens no treino total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1920240"/>
            <a:ext cx="11704320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920240"/>
            <a:ext cx="5212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0" y="192024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B (linha base)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192024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D (fine-tuning)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" y="2404872"/>
            <a:ext cx="11704320" cy="658368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478024"/>
            <a:ext cx="5029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PlantVillage test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0" y="2478024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98,13%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2478024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97,55%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8600" y="3118104"/>
            <a:ext cx="1170432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191256"/>
            <a:ext cx="5029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— imagens CONHECIDAS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0" y="319125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3191256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88,47%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8600" y="3831336"/>
            <a:ext cx="11704320" cy="658368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904488"/>
            <a:ext cx="5029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— imagens NUNCA VISTAS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39044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78240" y="390448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30,43% ← +10pp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8600" y="4544568"/>
            <a:ext cx="11704320" cy="658368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4617720"/>
            <a:ext cx="5029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do modelo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760720" y="4617720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639 KB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461772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639 KB (igual)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28600" y="5760720"/>
            <a:ext cx="11704320" cy="594360"/>
          </a:xfrm>
          <a:prstGeom prst="rect">
            <a:avLst>
              <a:gd name="adj" fmla="val 12308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5806440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 escolhido: Exp D — mesmo tamanho (639 KB), melhor desempenho em campo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3 datasets independentes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804672"/>
            <a:ext cx="1170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deles foi usado em qualquer etapa de treino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1170432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10058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73552" y="10058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25312" y="10058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22792" y="1005840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74352" y="1005840"/>
            <a:ext cx="594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405872" y="10058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 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" y="1463040"/>
            <a:ext cx="11704320" cy="694944"/>
          </a:xfrm>
          <a:prstGeom prst="rect">
            <a:avLst>
              <a:gd name="adj" fmla="val 6579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" y="1554480"/>
            <a:ext cx="26517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PlantDoc / test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73552" y="1554480"/>
            <a:ext cx="2377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EUA / Europa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25312" y="1554480"/>
            <a:ext cx="24231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Temperado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22792" y="1554480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74352" y="1554480"/>
            <a:ext cx="502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05872" y="155448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30,43%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28600" y="2212848"/>
            <a:ext cx="11704320" cy="694944"/>
          </a:xfrm>
          <a:prstGeom prst="rect">
            <a:avLst>
              <a:gd name="adj" fmla="val 6579"/>
            </a:avLst>
          </a:prstGeom>
          <a:solidFill>
            <a:srgbClr val="1A2E44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" y="2304288"/>
            <a:ext cx="26517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Tomato-Village / test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73552" y="2304288"/>
            <a:ext cx="2377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Rajasthan, Índia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25312" y="2304288"/>
            <a:ext cx="24231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Árido tropical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22792" y="2304288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74352" y="2304288"/>
            <a:ext cx="502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405872" y="230428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11,52%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28600" y="2962656"/>
            <a:ext cx="11704320" cy="694944"/>
          </a:xfrm>
          <a:prstGeom prst="rect">
            <a:avLst>
              <a:gd name="adj" fmla="val 6579"/>
            </a:avLst>
          </a:prstGeom>
          <a:solidFill>
            <a:srgbClr val="132233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" y="3054096"/>
            <a:ext cx="26517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Daffodil BD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273552" y="3054096"/>
            <a:ext cx="2377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25312" y="3054096"/>
            <a:ext cx="24231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úmido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622792" y="3054096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74352" y="3054096"/>
            <a:ext cx="5029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405872" y="3054096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9,59%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28600" y="3767328"/>
            <a:ext cx="11704320" cy="594360"/>
          </a:xfrm>
          <a:prstGeom prst="rect">
            <a:avLst>
              <a:gd name="adj" fmla="val 10769"/>
            </a:avLst>
          </a:prstGeom>
          <a:solidFill>
            <a:srgbClr val="3E20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3813048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Descoberta: o gap não é de fundo — é geográfico e climático. O modelo melhorou no contexto do PlantDoc, não globalmente.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28600" y="4480560"/>
            <a:ext cx="5577840" cy="1325880"/>
          </a:xfrm>
          <a:prstGeom prst="rect">
            <a:avLst>
              <a:gd name="adj" fmla="val 4828"/>
            </a:avLst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544568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 positivo — D05_mofo_foliar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11480" y="4919472"/>
            <a:ext cx="5303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77,3% no Daffodil BD. Passalora fulva cria textura fúngica branco-acinzentada única, invariante geograficamente. A única classe que o modelo reconhece confiável em campo real.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035040" y="4480560"/>
            <a:ext cx="5897880" cy="1325880"/>
          </a:xfrm>
          <a:prstGeom prst="rect">
            <a:avLst>
              <a:gd name="adj" fmla="val 4828"/>
            </a:avLst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4544568"/>
            <a:ext cx="5623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Colapso para D02_septoriose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172200" y="4919472"/>
            <a:ext cx="56235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Atrator universal: sob shift de domínio extremo, o modelo converge para 'septoriose' — manchas escuras irregulares são a representação genérica de doença foliar aprendida no treino.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28600" y="5943600"/>
            <a:ext cx="11704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validação que realmente importa: produtores de Sorriso-MT — fotos brasileiras reais (Sprint 3)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resultado não é anomalia — é o padrão da área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24128"/>
            <a:ext cx="11704320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241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1024128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434840" y="1024128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Laboratório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0" y="1024128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0920" y="1024128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41080" y="1024128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" y="1508760"/>
            <a:ext cx="11704320" cy="804672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60020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Mohanty et 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54680" y="1600200"/>
            <a:ext cx="1051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1600200"/>
            <a:ext cx="1188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99,35%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160020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60920" y="1600200"/>
            <a:ext cx="1051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41080" y="1600200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Só modelo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28600" y="2377440"/>
            <a:ext cx="11704320" cy="804672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46888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Singh et al.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54680" y="2468880"/>
            <a:ext cx="1051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34840" y="2468880"/>
            <a:ext cx="1188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52160" y="246888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~55%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60920" y="2468880"/>
            <a:ext cx="1051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41080" y="2468880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Só modelo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28600" y="3246120"/>
            <a:ext cx="11704320" cy="804672"/>
          </a:xfrm>
          <a:prstGeom prst="rect">
            <a:avLst/>
          </a:prstGeom>
          <a:solidFill>
            <a:srgbClr val="0A3D2E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33756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Ceres (você)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154680" y="3337560"/>
            <a:ext cx="1051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34840" y="3337560"/>
            <a:ext cx="1188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97,55%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0" y="33375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30,43%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60920" y="3337560"/>
            <a:ext cx="1051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41080" y="3337560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ESP32-S3 + MQTT + App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28600" y="4279392"/>
            <a:ext cx="11704320" cy="822960"/>
          </a:xfrm>
          <a:prstGeom prst="rect">
            <a:avLst>
              <a:gd name="adj" fmla="val 8889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325112"/>
            <a:ext cx="11521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do Ceres: sistema completo embarcado em 639 KB. Mohanty e Singh documentaram o problema — o Ceres implementa a solução em hardware real.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28600" y="5257800"/>
            <a:ext cx="5577840" cy="868680"/>
          </a:xfrm>
          <a:prstGeom prst="rect">
            <a:avLst>
              <a:gd name="adj" fmla="val 7368"/>
            </a:avLst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32180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MobileNetV2 e não ResNet?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5760" y="5623560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Howard et al. (2017): projetado para dispositivos com restrição de memória. ResNet-50 &gt; 90 MB — incompatível com ESP32-S3.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35040" y="5257800"/>
            <a:ext cx="5897880" cy="868680"/>
          </a:xfrm>
          <a:prstGeom prst="rect">
            <a:avLst>
              <a:gd name="adj" fmla="val 7368"/>
            </a:avLst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5321808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TFLite INT8 e não FP32?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72200" y="5623560"/>
            <a:ext cx="5623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A: INT8 sem calibração = -30pp (62%). Exp B: INT8 com representative_dataset = 0pp de perda, 4x menor.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1b — Pipeline IoT validado de ponta a ponta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143000"/>
            <a:ext cx="1828800" cy="914400"/>
          </a:xfrm>
          <a:prstGeom prst="rect">
            <a:avLst>
              <a:gd name="adj" fmla="val 10000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1143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WROOM-1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N16R8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57400" y="1536192"/>
            <a:ext cx="15544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12848" y="1143000"/>
            <a:ext cx="1828800" cy="914400"/>
          </a:xfrm>
          <a:prstGeom prst="rect">
            <a:avLst>
              <a:gd name="adj" fmla="val 1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2848" y="1143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GHz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041648" y="1536192"/>
            <a:ext cx="15544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97096" y="1143000"/>
            <a:ext cx="1828800" cy="914400"/>
          </a:xfrm>
          <a:prstGeom prst="rect">
            <a:avLst>
              <a:gd name="adj" fmla="val 10000"/>
            </a:avLst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43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Mosquitto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:1883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25896" y="1536192"/>
            <a:ext cx="15544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1344" y="1143000"/>
            <a:ext cx="1828800" cy="914400"/>
          </a:xfrm>
          <a:prstGeom prst="rect">
            <a:avLst>
              <a:gd name="adj" fmla="val 1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1143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mqtt_listener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10144" y="1536192"/>
            <a:ext cx="15544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65592" y="1143000"/>
            <a:ext cx="1828800" cy="914400"/>
          </a:xfrm>
          <a:prstGeom prst="rect">
            <a:avLst>
              <a:gd name="adj" fmla="val 10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65592" y="1143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994392" y="1536192"/>
            <a:ext cx="15544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0" y="1143000"/>
            <a:ext cx="1828800" cy="914400"/>
          </a:xfrm>
          <a:prstGeom prst="rect">
            <a:avLst>
              <a:gd name="adj" fmla="val 10000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49840" y="1143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" y="2176272"/>
            <a:ext cx="1170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Tópico: ceres/sensor/001   |   JSON: device_id, temperatura, umidade_ar, umidade_solo, timestamp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" y="2743200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83464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320040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ESP32-S3-WROOM-1-N16R8 · 16MB Flash + 8MB PSRAM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 Datasheet (2022) — escolhido por ter PSRAM suficiente para TFLite Micro (modelo 639KB + buffers)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2743200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283464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Firmware: PlatformIO + PubSubClient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55080" y="320040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PlatformIO: gerenciamento de libs + upload + monitor em um tool. Arduino IDE alternativa, menos robusta para múltiplos módulos.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PubSubClient (Knolleary, 2023): cliente MQTT leve para Arduino — sem overhead de frameworks maiores.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28600" y="4663440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7548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MQTT e não HTTP?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512064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Al-Fuqaha et al. (2015), IEEE — IoT Survey: MQTT tem overhead de 2 bytes vs ~820 bytes do HTTP. Projetado para redes instáveis e dispositivos com restrição de energia.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217920" y="4663440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47548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validado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55080" y="512064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eventos persistidos no PostgreSQL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GET /historico/ retornando JSON paginado com JWT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média publish → DB: &lt; 500ms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Dificuldades técnicas e soluções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24128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— Boot loop no ESP32-S3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481328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Flag board_build.arduino.memory_type=qio_opi incompatível com Arduino framework → reinício infinito.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06654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Remover flags de memória customizadas. Arduino gerencia PSRAM internamente.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024128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10972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— Serial Monitor silencioso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55080" y="1481328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ARDUINO_USB_CDC_ON_BOOT=1 redireciona Serial para USB nativa. Nada aparecia no monitor serial.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206654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Remover flags USB CDC. Serial.begin(115200) volta para a porta CH343 padrão.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" y="2898648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971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— MQTT rc=-2 (conexão recusada)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55848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Mosquitto com 'bind_address localhost' rejeita conexões de outro IP. ESP32 conecta por IP da rede local.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394106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mosquitto.conf: 'listener 1883' sem bind. Regra de firewall Windows liberando porta 1883.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898648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5C9B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971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9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— Quantization loss -30pp no Exp 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355848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Edge Impulse quantizou INT8 sem representative_dataset → pesos calibrados com distribuição errada → 92,5% FP32 virou 62,0% INT8.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55080" y="394106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 B: quantização com 50 batches do val set como representative_dataset → 0pp de perda na quantização.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" y="4773168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5C9B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9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— class_names perdido após .prefetch()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5230368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TensorFlow perde o atributo class_names do dataset após aplicar .map().prefetch(). export_tflite.py travava com AttributeError.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581558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Capturar ds_raw.class_names antes de aplicar transformações e passar como retorno da função.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4773168"/>
            <a:ext cx="5760720" cy="1737360"/>
          </a:xfrm>
          <a:prstGeom prst="rect">
            <a:avLst>
              <a:gd name="adj" fmla="val 4211"/>
            </a:avLst>
          </a:prstGeom>
          <a:solidFill>
            <a:srgbClr val="132233"/>
          </a:solidFill>
          <a:ln w="12700">
            <a:solidFill>
              <a:srgbClr val="5C9B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9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Symlinks WSL2 quebrando git add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5230368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processed_mixed/ criada com symlinks Linux no WSL2. Windows Git não indexa symlinks → 'fatal: unable to index'.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5815584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Adicionar datasets/processed_mixed/ ao .gitignore. Nunca commitar datasets locais.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gap lab-campo é multifatorial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24128"/>
            <a:ext cx="11704320" cy="1097280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024128"/>
            <a:ext cx="502920" cy="109728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024128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115568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Fundo da imagem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481328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PlantVillage: fundo cinza uniforme, controlado. Modelo aprende o fundo como feature discriminativa.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" y="2212848"/>
            <a:ext cx="11704320" cy="1097280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2212848"/>
            <a:ext cx="502920" cy="109728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2212848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" y="2304288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Iluminação e câmera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670048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solar direta, sombras, reflexos e câmeras de celular criam distribuição visual completamente diferente.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8600" y="3401568"/>
            <a:ext cx="11704320" cy="1097280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3401568"/>
            <a:ext cx="502920" cy="109728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3401568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4400" y="3493008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Variedade geográfica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858768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Cultivares indianas (Rajasthan) diferem morfologicamente das cultivares americanas e brasileiras.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28600" y="4590288"/>
            <a:ext cx="11704320" cy="1097280"/>
          </a:xfrm>
          <a:prstGeom prst="rect">
            <a:avLst/>
          </a:prstGeom>
          <a:solidFill>
            <a:srgbClr val="132233"/>
          </a:solidFill>
          <a:ln w="12700">
            <a:solidFill>
              <a:srgbClr val="1322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4590288"/>
            <a:ext cx="502920" cy="109728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4590288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4400" y="4681728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Estágio fenológico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5047488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Folhas em diferentes estágios de crescimento têm textura, cor e proporções distintas.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" y="5806440"/>
            <a:ext cx="11704320" cy="594360"/>
          </a:xfrm>
          <a:prstGeom prst="rect">
            <a:avLst>
              <a:gd name="adj" fmla="val 12308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5852160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só o fundo (Exp C) = insuficiente  ·  Fine-tuning local (Exp D) = melhora, mas não generaliza globalmente  ·  Validação em Sorriso-MT = a métrica que importa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0" y="164592"/>
            <a:ext cx="1170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vem a seguir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170432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05840"/>
            <a:ext cx="11704320" cy="502920"/>
          </a:xfrm>
          <a:prstGeom prst="rect">
            <a:avLst>
              <a:gd name="adj" fmla="val 10909"/>
            </a:avLst>
          </a:prstGeom>
          <a:solidFill>
            <a:srgbClr val="1A2E44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33272"/>
            <a:ext cx="11430000" cy="41148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validação do modelo:  Nível 1 ✅ Lab (98%)  →  Nível 2 ✅ Campo PlantDoc (30%)  →  Nível 3 ⏳ Hardware real ESP32-S3  →  Nível 4 ⏳ Produtores Sorriso-MT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600200"/>
            <a:ext cx="11704320" cy="38404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60020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20240" y="1600200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0" y="16002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28600" y="2029968"/>
            <a:ext cx="11704320" cy="822960"/>
          </a:xfrm>
          <a:prstGeom prst="rect">
            <a:avLst>
              <a:gd name="adj" fmla="val 4444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1214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20240" y="21031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 OV5640 + DHT22 + sensor de umidade do solo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0" y="21031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física / AliExpress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944368"/>
            <a:ext cx="11704320" cy="822960"/>
          </a:xfrm>
          <a:prstGeom prst="rect">
            <a:avLst>
              <a:gd name="adj" fmla="val 4444"/>
            </a:avLst>
          </a:prstGeom>
          <a:solidFill>
            <a:srgbClr val="1A2E44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30358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920240" y="30175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Micro no ESP32-S3 — modelo 639KB rodando no chip com câmera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0" y="30175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em mãos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3858768"/>
            <a:ext cx="11704320" cy="822960"/>
          </a:xfrm>
          <a:prstGeom prst="rect">
            <a:avLst>
              <a:gd name="adj" fmla="val 4444"/>
            </a:avLst>
          </a:prstGeom>
          <a:solidFill>
            <a:srgbClr val="132233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9502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920240" y="39319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50 imagens, latência &lt; 300ms, RAM livre &gt; 4MB — Nível 3 da cadeia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0" y="39319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em mãos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" y="4773168"/>
            <a:ext cx="11704320" cy="822960"/>
          </a:xfrm>
          <a:prstGeom prst="rect">
            <a:avLst>
              <a:gd name="adj" fmla="val 4444"/>
            </a:avLst>
          </a:prstGeom>
          <a:solidFill>
            <a:srgbClr val="1A2E44"/>
          </a:solidFill>
          <a:ln w="12700">
            <a:solidFill>
              <a:srgbClr val="5C9B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8646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20240" y="48463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 — histórico de diagnósticos, resultado, funcionamento offline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0" y="48463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9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máquina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8600" y="5687568"/>
            <a:ext cx="11704320" cy="822960"/>
          </a:xfrm>
          <a:prstGeom prst="rect">
            <a:avLst>
              <a:gd name="adj" fmla="val 4444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577900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920240" y="5760720"/>
            <a:ext cx="6400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produtores de Sorriso-MT — fotos reais brasileiras — Nível 4 da cadeia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86800" y="5760720"/>
            <a:ext cx="3200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com produtores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Sprint Review 2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640080"/>
          </a:xfrm>
          <a:prstGeom prst="rect">
            <a:avLst>
              <a:gd name="adj" fmla="val 10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33272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4 experimentos de validação IA concluídos (Exp A, B, C, 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11274552" cy="640080"/>
          </a:xfrm>
          <a:prstGeom prst="rect">
            <a:avLst>
              <a:gd name="adj" fmla="val 10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Gap lab-campo documentado e analisado com base na literatura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68296"/>
            <a:ext cx="11274552" cy="640080"/>
          </a:xfrm>
          <a:prstGeom prst="rect">
            <a:avLst>
              <a:gd name="adj" fmla="val 10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441448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Modelo final: Exp D · 639 KB · 97,55% lab / 30,43% campo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72384"/>
            <a:ext cx="11274552" cy="640080"/>
          </a:xfrm>
          <a:prstGeom prst="rect">
            <a:avLst>
              <a:gd name="adj" fmla="val 10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145536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 validações independentes: PlantDoc 30,43% · Tomato-Village 11,52% · Daffodil BD 9,59%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776472"/>
            <a:ext cx="11274552" cy="640080"/>
          </a:xfrm>
          <a:prstGeom prst="rect">
            <a:avLst>
              <a:gd name="adj" fmla="val 10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49624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Achado: D05_mofo_foliar 77,3% — única classe robusta em campo real (distinção visual)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480560"/>
            <a:ext cx="11274552" cy="640080"/>
          </a:xfrm>
          <a:prstGeom prst="rect">
            <a:avLst>
              <a:gd name="adj" fmla="val 10000"/>
            </a:avLst>
          </a:prstGeom>
          <a:solidFill>
            <a:srgbClr val="132233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553712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Firmware ESP32-S3 + MQTT: 74 eventos · pipeline completo validado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184648"/>
            <a:ext cx="11274552" cy="640080"/>
          </a:xfrm>
          <a:prstGeom prst="rect">
            <a:avLst>
              <a:gd name="adj" fmla="val 10000"/>
            </a:avLst>
          </a:prstGeom>
          <a:solidFill>
            <a:srgbClr val="3E20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257800"/>
            <a:ext cx="10972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Próximo marco: TFLite Micro no ESP32-S3 com câmera OV5640 + validação Sorriso-MT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35508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github.com/Namem/extensao2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2026-05-12T01:12:16Z</dcterms:created>
  <dcterms:modified xsi:type="dcterms:W3CDTF">2026-05-12T01:12:16Z</dcterms:modified>
</cp:coreProperties>
</file>